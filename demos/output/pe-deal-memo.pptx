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Project Nimbus for IC approval. CloudMetrics is a $200M ARR vertical SaaS platform serving 1,200 mid-market healthcare providers. We are seeking approval for a $1.8B acquisition at 9.0x NTM revenue.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highlights: 32% growth, 128% NRR, 82% gross margins. This is a Rule of 57 business. The proprietary sourcing gives us a 4-week exclusivity window before the company runs a broader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rests on three pillars: regulatory tailwinds making healthcare IT non-discretionary, a dominant market position with extreme switching costs, and a clear operational playbook to expand margins 1,300 basis points. The payer vertical expansion is pure upside -- not modeled in the base case.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CloudMetrics trades at a premium to the median -- 8.3x vs 6.8x revenue -- but the premium is justified by best-in-class growth (32% vs 16% median), NRR (128% vs 115%), and gross margins (82% vs 68%). On a growth-adjusted basis (EV/Revenue/Growth), CloudMetrics is actually cheaper than Veeva and Phreesia.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DCF yields an implied EV of $2.14B -- 19% above our proposed acquisition price of $1.8B, providing a meaningful margin of safety. The sensitivity table shows that even at the harsh end (12.5% WACC, 10.0x exit), the implied value of $1.59B still represents reasonable downside at only 12% below our entry price.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 case delivers a 3.1x MOIC and 28% gross IRR -- well above our 2.5x / 20% Fund VII hurdle. Even the bear case returns 1.5x / 12%, protecting our capital. The home run scenario -- cracking the payer vertical -- is a real possibility given CloudMetrics' existing data assets and two signed LOIs from major payers.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leverage of 6.0x LTM EBITDA is within market norms for a high-growth SaaS acquisition. The 82% gross margin and 128% NRR provide strong debt service coverage. We expect to delever to 3.5x by Year 3 through EBITDA growth alone -- no mandatory prepayments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risks score 12 -- the highest tier. Customer concentration is real but improving: top 10 was 38% two years ago, now 28%. The CTO retention package and cloud migration VP are must-haves before close -- both are incorporated in our transaction cost estimates.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competitive landscape actually works in our favor. Epic dominates large health systems but has minimal mid-market presence. Oracle is distracted by integration issues. Health Catalyst is the closest comp but growing at half CloudMetrics' rate. The real strategic question is whether we can position CloudMetrics as the acquisition target for Epic or Veeva at a premium exit.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IC approval today to maintain our exclusivity window. The founder has indicated willingness to roll 10% equity and stay as CTO for 3 years. Our conviction level is high -- this is the best-positioned asset we have seen in healthcare IT in Fund VII's investment period.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33"/>
        </a:solidFill>
        <a:effectLst/>
      </p:bgPr>
    </p:bg>
    <p:spTree>
      <p:nvGrpSpPr>
        <p:cNvPr id="1" name=""/>
        <p:cNvGrpSpPr/>
        <p:nvPr/>
      </p:nvGrpSpPr>
      <p:grpSpPr/>
      <p:sp>
        <p:nvSpPr>
          <p:cNvPr id="2" name="TextBox 1"/>
          <p:cNvSpPr txBox="1"/>
          <p:nvPr/>
        </p:nvSpPr>
        <p:spPr>
          <a:xfrm>
            <a:off x="548640" y="1957006"/>
            <a:ext cx="11094415" cy="493395"/>
          </a:xfrm>
          <a:prstGeom prst="rect">
            <a:avLst/>
          </a:prstGeom>
          <a:noFill/>
        </p:spPr>
        <p:txBody>
          <a:bodyPr wrap="square">
            <a:spAutoFit/>
          </a:bodyPr>
          <a:lstStyle/>
          <a:p>
            <a:r>
              <a:rPr sz="4000" b="1">
                <a:solidFill>
                  <a:srgbClr val="1A202C"/>
                </a:solidFill>
                <a:latin typeface="Arial"/>
              </a:rPr>
              <a:t>Project Nimbus: CloudMetrics Acquisition</a:t>
            </a:r>
          </a:p>
        </p:txBody>
      </p:sp>
      <p:sp>
        <p:nvSpPr>
          <p:cNvPr id="3" name="TextBox 2"/>
          <p:cNvSpPr txBox="1"/>
          <p:nvPr/>
        </p:nvSpPr>
        <p:spPr>
          <a:xfrm>
            <a:off x="548640" y="2816161"/>
            <a:ext cx="11094415" cy="240030"/>
          </a:xfrm>
          <a:prstGeom prst="rect">
            <a:avLst/>
          </a:prstGeom>
          <a:noFill/>
        </p:spPr>
        <p:txBody>
          <a:bodyPr wrap="square">
            <a:spAutoFit/>
          </a:bodyPr>
          <a:lstStyle/>
          <a:p>
            <a:r>
              <a:rPr sz="2000" b="1">
                <a:solidFill>
                  <a:srgbClr val="1A202C"/>
                </a:solidFill>
                <a:latin typeface="Arial"/>
              </a:rPr>
              <a:t>Investment Committee Memorandum | Apex Capital Partners | Fund VII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Deal Overview</a:t>
            </a:r>
          </a:p>
        </p:txBody>
      </p:sp>
      <p:graphicFrame>
        <p:nvGraphicFramePr>
          <p:cNvPr id="3" name="Table 2"/>
          <p:cNvGraphicFramePr>
            <a:graphicFrameLocks noGrp="1"/>
          </p:cNvGraphicFramePr>
          <p:nvPr/>
        </p:nvGraphicFramePr>
        <p:xfrm>
          <a:off x="685800" y="1371600"/>
          <a:ext cx="5029200" cy="3200400"/>
        </p:xfrm>
        <a:graphic>
          <a:graphicData uri="http://schemas.openxmlformats.org/drawingml/2006/table">
            <a:tbl>
              <a:tblPr firstRow="1" bandRow="1">
                <a:tableStyleId>{5C22544A-7EE6-4342-B048-85BDC9FD1C3A}</a:tableStyleId>
              </a:tblPr>
              <a:tblGrid>
                <a:gridCol w="3017520"/>
                <a:gridCol w="2011680"/>
              </a:tblGrid>
              <a:tr h="213360">
                <a:tc>
                  <a:txBody>
                    <a:bodyPr/>
                    <a:lstStyle/>
                    <a:p>
                      <a:r>
                        <a:rPr sz="1200" b="1">
                          <a:solidFill>
                            <a:srgbClr val="FFFFFF"/>
                          </a:solidFill>
                          <a:latin typeface="Calibri"/>
                        </a:rPr>
                        <a:t>Parameter</a:t>
                      </a:r>
                    </a:p>
                  </a:txBody>
                  <a:tcPr>
                    <a:solidFill>
                      <a:srgbClr val="0C1B33"/>
                    </a:solidFill>
                  </a:tcPr>
                </a:tc>
                <a:tc>
                  <a:txBody>
                    <a:bodyPr/>
                    <a:lstStyle/>
                    <a:p>
                      <a:r>
                        <a:rPr sz="1200" b="1">
                          <a:solidFill>
                            <a:srgbClr val="FFFFFF"/>
                          </a:solidFill>
                          <a:latin typeface="Calibri"/>
                        </a:rPr>
                        <a:t>Detail</a:t>
                      </a:r>
                    </a:p>
                  </a:txBody>
                  <a:tcPr>
                    <a:solidFill>
                      <a:srgbClr val="0C1B33"/>
                    </a:solidFill>
                  </a:tcPr>
                </a:tc>
              </a:tr>
              <a:tr h="213360">
                <a:tc>
                  <a:txBody>
                    <a:bodyPr/>
                    <a:lstStyle/>
                    <a:p>
                      <a:pPr algn="l"/>
                      <a:r>
                        <a:rPr sz="1200" b="0">
                          <a:solidFill>
                            <a:srgbClr val="1A202C"/>
                          </a:solidFill>
                          <a:latin typeface="Calibri"/>
                        </a:rPr>
                        <a:t>Target</a:t>
                      </a:r>
                    </a:p>
                  </a:txBody>
                  <a:tcPr>
                    <a:solidFill>
                      <a:srgbClr val="F7FAFC"/>
                    </a:solidFill>
                  </a:tcPr>
                </a:tc>
                <a:tc>
                  <a:txBody>
                    <a:bodyPr/>
                    <a:lstStyle/>
                    <a:p>
                      <a:pPr algn="l"/>
                      <a:r>
                        <a:rPr sz="1200" b="0">
                          <a:solidFill>
                            <a:srgbClr val="1A202C"/>
                          </a:solidFill>
                          <a:latin typeface="Calibri"/>
                        </a:rPr>
                        <a:t>CloudMetrics Inc.</a:t>
                      </a:r>
                    </a:p>
                  </a:txBody>
                  <a:tcPr>
                    <a:solidFill>
                      <a:srgbClr val="F7FAFC"/>
                    </a:solidFill>
                  </a:tcPr>
                </a:tc>
              </a:tr>
              <a:tr h="213360">
                <a:tc>
                  <a:txBody>
                    <a:bodyPr/>
                    <a:lstStyle/>
                    <a:p>
                      <a:pPr algn="l"/>
                      <a:r>
                        <a:rPr sz="1200" b="0">
                          <a:solidFill>
                            <a:srgbClr val="1A202C"/>
                          </a:solidFill>
                          <a:latin typeface="Calibri"/>
                        </a:rPr>
                        <a:t>Sector</a:t>
                      </a:r>
                    </a:p>
                  </a:txBody>
                  <a:tcPr>
                    <a:solidFill>
                      <a:srgbClr val="FFFFFF"/>
                    </a:solidFill>
                  </a:tcPr>
                </a:tc>
                <a:tc>
                  <a:txBody>
                    <a:bodyPr/>
                    <a:lstStyle/>
                    <a:p>
                      <a:pPr algn="l"/>
                      <a:r>
                        <a:rPr sz="1200" b="0">
                          <a:solidFill>
                            <a:srgbClr val="1A202C"/>
                          </a:solidFill>
                          <a:latin typeface="Calibri"/>
                        </a:rPr>
                        <a:t>Healthcare IT / Vertical SaaS</a:t>
                      </a:r>
                    </a:p>
                  </a:txBody>
                  <a:tcPr>
                    <a:solidFill>
                      <a:srgbClr val="FFFFFF"/>
                    </a:solidFill>
                  </a:tcPr>
                </a:tc>
              </a:tr>
              <a:tr h="213360">
                <a:tc>
                  <a:txBody>
                    <a:bodyPr/>
                    <a:lstStyle/>
                    <a:p>
                      <a:pPr algn="l"/>
                      <a:r>
                        <a:rPr sz="1200" b="0">
                          <a:solidFill>
                            <a:srgbClr val="1A202C"/>
                          </a:solidFill>
                          <a:latin typeface="Calibri"/>
                        </a:rPr>
                        <a:t>LTM Revenue</a:t>
                      </a:r>
                    </a:p>
                  </a:txBody>
                  <a:tcPr>
                    <a:solidFill>
                      <a:srgbClr val="F7FAFC"/>
                    </a:solidFill>
                  </a:tcPr>
                </a:tc>
                <a:tc>
                  <a:txBody>
                    <a:bodyPr/>
                    <a:lstStyle/>
                    <a:p>
                      <a:pPr algn="l"/>
                      <a:r>
                        <a:rPr sz="1200" b="0">
                          <a:solidFill>
                            <a:srgbClr val="1A202C"/>
                          </a:solidFill>
                          <a:latin typeface="Calibri"/>
                        </a:rPr>
                        <a:t>$192M (NTM: $218M)</a:t>
                      </a:r>
                    </a:p>
                  </a:txBody>
                  <a:tcPr>
                    <a:solidFill>
                      <a:srgbClr val="F7FAFC"/>
                    </a:solidFill>
                  </a:tcPr>
                </a:tc>
              </a:tr>
              <a:tr h="213360">
                <a:tc>
                  <a:txBody>
                    <a:bodyPr/>
                    <a:lstStyle/>
                    <a:p>
                      <a:pPr algn="l"/>
                      <a:r>
                        <a:rPr sz="1200" b="0">
                          <a:solidFill>
                            <a:srgbClr val="1A202C"/>
                          </a:solidFill>
                          <a:latin typeface="Calibri"/>
                        </a:rPr>
                        <a:t>LTM EBITDA</a:t>
                      </a:r>
                    </a:p>
                  </a:txBody>
                  <a:tcPr>
                    <a:solidFill>
                      <a:srgbClr val="FFFFFF"/>
                    </a:solidFill>
                  </a:tcPr>
                </a:tc>
                <a:tc>
                  <a:txBody>
                    <a:bodyPr/>
                    <a:lstStyle/>
                    <a:p>
                      <a:pPr algn="l"/>
                      <a:r>
                        <a:rPr sz="1200" b="0">
                          <a:solidFill>
                            <a:srgbClr val="1A202C"/>
                          </a:solidFill>
                          <a:latin typeface="Calibri"/>
                        </a:rPr>
                        <a:t>$48M (25% margin)</a:t>
                      </a:r>
                    </a:p>
                  </a:txBody>
                  <a:tcPr>
                    <a:solidFill>
                      <a:srgbClr val="FFFFFF"/>
                    </a:solidFill>
                  </a:tcPr>
                </a:tc>
              </a:tr>
              <a:tr h="213360">
                <a:tc>
                  <a:txBody>
                    <a:bodyPr/>
                    <a:lstStyle/>
                    <a:p>
                      <a:pPr algn="l"/>
                      <a:r>
                        <a:rPr sz="1200" b="0">
                          <a:solidFill>
                            <a:srgbClr val="1A202C"/>
                          </a:solidFill>
                          <a:latin typeface="Calibri"/>
                        </a:rPr>
                        <a:t>Revenue Growth</a:t>
                      </a:r>
                    </a:p>
                  </a:txBody>
                  <a:tcPr>
                    <a:solidFill>
                      <a:srgbClr val="F7FAFC"/>
                    </a:solidFill>
                  </a:tcPr>
                </a:tc>
                <a:tc>
                  <a:txBody>
                    <a:bodyPr/>
                    <a:lstStyle/>
                    <a:p>
                      <a:pPr algn="l"/>
                      <a:r>
                        <a:rPr sz="1200" b="0">
                          <a:solidFill>
                            <a:srgbClr val="1A202C"/>
                          </a:solidFill>
                          <a:latin typeface="Calibri"/>
                        </a:rPr>
                        <a:t>32% YoY (NTM: 28%)</a:t>
                      </a:r>
                    </a:p>
                  </a:txBody>
                  <a:tcPr>
                    <a:solidFill>
                      <a:srgbClr val="F7FAFC"/>
                    </a:solidFill>
                  </a:tcPr>
                </a:tc>
              </a:tr>
              <a:tr h="213360">
                <a:tc>
                  <a:txBody>
                    <a:bodyPr/>
                    <a:lstStyle/>
                    <a:p>
                      <a:pPr algn="l"/>
                      <a:r>
                        <a:rPr sz="1200" b="0">
                          <a:solidFill>
                            <a:srgbClr val="1A202C"/>
                          </a:solidFill>
                          <a:latin typeface="Calibri"/>
                        </a:rPr>
                        <a:t>Enterprise Value</a:t>
                      </a:r>
                    </a:p>
                  </a:txBody>
                  <a:tcPr>
                    <a:solidFill>
                      <a:srgbClr val="FFFFFF"/>
                    </a:solidFill>
                  </a:tcPr>
                </a:tc>
                <a:tc>
                  <a:txBody>
                    <a:bodyPr/>
                    <a:lstStyle/>
                    <a:p>
                      <a:pPr algn="l"/>
                      <a:r>
                        <a:rPr sz="1200" b="0">
                          <a:solidFill>
                            <a:srgbClr val="1A202C"/>
                          </a:solidFill>
                          <a:latin typeface="Calibri"/>
                        </a:rPr>
                        <a:t>$1,800M</a:t>
                      </a:r>
                    </a:p>
                  </a:txBody>
                  <a:tcPr>
                    <a:solidFill>
                      <a:srgbClr val="FFFFFF"/>
                    </a:solidFill>
                  </a:tcPr>
                </a:tc>
              </a:tr>
              <a:tr h="213360">
                <a:tc>
                  <a:txBody>
                    <a:bodyPr/>
                    <a:lstStyle/>
                    <a:p>
                      <a:pPr algn="l"/>
                      <a:r>
                        <a:rPr sz="1200" b="0">
                          <a:solidFill>
                            <a:srgbClr val="1A202C"/>
                          </a:solidFill>
                          <a:latin typeface="Calibri"/>
                        </a:rPr>
                        <a:t>EV/NTM Revenue</a:t>
                      </a:r>
                    </a:p>
                  </a:txBody>
                  <a:tcPr>
                    <a:solidFill>
                      <a:srgbClr val="F7FAFC"/>
                    </a:solidFill>
                  </a:tcPr>
                </a:tc>
                <a:tc>
                  <a:txBody>
                    <a:bodyPr/>
                    <a:lstStyle/>
                    <a:p>
                      <a:pPr algn="l"/>
                      <a:r>
                        <a:rPr sz="1200" b="0">
                          <a:solidFill>
                            <a:srgbClr val="1A202C"/>
                          </a:solidFill>
                          <a:latin typeface="Calibri"/>
                        </a:rPr>
                        <a:t>8.3x</a:t>
                      </a:r>
                    </a:p>
                  </a:txBody>
                  <a:tcPr>
                    <a:solidFill>
                      <a:srgbClr val="F7FAFC"/>
                    </a:solidFill>
                  </a:tcPr>
                </a:tc>
              </a:tr>
              <a:tr h="213360">
                <a:tc>
                  <a:txBody>
                    <a:bodyPr/>
                    <a:lstStyle/>
                    <a:p>
                      <a:pPr algn="l"/>
                      <a:r>
                        <a:rPr sz="1200" b="0">
                          <a:solidFill>
                            <a:srgbClr val="1A202C"/>
                          </a:solidFill>
                          <a:latin typeface="Calibri"/>
                        </a:rPr>
                        <a:t>EV/LTM EBITDA</a:t>
                      </a:r>
                    </a:p>
                  </a:txBody>
                  <a:tcPr>
                    <a:solidFill>
                      <a:srgbClr val="FFFFFF"/>
                    </a:solidFill>
                  </a:tcPr>
                </a:tc>
                <a:tc>
                  <a:txBody>
                    <a:bodyPr/>
                    <a:lstStyle/>
                    <a:p>
                      <a:pPr algn="l"/>
                      <a:r>
                        <a:rPr sz="1200" b="0">
                          <a:solidFill>
                            <a:srgbClr val="1A202C"/>
                          </a:solidFill>
                          <a:latin typeface="Calibri"/>
                        </a:rPr>
                        <a:t>37.5x</a:t>
                      </a:r>
                    </a:p>
                  </a:txBody>
                  <a:tcPr>
                    <a:solidFill>
                      <a:srgbClr val="FFFFFF"/>
                    </a:solidFill>
                  </a:tcPr>
                </a:tc>
              </a:tr>
              <a:tr h="213360">
                <a:tc>
                  <a:txBody>
                    <a:bodyPr/>
                    <a:lstStyle/>
                    <a:p>
                      <a:pPr algn="l"/>
                      <a:r>
                        <a:rPr sz="1200" b="0">
                          <a:solidFill>
                            <a:srgbClr val="1A202C"/>
                          </a:solidFill>
                          <a:latin typeface="Calibri"/>
                        </a:rPr>
                        <a:t>Net Revenue Retention</a:t>
                      </a:r>
                    </a:p>
                  </a:txBody>
                  <a:tcPr>
                    <a:solidFill>
                      <a:srgbClr val="F7FAFC"/>
                    </a:solidFill>
                  </a:tcPr>
                </a:tc>
                <a:tc>
                  <a:txBody>
                    <a:bodyPr/>
                    <a:lstStyle/>
                    <a:p>
                      <a:pPr algn="l"/>
                      <a:r>
                        <a:rPr sz="1200" b="0">
                          <a:solidFill>
                            <a:srgbClr val="1A202C"/>
                          </a:solidFill>
                          <a:latin typeface="Calibri"/>
                        </a:rPr>
                        <a:t>128%</a:t>
                      </a:r>
                    </a:p>
                  </a:txBody>
                  <a:tcPr>
                    <a:solidFill>
                      <a:srgbClr val="F7FAFC"/>
                    </a:solidFill>
                  </a:tcPr>
                </a:tc>
              </a:tr>
              <a:tr h="213360">
                <a:tc>
                  <a:txBody>
                    <a:bodyPr/>
                    <a:lstStyle/>
                    <a:p>
                      <a:pPr algn="l"/>
                      <a:r>
                        <a:rPr sz="1200" b="0">
                          <a:solidFill>
                            <a:srgbClr val="1A202C"/>
                          </a:solidFill>
                          <a:latin typeface="Calibri"/>
                        </a:rPr>
                        <a:t>Gross Margin</a:t>
                      </a:r>
                    </a:p>
                  </a:txBody>
                  <a:tcPr>
                    <a:solidFill>
                      <a:srgbClr val="FFFFFF"/>
                    </a:solidFill>
                  </a:tcPr>
                </a:tc>
                <a:tc>
                  <a:txBody>
                    <a:bodyPr/>
                    <a:lstStyle/>
                    <a:p>
                      <a:pPr algn="l"/>
                      <a:r>
                        <a:rPr sz="1200" b="0">
                          <a:solidFill>
                            <a:srgbClr val="1A202C"/>
                          </a:solidFill>
                          <a:latin typeface="Calibri"/>
                        </a:rPr>
                        <a:t>82%</a:t>
                      </a:r>
                    </a:p>
                  </a:txBody>
                  <a:tcPr>
                    <a:solidFill>
                      <a:srgbClr val="FFFFFF"/>
                    </a:solidFill>
                  </a:tcPr>
                </a:tc>
              </a:tr>
              <a:tr h="213360">
                <a:tc>
                  <a:txBody>
                    <a:bodyPr/>
                    <a:lstStyle/>
                    <a:p>
                      <a:pPr algn="l"/>
                      <a:r>
                        <a:rPr sz="1200" b="0">
                          <a:solidFill>
                            <a:srgbClr val="1A202C"/>
                          </a:solidFill>
                          <a:latin typeface="Calibri"/>
                        </a:rPr>
                        <a:t>Customers</a:t>
                      </a:r>
                    </a:p>
                  </a:txBody>
                  <a:tcPr>
                    <a:solidFill>
                      <a:srgbClr val="F7FAFC"/>
                    </a:solidFill>
                  </a:tcPr>
                </a:tc>
                <a:tc>
                  <a:txBody>
                    <a:bodyPr/>
                    <a:lstStyle/>
                    <a:p>
                      <a:pPr algn="l"/>
                      <a:r>
                        <a:rPr sz="1200" b="0">
                          <a:solidFill>
                            <a:srgbClr val="1A202C"/>
                          </a:solidFill>
                          <a:latin typeface="Calibri"/>
                        </a:rPr>
                        <a:t>1,200 mid-market healthcare providers</a:t>
                      </a:r>
                    </a:p>
                  </a:txBody>
                  <a:tcPr>
                    <a:solidFill>
                      <a:srgbClr val="F7FAFC"/>
                    </a:solidFill>
                  </a:tcPr>
                </a:tc>
              </a:tr>
              <a:tr h="213360">
                <a:tc>
                  <a:txBody>
                    <a:bodyPr/>
                    <a:lstStyle/>
                    <a:p>
                      <a:pPr algn="l"/>
                      <a:r>
                        <a:rPr sz="1200" b="0">
                          <a:solidFill>
                            <a:srgbClr val="1A202C"/>
                          </a:solidFill>
                          <a:latin typeface="Calibri"/>
                        </a:rPr>
                        <a:t>Source</a:t>
                      </a:r>
                    </a:p>
                  </a:txBody>
                  <a:tcPr>
                    <a:solidFill>
                      <a:srgbClr val="FFFFFF"/>
                    </a:solidFill>
                  </a:tcPr>
                </a:tc>
                <a:tc>
                  <a:txBody>
                    <a:bodyPr/>
                    <a:lstStyle/>
                    <a:p>
                      <a:pPr algn="l"/>
                      <a:r>
                        <a:rPr sz="1200" b="0">
                          <a:solidFill>
                            <a:srgbClr val="1A202C"/>
                          </a:solidFill>
                          <a:latin typeface="Calibri"/>
                        </a:rPr>
                        <a:t>Proprietary (founder relationship since 2023)</a:t>
                      </a:r>
                    </a:p>
                  </a:txBody>
                  <a:tcPr>
                    <a:solidFill>
                      <a:srgbClr val="FFFFFF"/>
                    </a:solidFill>
                  </a:tcPr>
                </a:tc>
              </a:tr>
              <a:tr h="213360">
                <a:tc>
                  <a:txBody>
                    <a:bodyPr/>
                    <a:lstStyle/>
                    <a:p>
                      <a:pPr algn="l"/>
                      <a:r>
                        <a:rPr sz="1200" b="0">
                          <a:solidFill>
                            <a:srgbClr val="1A202C"/>
                          </a:solidFill>
                          <a:latin typeface="Calibri"/>
                        </a:rPr>
                        <a:t>Seller Motivation</a:t>
                      </a:r>
                    </a:p>
                  </a:txBody>
                  <a:tcPr>
                    <a:solidFill>
                      <a:srgbClr val="F7FAFC"/>
                    </a:solidFill>
                  </a:tcPr>
                </a:tc>
                <a:tc>
                  <a:txBody>
                    <a:bodyPr/>
                    <a:lstStyle/>
                    <a:p>
                      <a:pPr algn="l"/>
                      <a:r>
                        <a:rPr sz="1200" b="0">
                          <a:solidFill>
                            <a:srgbClr val="1A202C"/>
                          </a:solidFill>
                          <a:latin typeface="Calibri"/>
                        </a:rPr>
                        <a:t>Founder liquidity + growth capital for expansion into payer vertical</a:t>
                      </a:r>
                    </a:p>
                  </a:txBody>
                  <a:tcPr>
                    <a:solidFill>
                      <a:srgbClr val="F7FAFC"/>
                    </a:solidFill>
                  </a:tcPr>
                </a:tc>
              </a:tr>
              <a:tr h="213360">
                <a:tc>
                  <a:txBody>
                    <a:bodyPr/>
                    <a:lstStyle/>
                    <a:p>
                      <a:pPr algn="l"/>
                      <a:r>
                        <a:rPr sz="1200" b="0">
                          <a:solidFill>
                            <a:srgbClr val="1A202C"/>
                          </a:solidFill>
                          <a:latin typeface="Calibri"/>
                        </a:rPr>
                        <a:t>Expected Close</a:t>
                      </a:r>
                    </a:p>
                  </a:txBody>
                  <a:tcPr>
                    <a:solidFill>
                      <a:srgbClr val="FFFFFF"/>
                    </a:solidFill>
                  </a:tcPr>
                </a:tc>
                <a:tc>
                  <a:txBody>
                    <a:bodyPr/>
                    <a:lstStyle/>
                    <a:p>
                      <a:pPr algn="l"/>
                      <a:r>
                        <a:rPr sz="1200" b="0">
                          <a:solidFill>
                            <a:srgbClr val="1A202C"/>
                          </a:solidFill>
                          <a:latin typeface="Calibri"/>
                        </a:rPr>
                        <a:t>Q3 2026</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Investment Thesis</a:t>
            </a:r>
          </a:p>
        </p:txBody>
      </p:sp>
      <p:sp>
        <p:nvSpPr>
          <p:cNvPr id="3" name="TextBox 2"/>
          <p:cNvSpPr txBox="1"/>
          <p:nvPr/>
        </p:nvSpPr>
        <p:spPr>
          <a:xfrm>
            <a:off x="685800" y="1371600"/>
            <a:ext cx="10789920" cy="640080"/>
          </a:xfrm>
          <a:prstGeom prst="rect">
            <a:avLst/>
          </a:prstGeom>
          <a:noFill/>
        </p:spPr>
        <p:txBody>
          <a:bodyPr wrap="square">
            <a:spAutoFit/>
          </a:bodyPr>
          <a:lstStyle/>
          <a:p>
            <a:pPr algn="l"/>
            <a:r>
              <a:rPr sz="1600">
                <a:solidFill>
                  <a:srgbClr val="1A202C"/>
                </a:solidFill>
                <a:latin typeface="Calibri"/>
              </a:rPr>
              <a:t>1. MARKET: Healthcare IT TAM expanding from $48B (2025) to $92B (2030) driven by regulatory mandates (TEFCA, CMS interoperability rules) and value-based care transition; MOAT: CloudMetrics has 78% market share in mid-market RCM analytics -- switching costs are 18+ months of implementation, creating near-zero churn (1.2% gross revenue churn); EXPANSION: Proven land-and-expand motion: average contract value grew from $82K to $165K over 3 years via module upsells (clinical analytics, population health, payer contracting); MARGIN EXPANSION: Path from 25% to 38% EBITDA margin via (a) reducing professional services from 18% to 8% of revenue through self-service onboarding, (b) migrating 40% of customers from on-prem to cloud (2.3x margin uplift), and (c) offshore R&amp;D center (save $12M/yr); EXIT: Strategic acquirers (Epic, Oracle Health, Veeva) actively consolidating healthcare IT at 10-14x revenue; financial sponsor exits at 8-10x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Comparable Company Analysis</a:t>
            </a:r>
          </a:p>
        </p:txBody>
      </p:sp>
      <p:graphicFrame>
        <p:nvGraphicFramePr>
          <p:cNvPr id="3" name="Table 2"/>
          <p:cNvGraphicFramePr>
            <a:graphicFrameLocks noGrp="1"/>
          </p:cNvGraphicFramePr>
          <p:nvPr/>
        </p:nvGraphicFramePr>
        <p:xfrm>
          <a:off x="685800" y="1371600"/>
          <a:ext cx="10789914" cy="4572000"/>
        </p:xfrm>
        <a:graphic>
          <a:graphicData uri="http://schemas.openxmlformats.org/drawingml/2006/table">
            <a:tbl>
              <a:tblPr firstRow="1" bandRow="1">
                <a:tableStyleId>{5C22544A-7EE6-4342-B048-85BDC9FD1C3A}</a:tableStyleId>
              </a:tblPr>
              <a:tblGrid>
                <a:gridCol w="868154"/>
                <a:gridCol w="868154"/>
                <a:gridCol w="1488264"/>
                <a:gridCol w="1240220"/>
                <a:gridCol w="1116198"/>
                <a:gridCol w="1736308"/>
                <a:gridCol w="1612286"/>
                <a:gridCol w="372066"/>
                <a:gridCol w="1488264"/>
              </a:tblGrid>
              <a:tr h="508000">
                <a:tc>
                  <a:txBody>
                    <a:bodyPr/>
                    <a:lstStyle/>
                    <a:p>
                      <a:r>
                        <a:rPr sz="1200" b="1">
                          <a:solidFill>
                            <a:srgbClr val="FFFFFF"/>
                          </a:solidFill>
                          <a:latin typeface="Calibri"/>
                        </a:rPr>
                        <a:t>Company</a:t>
                      </a:r>
                    </a:p>
                  </a:txBody>
                  <a:tcPr>
                    <a:solidFill>
                      <a:srgbClr val="0C1B33"/>
                    </a:solidFill>
                  </a:tcPr>
                </a:tc>
                <a:tc>
                  <a:txBody>
                    <a:bodyPr/>
                    <a:lstStyle/>
                    <a:p>
                      <a:r>
                        <a:rPr sz="1200" b="1">
                          <a:solidFill>
                            <a:srgbClr val="FFFFFF"/>
                          </a:solidFill>
                          <a:latin typeface="Calibri"/>
                        </a:rPr>
                        <a:t>EV ($M)</a:t>
                      </a:r>
                    </a:p>
                  </a:txBody>
                  <a:tcPr>
                    <a:solidFill>
                      <a:srgbClr val="0C1B33"/>
                    </a:solidFill>
                  </a:tcPr>
                </a:tc>
                <a:tc>
                  <a:txBody>
                    <a:bodyPr/>
                    <a:lstStyle/>
                    <a:p>
                      <a:r>
                        <a:rPr sz="1200" b="1">
                          <a:solidFill>
                            <a:srgbClr val="FFFFFF"/>
                          </a:solidFill>
                          <a:latin typeface="Calibri"/>
                        </a:rPr>
                        <a:t>Revenue ($M)</a:t>
                      </a:r>
                    </a:p>
                  </a:txBody>
                  <a:tcPr>
                    <a:solidFill>
                      <a:srgbClr val="0C1B33"/>
                    </a:solidFill>
                  </a:tcPr>
                </a:tc>
                <a:tc>
                  <a:txBody>
                    <a:bodyPr/>
                    <a:lstStyle/>
                    <a:p>
                      <a:r>
                        <a:rPr sz="1200" b="1">
                          <a:solidFill>
                            <a:srgbClr val="FFFFFF"/>
                          </a:solidFill>
                          <a:latin typeface="Calibri"/>
                        </a:rPr>
                        <a:t>EV/Revenue</a:t>
                      </a:r>
                    </a:p>
                  </a:txBody>
                  <a:tcPr>
                    <a:solidFill>
                      <a:srgbClr val="0C1B33"/>
                    </a:solidFill>
                  </a:tcPr>
                </a:tc>
                <a:tc>
                  <a:txBody>
                    <a:bodyPr/>
                    <a:lstStyle/>
                    <a:p>
                      <a:r>
                        <a:rPr sz="1200" b="1">
                          <a:solidFill>
                            <a:srgbClr val="FFFFFF"/>
                          </a:solidFill>
                          <a:latin typeface="Calibri"/>
                        </a:rPr>
                        <a:t>EV/EBITDA</a:t>
                      </a:r>
                    </a:p>
                  </a:txBody>
                  <a:tcPr>
                    <a:solidFill>
                      <a:srgbClr val="0C1B33"/>
                    </a:solidFill>
                  </a:tcPr>
                </a:tc>
                <a:tc>
                  <a:txBody>
                    <a:bodyPr/>
                    <a:lstStyle/>
                    <a:p>
                      <a:r>
                        <a:rPr sz="1200" b="1">
                          <a:solidFill>
                            <a:srgbClr val="FFFFFF"/>
                          </a:solidFill>
                          <a:latin typeface="Calibri"/>
                        </a:rPr>
                        <a:t>Revenue Growth</a:t>
                      </a:r>
                    </a:p>
                  </a:txBody>
                  <a:tcPr>
                    <a:solidFill>
                      <a:srgbClr val="0C1B33"/>
                    </a:solidFill>
                  </a:tcPr>
                </a:tc>
                <a:tc>
                  <a:txBody>
                    <a:bodyPr/>
                    <a:lstStyle/>
                    <a:p>
                      <a:r>
                        <a:rPr sz="1200" b="1">
                          <a:solidFill>
                            <a:srgbClr val="FFFFFF"/>
                          </a:solidFill>
                          <a:latin typeface="Calibri"/>
                        </a:rPr>
                        <a:t>EBITDA Margin</a:t>
                      </a:r>
                    </a:p>
                  </a:txBody>
                  <a:tcPr>
                    <a:solidFill>
                      <a:srgbClr val="0C1B33"/>
                    </a:solidFill>
                  </a:tcPr>
                </a:tc>
                <a:tc>
                  <a:txBody>
                    <a:bodyPr/>
                    <a:lstStyle/>
                    <a:p>
                      <a:r>
                        <a:rPr sz="1200" b="1">
                          <a:solidFill>
                            <a:srgbClr val="FFFFFF"/>
                          </a:solidFill>
                          <a:latin typeface="Calibri"/>
                        </a:rPr>
                        <a:t>NRR</a:t>
                      </a:r>
                    </a:p>
                  </a:txBody>
                  <a:tcPr>
                    <a:solidFill>
                      <a:srgbClr val="0C1B33"/>
                    </a:solidFill>
                  </a:tcPr>
                </a:tc>
                <a:tc>
                  <a:txBody>
                    <a:bodyPr/>
                    <a:lstStyle/>
                    <a:p>
                      <a:r>
                        <a:rPr sz="1200" b="1">
                          <a:solidFill>
                            <a:srgbClr val="FFFFFF"/>
                          </a:solidFill>
                          <a:latin typeface="Calibri"/>
                        </a:rPr>
                        <a:t>Gross Margin</a:t>
                      </a:r>
                    </a:p>
                  </a:txBody>
                  <a:tcPr>
                    <a:solidFill>
                      <a:srgbClr val="0C1B33"/>
                    </a:solidFill>
                  </a:tcPr>
                </a:tc>
              </a:tr>
              <a:tr h="508000">
                <a:tc>
                  <a:txBody>
                    <a:bodyPr/>
                    <a:lstStyle/>
                    <a:p>
                      <a:pPr algn="l"/>
                      <a:r>
                        <a:rPr sz="1200" b="0">
                          <a:solidFill>
                            <a:srgbClr val="1A202C"/>
                          </a:solidFill>
                          <a:latin typeface="Calibri"/>
                        </a:rPr>
                        <a:t>Veeva Systems</a:t>
                      </a:r>
                    </a:p>
                  </a:txBody>
                  <a:tcPr>
                    <a:solidFill>
                      <a:srgbClr val="F7FAFC"/>
                    </a:solidFill>
                  </a:tcPr>
                </a:tc>
                <a:tc>
                  <a:txBody>
                    <a:bodyPr/>
                    <a:lstStyle/>
                    <a:p>
                      <a:pPr algn="r"/>
                      <a:r>
                        <a:rPr sz="1200" b="0">
                          <a:solidFill>
                            <a:srgbClr val="1A202C"/>
                          </a:solidFill>
                          <a:latin typeface="Calibri"/>
                        </a:rPr>
                        <a:t>42,800</a:t>
                      </a:r>
                    </a:p>
                  </a:txBody>
                  <a:tcPr>
                    <a:solidFill>
                      <a:srgbClr val="F7FAFC"/>
                    </a:solidFill>
                  </a:tcPr>
                </a:tc>
                <a:tc>
                  <a:txBody>
                    <a:bodyPr/>
                    <a:lstStyle/>
                    <a:p>
                      <a:pPr algn="r"/>
                      <a:r>
                        <a:rPr sz="1200" b="0">
                          <a:solidFill>
                            <a:srgbClr val="1A202C"/>
                          </a:solidFill>
                          <a:latin typeface="Calibri"/>
                        </a:rPr>
                        <a:t>2,780</a:t>
                      </a:r>
                    </a:p>
                  </a:txBody>
                  <a:tcPr>
                    <a:solidFill>
                      <a:srgbClr val="F7FAFC"/>
                    </a:solidFill>
                  </a:tcPr>
                </a:tc>
                <a:tc>
                  <a:txBody>
                    <a:bodyPr/>
                    <a:lstStyle/>
                    <a:p>
                      <a:pPr algn="r"/>
                      <a:r>
                        <a:rPr sz="1200" b="0">
                          <a:solidFill>
                            <a:srgbClr val="1A202C"/>
                          </a:solidFill>
                          <a:latin typeface="Calibri"/>
                        </a:rPr>
                        <a:t>15.4x</a:t>
                      </a:r>
                    </a:p>
                  </a:txBody>
                  <a:tcPr>
                    <a:solidFill>
                      <a:srgbClr val="F7FAFC"/>
                    </a:solidFill>
                  </a:tcPr>
                </a:tc>
                <a:tc>
                  <a:txBody>
                    <a:bodyPr/>
                    <a:lstStyle/>
                    <a:p>
                      <a:pPr algn="r"/>
                      <a:r>
                        <a:rPr sz="1200" b="0">
                          <a:solidFill>
                            <a:srgbClr val="1A202C"/>
                          </a:solidFill>
                          <a:latin typeface="Calibri"/>
                        </a:rPr>
                        <a:t>52.0x</a:t>
                      </a:r>
                    </a:p>
                  </a:txBody>
                  <a:tcPr>
                    <a:solidFill>
                      <a:srgbClr val="F7FAFC"/>
                    </a:solidFill>
                  </a:tcPr>
                </a:tc>
                <a:tc>
                  <a:txBody>
                    <a:bodyPr/>
                    <a:lstStyle/>
                    <a:p>
                      <a:pPr algn="r"/>
                      <a:r>
                        <a:rPr sz="1200" b="0">
                          <a:solidFill>
                            <a:srgbClr val="1A202C"/>
                          </a:solidFill>
                          <a:latin typeface="Calibri"/>
                        </a:rPr>
                        <a:t>18%</a:t>
                      </a:r>
                    </a:p>
                  </a:txBody>
                  <a:tcPr>
                    <a:solidFill>
                      <a:srgbClr val="F7FAFC"/>
                    </a:solidFill>
                  </a:tcPr>
                </a:tc>
                <a:tc>
                  <a:txBody>
                    <a:bodyPr/>
                    <a:lstStyle/>
                    <a:p>
                      <a:pPr algn="r"/>
                      <a:r>
                        <a:rPr sz="1200" b="0">
                          <a:solidFill>
                            <a:srgbClr val="1A202C"/>
                          </a:solidFill>
                          <a:latin typeface="Calibri"/>
                        </a:rPr>
                        <a:t>30%</a:t>
                      </a:r>
                    </a:p>
                  </a:txBody>
                  <a:tcPr>
                    <a:solidFill>
                      <a:srgbClr val="F7FAFC"/>
                    </a:solidFill>
                  </a:tcPr>
                </a:tc>
                <a:tc>
                  <a:txBody>
                    <a:bodyPr/>
                    <a:lstStyle/>
                    <a:p>
                      <a:pPr algn="l"/>
                      <a:r>
                        <a:rPr sz="1200" b="0">
                          <a:solidFill>
                            <a:srgbClr val="1A202C"/>
                          </a:solidFill>
                          <a:latin typeface="Calibri"/>
                        </a:rPr>
                        <a:t>122%</a:t>
                      </a:r>
                    </a:p>
                  </a:txBody>
                  <a:tcPr>
                    <a:solidFill>
                      <a:srgbClr val="F7FAFC"/>
                    </a:solidFill>
                  </a:tcPr>
                </a:tc>
                <a:tc>
                  <a:txBody>
                    <a:bodyPr/>
                    <a:lstStyle/>
                    <a:p>
                      <a:pPr algn="r"/>
                      <a:r>
                        <a:rPr sz="1200" b="0">
                          <a:solidFill>
                            <a:srgbClr val="1A202C"/>
                          </a:solidFill>
                          <a:latin typeface="Calibri"/>
                        </a:rPr>
                        <a:t>84%</a:t>
                      </a:r>
                    </a:p>
                  </a:txBody>
                  <a:tcPr>
                    <a:solidFill>
                      <a:srgbClr val="F7FAFC"/>
                    </a:solidFill>
                  </a:tcPr>
                </a:tc>
              </a:tr>
              <a:tr h="508000">
                <a:tc>
                  <a:txBody>
                    <a:bodyPr/>
                    <a:lstStyle/>
                    <a:p>
                      <a:pPr algn="l"/>
                      <a:r>
                        <a:rPr sz="1200" b="0">
                          <a:solidFill>
                            <a:srgbClr val="1A202C"/>
                          </a:solidFill>
                          <a:latin typeface="Calibri"/>
                        </a:rPr>
                        <a:t>Health Catalyst</a:t>
                      </a:r>
                    </a:p>
                  </a:txBody>
                  <a:tcPr>
                    <a:solidFill>
                      <a:srgbClr val="FFFFFF"/>
                    </a:solidFill>
                  </a:tcPr>
                </a:tc>
                <a:tc>
                  <a:txBody>
                    <a:bodyPr/>
                    <a:lstStyle/>
                    <a:p>
                      <a:pPr algn="r"/>
                      <a:r>
                        <a:rPr sz="1200" b="0">
                          <a:solidFill>
                            <a:srgbClr val="1A202C"/>
                          </a:solidFill>
                          <a:latin typeface="Calibri"/>
                        </a:rPr>
                        <a:t>1,280</a:t>
                      </a:r>
                    </a:p>
                  </a:txBody>
                  <a:tcPr>
                    <a:solidFill>
                      <a:srgbClr val="FFFFFF"/>
                    </a:solidFill>
                  </a:tcPr>
                </a:tc>
                <a:tc>
                  <a:txBody>
                    <a:bodyPr/>
                    <a:lstStyle/>
                    <a:p>
                      <a:pPr algn="r"/>
                      <a:r>
                        <a:rPr sz="1200" b="0">
                          <a:solidFill>
                            <a:srgbClr val="1A202C"/>
                          </a:solidFill>
                          <a:latin typeface="Calibri"/>
                        </a:rPr>
                        <a:t>312</a:t>
                      </a:r>
                    </a:p>
                  </a:txBody>
                  <a:tcPr>
                    <a:solidFill>
                      <a:srgbClr val="FFFFFF"/>
                    </a:solidFill>
                  </a:tcPr>
                </a:tc>
                <a:tc>
                  <a:txBody>
                    <a:bodyPr/>
                    <a:lstStyle/>
                    <a:p>
                      <a:pPr algn="r"/>
                      <a:r>
                        <a:rPr sz="1200" b="0">
                          <a:solidFill>
                            <a:srgbClr val="1A202C"/>
                          </a:solidFill>
                          <a:latin typeface="Calibri"/>
                        </a:rPr>
                        <a:t>4.1x</a:t>
                      </a:r>
                    </a:p>
                  </a:txBody>
                  <a:tcPr>
                    <a:solidFill>
                      <a:srgbClr val="FFFFFF"/>
                    </a:solidFill>
                  </a:tcPr>
                </a:tc>
                <a:tc>
                  <a:txBody>
                    <a:bodyPr/>
                    <a:lstStyle/>
                    <a:p>
                      <a:pPr algn="r"/>
                      <a:r>
                        <a:rPr sz="1200" b="0">
                          <a:solidFill>
                            <a:srgbClr val="1A202C"/>
                          </a:solidFill>
                          <a:latin typeface="Calibri"/>
                        </a:rPr>
                        <a:t>NM</a:t>
                      </a:r>
                    </a:p>
                  </a:txBody>
                  <a:tcPr>
                    <a:solidFill>
                      <a:srgbClr val="FFFFFF"/>
                    </a:solidFill>
                  </a:tcPr>
                </a:tc>
                <a:tc>
                  <a:txBody>
                    <a:bodyPr/>
                    <a:lstStyle/>
                    <a:p>
                      <a:pPr algn="r"/>
                      <a:r>
                        <a:rPr sz="1200" b="0">
                          <a:solidFill>
                            <a:srgbClr val="1A202C"/>
                          </a:solidFill>
                          <a:latin typeface="Calibri"/>
                        </a:rPr>
                        <a:t>14%</a:t>
                      </a:r>
                    </a:p>
                  </a:txBody>
                  <a:tcPr>
                    <a:solidFill>
                      <a:srgbClr val="FFFFFF"/>
                    </a:solidFill>
                  </a:tcPr>
                </a:tc>
                <a:tc>
                  <a:txBody>
                    <a:bodyPr/>
                    <a:lstStyle/>
                    <a:p>
                      <a:pPr algn="r"/>
                      <a:r>
                        <a:rPr sz="1200" b="0">
                          <a:solidFill>
                            <a:srgbClr val="1A202C"/>
                          </a:solidFill>
                          <a:latin typeface="Calibri"/>
                        </a:rPr>
                        <a:t>-8%</a:t>
                      </a:r>
                    </a:p>
                  </a:txBody>
                  <a:tcPr>
                    <a:solidFill>
                      <a:srgbClr val="FFFFFF"/>
                    </a:solidFill>
                  </a:tcPr>
                </a:tc>
                <a:tc>
                  <a:txBody>
                    <a:bodyPr/>
                    <a:lstStyle/>
                    <a:p>
                      <a:pPr algn="l"/>
                      <a:r>
                        <a:rPr sz="1200" b="0">
                          <a:solidFill>
                            <a:srgbClr val="1A202C"/>
                          </a:solidFill>
                          <a:latin typeface="Calibri"/>
                        </a:rPr>
                        <a:t>108%</a:t>
                      </a:r>
                    </a:p>
                  </a:txBody>
                  <a:tcPr>
                    <a:solidFill>
                      <a:srgbClr val="FFFFFF"/>
                    </a:solidFill>
                  </a:tcPr>
                </a:tc>
                <a:tc>
                  <a:txBody>
                    <a:bodyPr/>
                    <a:lstStyle/>
                    <a:p>
                      <a:pPr algn="r"/>
                      <a:r>
                        <a:rPr sz="1200" b="0">
                          <a:solidFill>
                            <a:srgbClr val="1A202C"/>
                          </a:solidFill>
                          <a:latin typeface="Calibri"/>
                        </a:rPr>
                        <a:t>52%</a:t>
                      </a:r>
                    </a:p>
                  </a:txBody>
                  <a:tcPr>
                    <a:solidFill>
                      <a:srgbClr val="FFFFFF"/>
                    </a:solidFill>
                  </a:tcPr>
                </a:tc>
              </a:tr>
              <a:tr h="508000">
                <a:tc>
                  <a:txBody>
                    <a:bodyPr/>
                    <a:lstStyle/>
                    <a:p>
                      <a:pPr algn="l"/>
                      <a:r>
                        <a:rPr sz="1200" b="0">
                          <a:solidFill>
                            <a:srgbClr val="1A202C"/>
                          </a:solidFill>
                          <a:latin typeface="Calibri"/>
                        </a:rPr>
                        <a:t>Phreesia</a:t>
                      </a:r>
                    </a:p>
                  </a:txBody>
                  <a:tcPr>
                    <a:solidFill>
                      <a:srgbClr val="F7FAFC"/>
                    </a:solidFill>
                  </a:tcPr>
                </a:tc>
                <a:tc>
                  <a:txBody>
                    <a:bodyPr/>
                    <a:lstStyle/>
                    <a:p>
                      <a:pPr algn="r"/>
                      <a:r>
                        <a:rPr sz="1200" b="0">
                          <a:solidFill>
                            <a:srgbClr val="1A202C"/>
                          </a:solidFill>
                          <a:latin typeface="Calibri"/>
                        </a:rPr>
                        <a:t>3,100</a:t>
                      </a:r>
                    </a:p>
                  </a:txBody>
                  <a:tcPr>
                    <a:solidFill>
                      <a:srgbClr val="F7FAFC"/>
                    </a:solidFill>
                  </a:tcPr>
                </a:tc>
                <a:tc>
                  <a:txBody>
                    <a:bodyPr/>
                    <a:lstStyle/>
                    <a:p>
                      <a:pPr algn="r"/>
                      <a:r>
                        <a:rPr sz="1200" b="0">
                          <a:solidFill>
                            <a:srgbClr val="1A202C"/>
                          </a:solidFill>
                          <a:latin typeface="Calibri"/>
                        </a:rPr>
                        <a:t>456</a:t>
                      </a:r>
                    </a:p>
                  </a:txBody>
                  <a:tcPr>
                    <a:solidFill>
                      <a:srgbClr val="F7FAFC"/>
                    </a:solidFill>
                  </a:tcPr>
                </a:tc>
                <a:tc>
                  <a:txBody>
                    <a:bodyPr/>
                    <a:lstStyle/>
                    <a:p>
                      <a:pPr algn="r"/>
                      <a:r>
                        <a:rPr sz="1200" b="0">
                          <a:solidFill>
                            <a:srgbClr val="1A202C"/>
                          </a:solidFill>
                          <a:latin typeface="Calibri"/>
                        </a:rPr>
                        <a:t>6.8x</a:t>
                      </a:r>
                    </a:p>
                  </a:txBody>
                  <a:tcPr>
                    <a:solidFill>
                      <a:srgbClr val="F7FAFC"/>
                    </a:solidFill>
                  </a:tcPr>
                </a:tc>
                <a:tc>
                  <a:txBody>
                    <a:bodyPr/>
                    <a:lstStyle/>
                    <a:p>
                      <a:pPr algn="r"/>
                      <a:r>
                        <a:rPr sz="1200" b="0">
                          <a:solidFill>
                            <a:srgbClr val="1A202C"/>
                          </a:solidFill>
                          <a:latin typeface="Calibri"/>
                        </a:rPr>
                        <a:t>45.3x</a:t>
                      </a:r>
                    </a:p>
                  </a:txBody>
                  <a:tcPr>
                    <a:solidFill>
                      <a:srgbClr val="F7FAFC"/>
                    </a:solidFill>
                  </a:tcPr>
                </a:tc>
                <a:tc>
                  <a:txBody>
                    <a:bodyPr/>
                    <a:lstStyle/>
                    <a:p>
                      <a:pPr algn="r"/>
                      <a:r>
                        <a:rPr sz="1200" b="0">
                          <a:solidFill>
                            <a:srgbClr val="1A202C"/>
                          </a:solidFill>
                          <a:latin typeface="Calibri"/>
                        </a:rPr>
                        <a:t>22%</a:t>
                      </a:r>
                    </a:p>
                  </a:txBody>
                  <a:tcPr>
                    <a:solidFill>
                      <a:srgbClr val="F7FAFC"/>
                    </a:solidFill>
                  </a:tcPr>
                </a:tc>
                <a:tc>
                  <a:txBody>
                    <a:bodyPr/>
                    <a:lstStyle/>
                    <a:p>
                      <a:pPr algn="r"/>
                      <a:r>
                        <a:rPr sz="1200" b="0">
                          <a:solidFill>
                            <a:srgbClr val="1A202C"/>
                          </a:solidFill>
                          <a:latin typeface="Calibri"/>
                        </a:rPr>
                        <a:t>15%</a:t>
                      </a:r>
                    </a:p>
                  </a:txBody>
                  <a:tcPr>
                    <a:solidFill>
                      <a:srgbClr val="F7FAFC"/>
                    </a:solidFill>
                  </a:tcPr>
                </a:tc>
                <a:tc>
                  <a:txBody>
                    <a:bodyPr/>
                    <a:lstStyle/>
                    <a:p>
                      <a:pPr algn="l"/>
                      <a:r>
                        <a:rPr sz="1200" b="0">
                          <a:solidFill>
                            <a:srgbClr val="1A202C"/>
                          </a:solidFill>
                          <a:latin typeface="Calibri"/>
                        </a:rPr>
                        <a:t>115%</a:t>
                      </a:r>
                    </a:p>
                  </a:txBody>
                  <a:tcPr>
                    <a:solidFill>
                      <a:srgbClr val="F7FAFC"/>
                    </a:solidFill>
                  </a:tcPr>
                </a:tc>
                <a:tc>
                  <a:txBody>
                    <a:bodyPr/>
                    <a:lstStyle/>
                    <a:p>
                      <a:pPr algn="r"/>
                      <a:r>
                        <a:rPr sz="1200" b="0">
                          <a:solidFill>
                            <a:srgbClr val="1A202C"/>
                          </a:solidFill>
                          <a:latin typeface="Calibri"/>
                        </a:rPr>
                        <a:t>68%</a:t>
                      </a:r>
                    </a:p>
                  </a:txBody>
                  <a:tcPr>
                    <a:solidFill>
                      <a:srgbClr val="F7FAFC"/>
                    </a:solidFill>
                  </a:tcPr>
                </a:tc>
              </a:tr>
              <a:tr h="508000">
                <a:tc>
                  <a:txBody>
                    <a:bodyPr/>
                    <a:lstStyle/>
                    <a:p>
                      <a:pPr algn="l"/>
                      <a:r>
                        <a:rPr sz="1200" b="0">
                          <a:solidFill>
                            <a:srgbClr val="1A202C"/>
                          </a:solidFill>
                          <a:latin typeface="Calibri"/>
                        </a:rPr>
                        <a:t>Netsmart (private)</a:t>
                      </a:r>
                    </a:p>
                  </a:txBody>
                  <a:tcPr>
                    <a:solidFill>
                      <a:srgbClr val="FFFFFF"/>
                    </a:solidFill>
                  </a:tcPr>
                </a:tc>
                <a:tc>
                  <a:txBody>
                    <a:bodyPr/>
                    <a:lstStyle/>
                    <a:p>
                      <a:pPr algn="r"/>
                      <a:r>
                        <a:rPr sz="1200" b="0">
                          <a:solidFill>
                            <a:srgbClr val="1A202C"/>
                          </a:solidFill>
                          <a:latin typeface="Calibri"/>
                        </a:rPr>
                        <a:t>2,800</a:t>
                      </a:r>
                    </a:p>
                  </a:txBody>
                  <a:tcPr>
                    <a:solidFill>
                      <a:srgbClr val="FFFFFF"/>
                    </a:solidFill>
                  </a:tcPr>
                </a:tc>
                <a:tc>
                  <a:txBody>
                    <a:bodyPr/>
                    <a:lstStyle/>
                    <a:p>
                      <a:pPr algn="r"/>
                      <a:r>
                        <a:rPr sz="1200" b="0">
                          <a:solidFill>
                            <a:srgbClr val="1A202C"/>
                          </a:solidFill>
                          <a:latin typeface="Calibri"/>
                        </a:rPr>
                        <a:t>620</a:t>
                      </a:r>
                    </a:p>
                  </a:txBody>
                  <a:tcPr>
                    <a:solidFill>
                      <a:srgbClr val="FFFFFF"/>
                    </a:solidFill>
                  </a:tcPr>
                </a:tc>
                <a:tc>
                  <a:txBody>
                    <a:bodyPr/>
                    <a:lstStyle/>
                    <a:p>
                      <a:pPr algn="r"/>
                      <a:r>
                        <a:rPr sz="1200" b="0">
                          <a:solidFill>
                            <a:srgbClr val="1A202C"/>
                          </a:solidFill>
                          <a:latin typeface="Calibri"/>
                        </a:rPr>
                        <a:t>4.5x</a:t>
                      </a:r>
                    </a:p>
                  </a:txBody>
                  <a:tcPr>
                    <a:solidFill>
                      <a:srgbClr val="FFFFFF"/>
                    </a:solidFill>
                  </a:tcPr>
                </a:tc>
                <a:tc>
                  <a:txBody>
                    <a:bodyPr/>
                    <a:lstStyle/>
                    <a:p>
                      <a:pPr algn="r"/>
                      <a:r>
                        <a:rPr sz="1200" b="0">
                          <a:solidFill>
                            <a:srgbClr val="1A202C"/>
                          </a:solidFill>
                          <a:latin typeface="Calibri"/>
                        </a:rPr>
                        <a:t>22.4x</a:t>
                      </a:r>
                    </a:p>
                  </a:txBody>
                  <a:tcPr>
                    <a:solidFill>
                      <a:srgbClr val="FFFFFF"/>
                    </a:solidFill>
                  </a:tcPr>
                </a:tc>
                <a:tc>
                  <a:txBody>
                    <a:bodyPr/>
                    <a:lstStyle/>
                    <a:p>
                      <a:pPr algn="r"/>
                      <a:r>
                        <a:rPr sz="1200" b="0">
                          <a:solidFill>
                            <a:srgbClr val="1A202C"/>
                          </a:solidFill>
                          <a:latin typeface="Calibri"/>
                        </a:rPr>
                        <a:t>12%</a:t>
                      </a:r>
                    </a:p>
                  </a:txBody>
                  <a:tcPr>
                    <a:solidFill>
                      <a:srgbClr val="FFFFFF"/>
                    </a:solidFill>
                  </a:tcPr>
                </a:tc>
                <a:tc>
                  <a:txBody>
                    <a:bodyPr/>
                    <a:lstStyle/>
                    <a:p>
                      <a:pPr algn="r"/>
                      <a:r>
                        <a:rPr sz="1200" b="0">
                          <a:solidFill>
                            <a:srgbClr val="1A202C"/>
                          </a:solidFill>
                          <a:latin typeface="Calibri"/>
                        </a:rPr>
                        <a:t>20%</a:t>
                      </a:r>
                    </a:p>
                  </a:txBody>
                  <a:tcPr>
                    <a:solidFill>
                      <a:srgbClr val="FFFFFF"/>
                    </a:solidFill>
                  </a:tcPr>
                </a:tc>
                <a:tc>
                  <a:txBody>
                    <a:bodyPr/>
                    <a:lstStyle/>
                    <a:p>
                      <a:pPr algn="l"/>
                      <a:r>
                        <a:rPr sz="1200" b="0">
                          <a:solidFill>
                            <a:srgbClr val="1A202C"/>
                          </a:solidFill>
                          <a:latin typeface="Calibri"/>
                        </a:rPr>
                        <a:t>105%</a:t>
                      </a:r>
                    </a:p>
                  </a:txBody>
                  <a:tcPr>
                    <a:solidFill>
                      <a:srgbClr val="FFFFFF"/>
                    </a:solidFill>
                  </a:tcPr>
                </a:tc>
                <a:tc>
                  <a:txBody>
                    <a:bodyPr/>
                    <a:lstStyle/>
                    <a:p>
                      <a:pPr algn="r"/>
                      <a:r>
                        <a:rPr sz="1200" b="0">
                          <a:solidFill>
                            <a:srgbClr val="1A202C"/>
                          </a:solidFill>
                          <a:latin typeface="Calibri"/>
                        </a:rPr>
                        <a:t>65%</a:t>
                      </a:r>
                    </a:p>
                  </a:txBody>
                  <a:tcPr>
                    <a:solidFill>
                      <a:srgbClr val="FFFFFF"/>
                    </a:solidFill>
                  </a:tcPr>
                </a:tc>
              </a:tr>
              <a:tr h="508000">
                <a:tc>
                  <a:txBody>
                    <a:bodyPr/>
                    <a:lstStyle/>
                    <a:p>
                      <a:pPr algn="l"/>
                      <a:r>
                        <a:rPr sz="1200" b="0">
                          <a:solidFill>
                            <a:srgbClr val="1A202C"/>
                          </a:solidFill>
                          <a:latin typeface="Calibri"/>
                        </a:rPr>
                        <a:t>Inovalon</a:t>
                      </a:r>
                    </a:p>
                  </a:txBody>
                  <a:tcPr>
                    <a:solidFill>
                      <a:srgbClr val="F7FAFC"/>
                    </a:solidFill>
                  </a:tcPr>
                </a:tc>
                <a:tc>
                  <a:txBody>
                    <a:bodyPr/>
                    <a:lstStyle/>
                    <a:p>
                      <a:pPr algn="r"/>
                      <a:r>
                        <a:rPr sz="1200" b="0">
                          <a:solidFill>
                            <a:srgbClr val="1A202C"/>
                          </a:solidFill>
                          <a:latin typeface="Calibri"/>
                        </a:rPr>
                        <a:t>7,200</a:t>
                      </a:r>
                    </a:p>
                  </a:txBody>
                  <a:tcPr>
                    <a:solidFill>
                      <a:srgbClr val="F7FAFC"/>
                    </a:solidFill>
                  </a:tcPr>
                </a:tc>
                <a:tc>
                  <a:txBody>
                    <a:bodyPr/>
                    <a:lstStyle/>
                    <a:p>
                      <a:pPr algn="r"/>
                      <a:r>
                        <a:rPr sz="1200" b="0">
                          <a:solidFill>
                            <a:srgbClr val="1A202C"/>
                          </a:solidFill>
                          <a:latin typeface="Calibri"/>
                        </a:rPr>
                        <a:t>890</a:t>
                      </a:r>
                    </a:p>
                  </a:txBody>
                  <a:tcPr>
                    <a:solidFill>
                      <a:srgbClr val="F7FAFC"/>
                    </a:solidFill>
                  </a:tcPr>
                </a:tc>
                <a:tc>
                  <a:txBody>
                    <a:bodyPr/>
                    <a:lstStyle/>
                    <a:p>
                      <a:pPr algn="r"/>
                      <a:r>
                        <a:rPr sz="1200" b="0">
                          <a:solidFill>
                            <a:srgbClr val="1A202C"/>
                          </a:solidFill>
                          <a:latin typeface="Calibri"/>
                        </a:rPr>
                        <a:t>8.1x</a:t>
                      </a:r>
                    </a:p>
                  </a:txBody>
                  <a:tcPr>
                    <a:solidFill>
                      <a:srgbClr val="F7FAFC"/>
                    </a:solidFill>
                  </a:tcPr>
                </a:tc>
                <a:tc>
                  <a:txBody>
                    <a:bodyPr/>
                    <a:lstStyle/>
                    <a:p>
                      <a:pPr algn="r"/>
                      <a:r>
                        <a:rPr sz="1200" b="0">
                          <a:solidFill>
                            <a:srgbClr val="1A202C"/>
                          </a:solidFill>
                          <a:latin typeface="Calibri"/>
                        </a:rPr>
                        <a:t>28.8x</a:t>
                      </a:r>
                    </a:p>
                  </a:txBody>
                  <a:tcPr>
                    <a:solidFill>
                      <a:srgbClr val="F7FAFC"/>
                    </a:solidFill>
                  </a:tcPr>
                </a:tc>
                <a:tc>
                  <a:txBody>
                    <a:bodyPr/>
                    <a:lstStyle/>
                    <a:p>
                      <a:pPr algn="r"/>
                      <a:r>
                        <a:rPr sz="1200" b="0">
                          <a:solidFill>
                            <a:srgbClr val="1A202C"/>
                          </a:solidFill>
                          <a:latin typeface="Calibri"/>
                        </a:rPr>
                        <a:t>16%</a:t>
                      </a:r>
                    </a:p>
                  </a:txBody>
                  <a:tcPr>
                    <a:solidFill>
                      <a:srgbClr val="F7FAFC"/>
                    </a:solidFill>
                  </a:tcPr>
                </a:tc>
                <a:tc>
                  <a:txBody>
                    <a:bodyPr/>
                    <a:lstStyle/>
                    <a:p>
                      <a:pPr algn="r"/>
                      <a:r>
                        <a:rPr sz="1200" b="0">
                          <a:solidFill>
                            <a:srgbClr val="1A202C"/>
                          </a:solidFill>
                          <a:latin typeface="Calibri"/>
                        </a:rPr>
                        <a:t>28%</a:t>
                      </a:r>
                    </a:p>
                  </a:txBody>
                  <a:tcPr>
                    <a:solidFill>
                      <a:srgbClr val="F7FAFC"/>
                    </a:solidFill>
                  </a:tcPr>
                </a:tc>
                <a:tc>
                  <a:txBody>
                    <a:bodyPr/>
                    <a:lstStyle/>
                    <a:p>
                      <a:pPr algn="l"/>
                      <a:r>
                        <a:rPr sz="1200" b="0">
                          <a:solidFill>
                            <a:srgbClr val="1A202C"/>
                          </a:solidFill>
                          <a:latin typeface="Calibri"/>
                        </a:rPr>
                        <a:t>118%</a:t>
                      </a:r>
                    </a:p>
                  </a:txBody>
                  <a:tcPr>
                    <a:solidFill>
                      <a:srgbClr val="F7FAFC"/>
                    </a:solidFill>
                  </a:tcPr>
                </a:tc>
                <a:tc>
                  <a:txBody>
                    <a:bodyPr/>
                    <a:lstStyle/>
                    <a:p>
                      <a:pPr algn="r"/>
                      <a:r>
                        <a:rPr sz="1200" b="0">
                          <a:solidFill>
                            <a:srgbClr val="1A202C"/>
                          </a:solidFill>
                          <a:latin typeface="Calibri"/>
                        </a:rPr>
                        <a:t>78%</a:t>
                      </a:r>
                    </a:p>
                  </a:txBody>
                  <a:tcPr>
                    <a:solidFill>
                      <a:srgbClr val="F7FAFC"/>
                    </a:solidFill>
                  </a:tcPr>
                </a:tc>
              </a:tr>
              <a:tr h="508000">
                <a:tc>
                  <a:txBody>
                    <a:bodyPr/>
                    <a:lstStyle/>
                    <a:p>
                      <a:pPr algn="l"/>
                      <a:r>
                        <a:rPr sz="1200" b="0">
                          <a:solidFill>
                            <a:srgbClr val="1A202C"/>
                          </a:solidFill>
                          <a:latin typeface="Calibri"/>
                        </a:rPr>
                        <a:t>CloudMetrics (Target)</a:t>
                      </a:r>
                    </a:p>
                  </a:txBody>
                  <a:tcPr>
                    <a:solidFill>
                      <a:srgbClr val="FFFFFF"/>
                    </a:solidFill>
                  </a:tcPr>
                </a:tc>
                <a:tc>
                  <a:txBody>
                    <a:bodyPr/>
                    <a:lstStyle/>
                    <a:p>
                      <a:pPr algn="r"/>
                      <a:r>
                        <a:rPr sz="1200" b="0">
                          <a:solidFill>
                            <a:srgbClr val="1A202C"/>
                          </a:solidFill>
                          <a:latin typeface="Calibri"/>
                        </a:rPr>
                        <a:t>1,800</a:t>
                      </a:r>
                    </a:p>
                  </a:txBody>
                  <a:tcPr>
                    <a:solidFill>
                      <a:srgbClr val="FFFFFF"/>
                    </a:solidFill>
                  </a:tcPr>
                </a:tc>
                <a:tc>
                  <a:txBody>
                    <a:bodyPr/>
                    <a:lstStyle/>
                    <a:p>
                      <a:pPr algn="r"/>
                      <a:r>
                        <a:rPr sz="1200" b="0">
                          <a:solidFill>
                            <a:srgbClr val="1A202C"/>
                          </a:solidFill>
                          <a:latin typeface="Calibri"/>
                        </a:rPr>
                        <a:t>218</a:t>
                      </a:r>
                    </a:p>
                  </a:txBody>
                  <a:tcPr>
                    <a:solidFill>
                      <a:srgbClr val="FFFFFF"/>
                    </a:solidFill>
                  </a:tcPr>
                </a:tc>
                <a:tc>
                  <a:txBody>
                    <a:bodyPr/>
                    <a:lstStyle/>
                    <a:p>
                      <a:pPr algn="r"/>
                      <a:r>
                        <a:rPr sz="1200" b="0">
                          <a:solidFill>
                            <a:srgbClr val="1A202C"/>
                          </a:solidFill>
                          <a:latin typeface="Calibri"/>
                        </a:rPr>
                        <a:t>8.3x</a:t>
                      </a:r>
                    </a:p>
                  </a:txBody>
                  <a:tcPr>
                    <a:solidFill>
                      <a:srgbClr val="FFFFFF"/>
                    </a:solidFill>
                  </a:tcPr>
                </a:tc>
                <a:tc>
                  <a:txBody>
                    <a:bodyPr/>
                    <a:lstStyle/>
                    <a:p>
                      <a:pPr algn="r"/>
                      <a:r>
                        <a:rPr sz="1200" b="0">
                          <a:solidFill>
                            <a:srgbClr val="1A202C"/>
                          </a:solidFill>
                          <a:latin typeface="Calibri"/>
                        </a:rPr>
                        <a:t>37.5x</a:t>
                      </a:r>
                    </a:p>
                  </a:txBody>
                  <a:tcPr>
                    <a:solidFill>
                      <a:srgbClr val="FFFFFF"/>
                    </a:solidFill>
                  </a:tcPr>
                </a:tc>
                <a:tc>
                  <a:txBody>
                    <a:bodyPr/>
                    <a:lstStyle/>
                    <a:p>
                      <a:pPr algn="r"/>
                      <a:r>
                        <a:rPr sz="1200" b="0">
                          <a:solidFill>
                            <a:srgbClr val="1A202C"/>
                          </a:solidFill>
                          <a:latin typeface="Calibri"/>
                        </a:rPr>
                        <a:t>32%</a:t>
                      </a:r>
                    </a:p>
                  </a:txBody>
                  <a:tcPr>
                    <a:solidFill>
                      <a:srgbClr val="FFFFFF"/>
                    </a:solidFill>
                  </a:tcPr>
                </a:tc>
                <a:tc>
                  <a:txBody>
                    <a:bodyPr/>
                    <a:lstStyle/>
                    <a:p>
                      <a:pPr algn="r"/>
                      <a:r>
                        <a:rPr sz="1200" b="0">
                          <a:solidFill>
                            <a:srgbClr val="1A202C"/>
                          </a:solidFill>
                          <a:latin typeface="Calibri"/>
                        </a:rPr>
                        <a:t>25%</a:t>
                      </a:r>
                    </a:p>
                  </a:txBody>
                  <a:tcPr>
                    <a:solidFill>
                      <a:srgbClr val="FFFFFF"/>
                    </a:solidFill>
                  </a:tcPr>
                </a:tc>
                <a:tc>
                  <a:txBody>
                    <a:bodyPr/>
                    <a:lstStyle/>
                    <a:p>
                      <a:pPr algn="l"/>
                      <a:r>
                        <a:rPr sz="1200" b="0">
                          <a:solidFill>
                            <a:srgbClr val="1A202C"/>
                          </a:solidFill>
                          <a:latin typeface="Calibri"/>
                        </a:rPr>
                        <a:t>128%</a:t>
                      </a:r>
                    </a:p>
                  </a:txBody>
                  <a:tcPr>
                    <a:solidFill>
                      <a:srgbClr val="FFFFFF"/>
                    </a:solidFill>
                  </a:tcPr>
                </a:tc>
                <a:tc>
                  <a:txBody>
                    <a:bodyPr/>
                    <a:lstStyle/>
                    <a:p>
                      <a:pPr algn="r"/>
                      <a:r>
                        <a:rPr sz="1200" b="0">
                          <a:solidFill>
                            <a:srgbClr val="1A202C"/>
                          </a:solidFill>
                          <a:latin typeface="Calibri"/>
                        </a:rPr>
                        <a:t>82%</a:t>
                      </a:r>
                    </a:p>
                  </a:txBody>
                  <a:tcPr>
                    <a:solidFill>
                      <a:srgbClr val="FFFFFF"/>
                    </a:solidFill>
                  </a:tcPr>
                </a:tc>
              </a:tr>
              <a:tr h="508000">
                <a:tc>
                  <a:txBody>
                    <a:bodyPr/>
                    <a:lstStyle/>
                    <a:p>
                      <a:pPr algn="l"/>
                      <a:r>
                        <a:rPr sz="1200" b="0">
                          <a:solidFill>
                            <a:srgbClr val="1A202C"/>
                          </a:solidFill>
                          <a:latin typeface="Calibri"/>
                        </a:rPr>
                        <a:t>Median (excl. target)</a:t>
                      </a:r>
                    </a:p>
                  </a:txBody>
                  <a:tcPr>
                    <a:solidFill>
                      <a:srgbClr val="F7FAFC"/>
                    </a:solidFill>
                  </a:tcPr>
                </a:tc>
                <a:tc>
                  <a:txBody>
                    <a:bodyPr/>
                    <a:lstStyle/>
                    <a:p>
                      <a:pPr algn="r"/>
                      <a:r>
                        <a:rPr sz="1200" b="0">
                          <a:solidFill>
                            <a:srgbClr val="1A202C"/>
                          </a:solidFill>
                          <a:latin typeface="Calibri"/>
                        </a:rPr>
                        <a:t>-</a:t>
                      </a:r>
                    </a:p>
                  </a:txBody>
                  <a:tcPr>
                    <a:solidFill>
                      <a:srgbClr val="F7FAFC"/>
                    </a:solidFill>
                  </a:tcPr>
                </a:tc>
                <a:tc>
                  <a:txBody>
                    <a:bodyPr/>
                    <a:lstStyle/>
                    <a:p>
                      <a:pPr algn="r"/>
                      <a:r>
                        <a:rPr sz="1200" b="0">
                          <a:solidFill>
                            <a:srgbClr val="1A202C"/>
                          </a:solidFill>
                          <a:latin typeface="Calibri"/>
                        </a:rPr>
                        <a:t>-</a:t>
                      </a:r>
                    </a:p>
                  </a:txBody>
                  <a:tcPr>
                    <a:solidFill>
                      <a:srgbClr val="F7FAFC"/>
                    </a:solidFill>
                  </a:tcPr>
                </a:tc>
                <a:tc>
                  <a:txBody>
                    <a:bodyPr/>
                    <a:lstStyle/>
                    <a:p>
                      <a:pPr algn="r"/>
                      <a:r>
                        <a:rPr sz="1200" b="0">
                          <a:solidFill>
                            <a:srgbClr val="1A202C"/>
                          </a:solidFill>
                          <a:latin typeface="Calibri"/>
                        </a:rPr>
                        <a:t>6.8x</a:t>
                      </a:r>
                    </a:p>
                  </a:txBody>
                  <a:tcPr>
                    <a:solidFill>
                      <a:srgbClr val="F7FAFC"/>
                    </a:solidFill>
                  </a:tcPr>
                </a:tc>
                <a:tc>
                  <a:txBody>
                    <a:bodyPr/>
                    <a:lstStyle/>
                    <a:p>
                      <a:pPr algn="r"/>
                      <a:r>
                        <a:rPr sz="1200" b="0">
                          <a:solidFill>
                            <a:srgbClr val="1A202C"/>
                          </a:solidFill>
                          <a:latin typeface="Calibri"/>
                        </a:rPr>
                        <a:t>28.8x</a:t>
                      </a:r>
                    </a:p>
                  </a:txBody>
                  <a:tcPr>
                    <a:solidFill>
                      <a:srgbClr val="F7FAFC"/>
                    </a:solidFill>
                  </a:tcPr>
                </a:tc>
                <a:tc>
                  <a:txBody>
                    <a:bodyPr/>
                    <a:lstStyle/>
                    <a:p>
                      <a:pPr algn="r"/>
                      <a:r>
                        <a:rPr sz="1200" b="0">
                          <a:solidFill>
                            <a:srgbClr val="1A202C"/>
                          </a:solidFill>
                          <a:latin typeface="Calibri"/>
                        </a:rPr>
                        <a:t>16%</a:t>
                      </a:r>
                    </a:p>
                  </a:txBody>
                  <a:tcPr>
                    <a:solidFill>
                      <a:srgbClr val="F7FAFC"/>
                    </a:solidFill>
                  </a:tcPr>
                </a:tc>
                <a:tc>
                  <a:txBody>
                    <a:bodyPr/>
                    <a:lstStyle/>
                    <a:p>
                      <a:pPr algn="r"/>
                      <a:r>
                        <a:rPr sz="1200" b="0">
                          <a:solidFill>
                            <a:srgbClr val="1A202C"/>
                          </a:solidFill>
                          <a:latin typeface="Calibri"/>
                        </a:rPr>
                        <a:t>20%</a:t>
                      </a:r>
                    </a:p>
                  </a:txBody>
                  <a:tcPr>
                    <a:solidFill>
                      <a:srgbClr val="F7FAFC"/>
                    </a:solidFill>
                  </a:tcPr>
                </a:tc>
                <a:tc>
                  <a:txBody>
                    <a:bodyPr/>
                    <a:lstStyle/>
                    <a:p>
                      <a:pPr algn="l"/>
                      <a:r>
                        <a:rPr sz="1200" b="0">
                          <a:solidFill>
                            <a:srgbClr val="1A202C"/>
                          </a:solidFill>
                          <a:latin typeface="Calibri"/>
                        </a:rPr>
                        <a:t>115%</a:t>
                      </a:r>
                    </a:p>
                  </a:txBody>
                  <a:tcPr>
                    <a:solidFill>
                      <a:srgbClr val="F7FAFC"/>
                    </a:solidFill>
                  </a:tcPr>
                </a:tc>
                <a:tc>
                  <a:txBody>
                    <a:bodyPr/>
                    <a:lstStyle/>
                    <a:p>
                      <a:pPr algn="r"/>
                      <a:r>
                        <a:rPr sz="1200" b="0">
                          <a:solidFill>
                            <a:srgbClr val="1A202C"/>
                          </a:solidFill>
                          <a:latin typeface="Calibri"/>
                        </a:rPr>
                        <a:t>68%</a:t>
                      </a:r>
                    </a:p>
                  </a:txBody>
                  <a:tcPr>
                    <a:solidFill>
                      <a:srgbClr val="F7FAFC"/>
                    </a:solidFill>
                  </a:tcPr>
                </a:tc>
              </a:tr>
              <a:tr h="508000">
                <a:tc>
                  <a:txBody>
                    <a:bodyPr/>
                    <a:lstStyle/>
                    <a:p>
                      <a:pPr algn="l"/>
                      <a:r>
                        <a:rPr sz="1200" b="1">
                          <a:solidFill>
                            <a:srgbClr val="1A202C"/>
                          </a:solidFill>
                          <a:latin typeface="Calibri"/>
                        </a:rPr>
                        <a:t>Median</a:t>
                      </a:r>
                    </a:p>
                  </a:txBody>
                  <a:tcPr>
                    <a:solidFill>
                      <a:srgbClr val="0D6B3D"/>
                    </a:solidFill>
                  </a:tcPr>
                </a:tc>
                <a:tc>
                  <a:txBody>
                    <a:bodyPr/>
                    <a:lstStyle/>
                    <a:p>
                      <a:pPr algn="r"/>
                    </a:p>
                  </a:txBody>
                  <a:tcPr>
                    <a:solidFill>
                      <a:srgbClr val="0D6B3D"/>
                    </a:solidFill>
                  </a:tcPr>
                </a:tc>
                <a:tc>
                  <a:txBody>
                    <a:bodyPr/>
                    <a:lstStyle/>
                    <a:p>
                      <a:pPr algn="r"/>
                    </a:p>
                  </a:txBody>
                  <a:tcPr>
                    <a:solidFill>
                      <a:srgbClr val="0D6B3D"/>
                    </a:solidFill>
                  </a:tcPr>
                </a:tc>
                <a:tc>
                  <a:txBody>
                    <a:bodyPr/>
                    <a:lstStyle/>
                    <a:p>
                      <a:pPr algn="r"/>
                    </a:p>
                  </a:txBody>
                  <a:tcPr>
                    <a:solidFill>
                      <a:srgbClr val="0D6B3D"/>
                    </a:solidFill>
                  </a:tcPr>
                </a:tc>
                <a:tc>
                  <a:txBody>
                    <a:bodyPr/>
                    <a:lstStyle/>
                    <a:p>
                      <a:pPr algn="r"/>
                    </a:p>
                  </a:txBody>
                  <a:tcPr>
                    <a:solidFill>
                      <a:srgbClr val="0D6B3D"/>
                    </a:solidFill>
                  </a:tcPr>
                </a:tc>
                <a:tc>
                  <a:txBody>
                    <a:bodyPr/>
                    <a:lstStyle/>
                    <a:p>
                      <a:pPr algn="r"/>
                    </a:p>
                  </a:txBody>
                  <a:tcPr>
                    <a:solidFill>
                      <a:srgbClr val="0D6B3D"/>
                    </a:solidFill>
                  </a:tcPr>
                </a:tc>
                <a:tc>
                  <a:txBody>
                    <a:bodyPr/>
                    <a:lstStyle/>
                    <a:p>
                      <a:pPr algn="r"/>
                    </a:p>
                  </a:txBody>
                  <a:tcPr>
                    <a:solidFill>
                      <a:srgbClr val="0D6B3D"/>
                    </a:solidFill>
                  </a:tcPr>
                </a:tc>
                <a:tc>
                  <a:txBody>
                    <a:bodyPr/>
                    <a:lstStyle/>
                    <a:p>
                      <a:pPr algn="l"/>
                    </a:p>
                  </a:txBody>
                  <a:tcPr>
                    <a:solidFill>
                      <a:srgbClr val="0D6B3D"/>
                    </a:solidFill>
                  </a:tcPr>
                </a:tc>
                <a:tc>
                  <a:txBody>
                    <a:bodyPr/>
                    <a:lstStyle/>
                    <a:p>
                      <a:pPr algn="r"/>
                    </a:p>
                  </a:txBody>
                  <a:tcPr>
                    <a:solidFill>
                      <a:srgbClr val="0D6B3D"/>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DCF Valuation &amp; Sensitivity Analysis</a:t>
            </a:r>
          </a:p>
        </p:txBody>
      </p:sp>
      <p:graphicFrame>
        <p:nvGraphicFramePr>
          <p:cNvPr id="3" name="Table 2"/>
          <p:cNvGraphicFramePr>
            <a:graphicFrameLocks noGrp="1"/>
          </p:cNvGraphicFramePr>
          <p:nvPr/>
        </p:nvGraphicFramePr>
        <p:xfrm>
          <a:off x="685800" y="1371600"/>
          <a:ext cx="4572000" cy="3200400"/>
        </p:xfrm>
        <a:graphic>
          <a:graphicData uri="http://schemas.openxmlformats.org/drawingml/2006/table">
            <a:tbl>
              <a:tblPr firstRow="1" bandRow="1">
                <a:tableStyleId>{5C22544A-7EE6-4342-B048-85BDC9FD1C3A}</a:tableStyleId>
              </a:tblPr>
              <a:tblGrid>
                <a:gridCol w="2032000"/>
                <a:gridCol w="508000"/>
                <a:gridCol w="508000"/>
                <a:gridCol w="508000"/>
                <a:gridCol w="508000"/>
                <a:gridCol w="508000"/>
              </a:tblGrid>
              <a:tr h="457200">
                <a:tc>
                  <a:txBody>
                    <a:bodyPr/>
                    <a:lstStyle/>
                    <a:p>
                      <a:r>
                        <a:rPr sz="1200" b="1">
                          <a:solidFill>
                            <a:srgbClr val="FFFFFF"/>
                          </a:solidFill>
                          <a:latin typeface="Calibri"/>
                        </a:rPr>
                        <a:t>WACC \ Exit Multiple</a:t>
                      </a:r>
                    </a:p>
                  </a:txBody>
                  <a:tcPr>
                    <a:solidFill>
                      <a:srgbClr val="0C1B33"/>
                    </a:solidFill>
                  </a:tcPr>
                </a:tc>
                <a:tc>
                  <a:txBody>
                    <a:bodyPr/>
                    <a:lstStyle/>
                    <a:p>
                      <a:r>
                        <a:rPr sz="1200" b="1">
                          <a:solidFill>
                            <a:srgbClr val="FFFFFF"/>
                          </a:solidFill>
                          <a:latin typeface="Calibri"/>
                        </a:rPr>
                        <a:t>10.0x</a:t>
                      </a:r>
                    </a:p>
                  </a:txBody>
                  <a:tcPr>
                    <a:solidFill>
                      <a:srgbClr val="0C1B33"/>
                    </a:solidFill>
                  </a:tcPr>
                </a:tc>
                <a:tc>
                  <a:txBody>
                    <a:bodyPr/>
                    <a:lstStyle/>
                    <a:p>
                      <a:r>
                        <a:rPr sz="1200" b="1">
                          <a:solidFill>
                            <a:srgbClr val="FFFFFF"/>
                          </a:solidFill>
                          <a:latin typeface="Calibri"/>
                        </a:rPr>
                        <a:t>11.0x</a:t>
                      </a:r>
                    </a:p>
                  </a:txBody>
                  <a:tcPr>
                    <a:solidFill>
                      <a:srgbClr val="0C1B33"/>
                    </a:solidFill>
                  </a:tcPr>
                </a:tc>
                <a:tc>
                  <a:txBody>
                    <a:bodyPr/>
                    <a:lstStyle/>
                    <a:p>
                      <a:r>
                        <a:rPr sz="1200" b="1">
                          <a:solidFill>
                            <a:srgbClr val="FFFFFF"/>
                          </a:solidFill>
                          <a:latin typeface="Calibri"/>
                        </a:rPr>
                        <a:t>12.0x</a:t>
                      </a:r>
                    </a:p>
                  </a:txBody>
                  <a:tcPr>
                    <a:solidFill>
                      <a:srgbClr val="0C1B33"/>
                    </a:solidFill>
                  </a:tcPr>
                </a:tc>
                <a:tc>
                  <a:txBody>
                    <a:bodyPr/>
                    <a:lstStyle/>
                    <a:p>
                      <a:r>
                        <a:rPr sz="1200" b="1">
                          <a:solidFill>
                            <a:srgbClr val="FFFFFF"/>
                          </a:solidFill>
                          <a:latin typeface="Calibri"/>
                        </a:rPr>
                        <a:t>13.0x</a:t>
                      </a:r>
                    </a:p>
                  </a:txBody>
                  <a:tcPr>
                    <a:solidFill>
                      <a:srgbClr val="0C1B33"/>
                    </a:solidFill>
                  </a:tcPr>
                </a:tc>
                <a:tc>
                  <a:txBody>
                    <a:bodyPr/>
                    <a:lstStyle/>
                    <a:p>
                      <a:r>
                        <a:rPr sz="1200" b="1">
                          <a:solidFill>
                            <a:srgbClr val="FFFFFF"/>
                          </a:solidFill>
                          <a:latin typeface="Calibri"/>
                        </a:rPr>
                        <a:t>14.0x</a:t>
                      </a:r>
                    </a:p>
                  </a:txBody>
                  <a:tcPr>
                    <a:solidFill>
                      <a:srgbClr val="0C1B33"/>
                    </a:solidFill>
                  </a:tcPr>
                </a:tc>
              </a:tr>
              <a:tr h="457200">
                <a:tc>
                  <a:txBody>
                    <a:bodyPr/>
                    <a:lstStyle/>
                    <a:p>
                      <a:pPr algn="l"/>
                      <a:r>
                        <a:rPr sz="1200" b="0">
                          <a:solidFill>
                            <a:srgbClr val="1A202C"/>
                          </a:solidFill>
                          <a:latin typeface="Calibri"/>
                        </a:rPr>
                        <a:t>10.0%</a:t>
                      </a:r>
                    </a:p>
                  </a:txBody>
                  <a:tcPr>
                    <a:solidFill>
                      <a:srgbClr val="F7FAFC"/>
                    </a:solidFill>
                  </a:tcPr>
                </a:tc>
                <a:tc>
                  <a:txBody>
                    <a:bodyPr/>
                    <a:lstStyle/>
                    <a:p>
                      <a:pPr algn="l"/>
                      <a:r>
                        <a:rPr sz="1200" b="0">
                          <a:solidFill>
                            <a:srgbClr val="1A202C"/>
                          </a:solidFill>
                          <a:latin typeface="Calibri"/>
                        </a:rPr>
                        <a:t>$1,980M</a:t>
                      </a:r>
                    </a:p>
                  </a:txBody>
                  <a:tcPr>
                    <a:solidFill>
                      <a:srgbClr val="F7FAFC"/>
                    </a:solidFill>
                  </a:tcPr>
                </a:tc>
                <a:tc>
                  <a:txBody>
                    <a:bodyPr/>
                    <a:lstStyle/>
                    <a:p>
                      <a:pPr algn="l"/>
                      <a:r>
                        <a:rPr sz="1200" b="0">
                          <a:solidFill>
                            <a:srgbClr val="1A202C"/>
                          </a:solidFill>
                          <a:latin typeface="Calibri"/>
                        </a:rPr>
                        <a:t>$2,180M</a:t>
                      </a:r>
                    </a:p>
                  </a:txBody>
                  <a:tcPr>
                    <a:solidFill>
                      <a:srgbClr val="F7FAFC"/>
                    </a:solidFill>
                  </a:tcPr>
                </a:tc>
                <a:tc>
                  <a:txBody>
                    <a:bodyPr/>
                    <a:lstStyle/>
                    <a:p>
                      <a:pPr algn="l"/>
                      <a:r>
                        <a:rPr sz="1200" b="0">
                          <a:solidFill>
                            <a:srgbClr val="1A202C"/>
                          </a:solidFill>
                          <a:latin typeface="Calibri"/>
                        </a:rPr>
                        <a:t>$2,380M</a:t>
                      </a:r>
                    </a:p>
                  </a:txBody>
                  <a:tcPr>
                    <a:solidFill>
                      <a:srgbClr val="F7FAFC"/>
                    </a:solidFill>
                  </a:tcPr>
                </a:tc>
                <a:tc>
                  <a:txBody>
                    <a:bodyPr/>
                    <a:lstStyle/>
                    <a:p>
                      <a:pPr algn="l"/>
                      <a:r>
                        <a:rPr sz="1200" b="0">
                          <a:solidFill>
                            <a:srgbClr val="1A202C"/>
                          </a:solidFill>
                          <a:latin typeface="Calibri"/>
                        </a:rPr>
                        <a:t>$2,580M</a:t>
                      </a:r>
                    </a:p>
                  </a:txBody>
                  <a:tcPr>
                    <a:solidFill>
                      <a:srgbClr val="F7FAFC"/>
                    </a:solidFill>
                  </a:tcPr>
                </a:tc>
                <a:tc>
                  <a:txBody>
                    <a:bodyPr/>
                    <a:lstStyle/>
                    <a:p>
                      <a:pPr algn="l"/>
                      <a:r>
                        <a:rPr sz="1200" b="0">
                          <a:solidFill>
                            <a:srgbClr val="1A202C"/>
                          </a:solidFill>
                          <a:latin typeface="Calibri"/>
                        </a:rPr>
                        <a:t>$2,780M</a:t>
                      </a:r>
                    </a:p>
                  </a:txBody>
                  <a:tcPr>
                    <a:solidFill>
                      <a:srgbClr val="F7FAFC"/>
                    </a:solidFill>
                  </a:tcPr>
                </a:tc>
              </a:tr>
              <a:tr h="457200">
                <a:tc>
                  <a:txBody>
                    <a:bodyPr/>
                    <a:lstStyle/>
                    <a:p>
                      <a:pPr algn="l"/>
                      <a:r>
                        <a:rPr sz="1200" b="0">
                          <a:solidFill>
                            <a:srgbClr val="1A202C"/>
                          </a:solidFill>
                          <a:latin typeface="Calibri"/>
                        </a:rPr>
                        <a:t>10.5%</a:t>
                      </a:r>
                    </a:p>
                  </a:txBody>
                  <a:tcPr>
                    <a:solidFill>
                      <a:srgbClr val="FFFFFF"/>
                    </a:solidFill>
                  </a:tcPr>
                </a:tc>
                <a:tc>
                  <a:txBody>
                    <a:bodyPr/>
                    <a:lstStyle/>
                    <a:p>
                      <a:pPr algn="l"/>
                      <a:r>
                        <a:rPr sz="1200" b="0">
                          <a:solidFill>
                            <a:srgbClr val="1A202C"/>
                          </a:solidFill>
                          <a:latin typeface="Calibri"/>
                        </a:rPr>
                        <a:t>$1,890M</a:t>
                      </a:r>
                    </a:p>
                  </a:txBody>
                  <a:tcPr>
                    <a:solidFill>
                      <a:srgbClr val="FFFFFF"/>
                    </a:solidFill>
                  </a:tcPr>
                </a:tc>
                <a:tc>
                  <a:txBody>
                    <a:bodyPr/>
                    <a:lstStyle/>
                    <a:p>
                      <a:pPr algn="l"/>
                      <a:r>
                        <a:rPr sz="1200" b="0">
                          <a:solidFill>
                            <a:srgbClr val="1A202C"/>
                          </a:solidFill>
                          <a:latin typeface="Calibri"/>
                        </a:rPr>
                        <a:t>$2,080M</a:t>
                      </a:r>
                    </a:p>
                  </a:txBody>
                  <a:tcPr>
                    <a:solidFill>
                      <a:srgbClr val="FFFFFF"/>
                    </a:solidFill>
                  </a:tcPr>
                </a:tc>
                <a:tc>
                  <a:txBody>
                    <a:bodyPr/>
                    <a:lstStyle/>
                    <a:p>
                      <a:pPr algn="l"/>
                      <a:r>
                        <a:rPr sz="1200" b="0">
                          <a:solidFill>
                            <a:srgbClr val="1A202C"/>
                          </a:solidFill>
                          <a:latin typeface="Calibri"/>
                        </a:rPr>
                        <a:t>$2,270M</a:t>
                      </a:r>
                    </a:p>
                  </a:txBody>
                  <a:tcPr>
                    <a:solidFill>
                      <a:srgbClr val="FFFFFF"/>
                    </a:solidFill>
                  </a:tcPr>
                </a:tc>
                <a:tc>
                  <a:txBody>
                    <a:bodyPr/>
                    <a:lstStyle/>
                    <a:p>
                      <a:pPr algn="l"/>
                      <a:r>
                        <a:rPr sz="1200" b="0">
                          <a:solidFill>
                            <a:srgbClr val="1A202C"/>
                          </a:solidFill>
                          <a:latin typeface="Calibri"/>
                        </a:rPr>
                        <a:t>$2,460M</a:t>
                      </a:r>
                    </a:p>
                  </a:txBody>
                  <a:tcPr>
                    <a:solidFill>
                      <a:srgbClr val="FFFFFF"/>
                    </a:solidFill>
                  </a:tcPr>
                </a:tc>
                <a:tc>
                  <a:txBody>
                    <a:bodyPr/>
                    <a:lstStyle/>
                    <a:p>
                      <a:pPr algn="l"/>
                      <a:r>
                        <a:rPr sz="1200" b="0">
                          <a:solidFill>
                            <a:srgbClr val="1A202C"/>
                          </a:solidFill>
                          <a:latin typeface="Calibri"/>
                        </a:rPr>
                        <a:t>$2,650M</a:t>
                      </a:r>
                    </a:p>
                  </a:txBody>
                  <a:tcPr>
                    <a:solidFill>
                      <a:srgbClr val="FFFFFF"/>
                    </a:solidFill>
                  </a:tcPr>
                </a:tc>
              </a:tr>
              <a:tr h="457200">
                <a:tc>
                  <a:txBody>
                    <a:bodyPr/>
                    <a:lstStyle/>
                    <a:p>
                      <a:pPr algn="l"/>
                      <a:r>
                        <a:rPr sz="1200" b="0">
                          <a:solidFill>
                            <a:srgbClr val="1A202C"/>
                          </a:solidFill>
                          <a:latin typeface="Calibri"/>
                        </a:rPr>
                        <a:t>11.0%</a:t>
                      </a:r>
                    </a:p>
                  </a:txBody>
                  <a:tcPr>
                    <a:solidFill>
                      <a:srgbClr val="F7FAFC"/>
                    </a:solidFill>
                  </a:tcPr>
                </a:tc>
                <a:tc>
                  <a:txBody>
                    <a:bodyPr/>
                    <a:lstStyle/>
                    <a:p>
                      <a:pPr algn="l"/>
                      <a:r>
                        <a:rPr sz="1200" b="0">
                          <a:solidFill>
                            <a:srgbClr val="1A202C"/>
                          </a:solidFill>
                          <a:latin typeface="Calibri"/>
                        </a:rPr>
                        <a:t>$1,810M</a:t>
                      </a:r>
                    </a:p>
                  </a:txBody>
                  <a:tcPr>
                    <a:solidFill>
                      <a:srgbClr val="F7FAFC"/>
                    </a:solidFill>
                  </a:tcPr>
                </a:tc>
                <a:tc>
                  <a:txBody>
                    <a:bodyPr/>
                    <a:lstStyle/>
                    <a:p>
                      <a:pPr algn="l"/>
                      <a:r>
                        <a:rPr sz="1200" b="0">
                          <a:solidFill>
                            <a:srgbClr val="1A202C"/>
                          </a:solidFill>
                          <a:latin typeface="Calibri"/>
                        </a:rPr>
                        <a:t>$1,990M</a:t>
                      </a:r>
                    </a:p>
                  </a:txBody>
                  <a:tcPr>
                    <a:solidFill>
                      <a:srgbClr val="F7FAFC"/>
                    </a:solidFill>
                  </a:tcPr>
                </a:tc>
                <a:tc>
                  <a:txBody>
                    <a:bodyPr/>
                    <a:lstStyle/>
                    <a:p>
                      <a:pPr algn="l"/>
                      <a:r>
                        <a:rPr sz="1200" b="0">
                          <a:solidFill>
                            <a:srgbClr val="1A202C"/>
                          </a:solidFill>
                          <a:latin typeface="Calibri"/>
                        </a:rPr>
                        <a:t>$2,170M</a:t>
                      </a:r>
                    </a:p>
                  </a:txBody>
                  <a:tcPr>
                    <a:solidFill>
                      <a:srgbClr val="F7FAFC"/>
                    </a:solidFill>
                  </a:tcPr>
                </a:tc>
                <a:tc>
                  <a:txBody>
                    <a:bodyPr/>
                    <a:lstStyle/>
                    <a:p>
                      <a:pPr algn="l"/>
                      <a:r>
                        <a:rPr sz="1200" b="0">
                          <a:solidFill>
                            <a:srgbClr val="1A202C"/>
                          </a:solidFill>
                          <a:latin typeface="Calibri"/>
                        </a:rPr>
                        <a:t>$2,350M</a:t>
                      </a:r>
                    </a:p>
                  </a:txBody>
                  <a:tcPr>
                    <a:solidFill>
                      <a:srgbClr val="F7FAFC"/>
                    </a:solidFill>
                  </a:tcPr>
                </a:tc>
                <a:tc>
                  <a:txBody>
                    <a:bodyPr/>
                    <a:lstStyle/>
                    <a:p>
                      <a:pPr algn="l"/>
                      <a:r>
                        <a:rPr sz="1200" b="0">
                          <a:solidFill>
                            <a:srgbClr val="1A202C"/>
                          </a:solidFill>
                          <a:latin typeface="Calibri"/>
                        </a:rPr>
                        <a:t>$2,530M</a:t>
                      </a:r>
                    </a:p>
                  </a:txBody>
                  <a:tcPr>
                    <a:solidFill>
                      <a:srgbClr val="F7FAFC"/>
                    </a:solidFill>
                  </a:tcPr>
                </a:tc>
              </a:tr>
              <a:tr h="457200">
                <a:tc>
                  <a:txBody>
                    <a:bodyPr/>
                    <a:lstStyle/>
                    <a:p>
                      <a:pPr algn="l"/>
                      <a:r>
                        <a:rPr sz="1200" b="0">
                          <a:solidFill>
                            <a:srgbClr val="1A202C"/>
                          </a:solidFill>
                          <a:latin typeface="Calibri"/>
                        </a:rPr>
                        <a:t>11.5%</a:t>
                      </a:r>
                    </a:p>
                  </a:txBody>
                  <a:tcPr>
                    <a:solidFill>
                      <a:srgbClr val="FFFFFF"/>
                    </a:solidFill>
                  </a:tcPr>
                </a:tc>
                <a:tc>
                  <a:txBody>
                    <a:bodyPr/>
                    <a:lstStyle/>
                    <a:p>
                      <a:pPr algn="l"/>
                      <a:r>
                        <a:rPr sz="1200" b="0">
                          <a:solidFill>
                            <a:srgbClr val="1A202C"/>
                          </a:solidFill>
                          <a:latin typeface="Calibri"/>
                        </a:rPr>
                        <a:t>$1,730M</a:t>
                      </a:r>
                    </a:p>
                  </a:txBody>
                  <a:tcPr>
                    <a:solidFill>
                      <a:srgbClr val="FFFFFF"/>
                    </a:solidFill>
                  </a:tcPr>
                </a:tc>
                <a:tc>
                  <a:txBody>
                    <a:bodyPr/>
                    <a:lstStyle/>
                    <a:p>
                      <a:pPr algn="l"/>
                      <a:r>
                        <a:rPr sz="1200" b="0">
                          <a:solidFill>
                            <a:srgbClr val="1A202C"/>
                          </a:solidFill>
                          <a:latin typeface="Calibri"/>
                        </a:rPr>
                        <a:t>$1,900M</a:t>
                      </a:r>
                    </a:p>
                  </a:txBody>
                  <a:tcPr>
                    <a:solidFill>
                      <a:srgbClr val="FFFFFF"/>
                    </a:solidFill>
                  </a:tcPr>
                </a:tc>
                <a:tc>
                  <a:txBody>
                    <a:bodyPr/>
                    <a:lstStyle/>
                    <a:p>
                      <a:pPr algn="l"/>
                      <a:r>
                        <a:rPr sz="1200" b="0">
                          <a:solidFill>
                            <a:srgbClr val="1A202C"/>
                          </a:solidFill>
                          <a:latin typeface="Calibri"/>
                        </a:rPr>
                        <a:t>$2,070M</a:t>
                      </a:r>
                    </a:p>
                  </a:txBody>
                  <a:tcPr>
                    <a:solidFill>
                      <a:srgbClr val="FFFFFF"/>
                    </a:solidFill>
                  </a:tcPr>
                </a:tc>
                <a:tc>
                  <a:txBody>
                    <a:bodyPr/>
                    <a:lstStyle/>
                    <a:p>
                      <a:pPr algn="l"/>
                      <a:r>
                        <a:rPr sz="1200" b="0">
                          <a:solidFill>
                            <a:srgbClr val="1A202C"/>
                          </a:solidFill>
                          <a:latin typeface="Calibri"/>
                        </a:rPr>
                        <a:t>$2,250M</a:t>
                      </a:r>
                    </a:p>
                  </a:txBody>
                  <a:tcPr>
                    <a:solidFill>
                      <a:srgbClr val="FFFFFF"/>
                    </a:solidFill>
                  </a:tcPr>
                </a:tc>
                <a:tc>
                  <a:txBody>
                    <a:bodyPr/>
                    <a:lstStyle/>
                    <a:p>
                      <a:pPr algn="l"/>
                      <a:r>
                        <a:rPr sz="1200" b="0">
                          <a:solidFill>
                            <a:srgbClr val="1A202C"/>
                          </a:solidFill>
                          <a:latin typeface="Calibri"/>
                        </a:rPr>
                        <a:t>$2,420M</a:t>
                      </a:r>
                    </a:p>
                  </a:txBody>
                  <a:tcPr>
                    <a:solidFill>
                      <a:srgbClr val="FFFFFF"/>
                    </a:solidFill>
                  </a:tcPr>
                </a:tc>
              </a:tr>
              <a:tr h="457200">
                <a:tc>
                  <a:txBody>
                    <a:bodyPr/>
                    <a:lstStyle/>
                    <a:p>
                      <a:pPr algn="l"/>
                      <a:r>
                        <a:rPr sz="1200" b="0">
                          <a:solidFill>
                            <a:srgbClr val="1A202C"/>
                          </a:solidFill>
                          <a:latin typeface="Calibri"/>
                        </a:rPr>
                        <a:t>12.0%</a:t>
                      </a:r>
                    </a:p>
                  </a:txBody>
                  <a:tcPr>
                    <a:solidFill>
                      <a:srgbClr val="F7FAFC"/>
                    </a:solidFill>
                  </a:tcPr>
                </a:tc>
                <a:tc>
                  <a:txBody>
                    <a:bodyPr/>
                    <a:lstStyle/>
                    <a:p>
                      <a:pPr algn="l"/>
                      <a:r>
                        <a:rPr sz="1200" b="0">
                          <a:solidFill>
                            <a:srgbClr val="1A202C"/>
                          </a:solidFill>
                          <a:latin typeface="Calibri"/>
                        </a:rPr>
                        <a:t>$1,660M</a:t>
                      </a:r>
                    </a:p>
                  </a:txBody>
                  <a:tcPr>
                    <a:solidFill>
                      <a:srgbClr val="F7FAFC"/>
                    </a:solidFill>
                  </a:tcPr>
                </a:tc>
                <a:tc>
                  <a:txBody>
                    <a:bodyPr/>
                    <a:lstStyle/>
                    <a:p>
                      <a:pPr algn="l"/>
                      <a:r>
                        <a:rPr sz="1200" b="0">
                          <a:solidFill>
                            <a:srgbClr val="1A202C"/>
                          </a:solidFill>
                          <a:latin typeface="Calibri"/>
                        </a:rPr>
                        <a:t>$1,820M</a:t>
                      </a:r>
                    </a:p>
                  </a:txBody>
                  <a:tcPr>
                    <a:solidFill>
                      <a:srgbClr val="F7FAFC"/>
                    </a:solidFill>
                  </a:tcPr>
                </a:tc>
                <a:tc>
                  <a:txBody>
                    <a:bodyPr/>
                    <a:lstStyle/>
                    <a:p>
                      <a:pPr algn="l"/>
                      <a:r>
                        <a:rPr sz="1200" b="0">
                          <a:solidFill>
                            <a:srgbClr val="1A202C"/>
                          </a:solidFill>
                          <a:latin typeface="Calibri"/>
                        </a:rPr>
                        <a:t>$1,980M</a:t>
                      </a:r>
                    </a:p>
                  </a:txBody>
                  <a:tcPr>
                    <a:solidFill>
                      <a:srgbClr val="F7FAFC"/>
                    </a:solidFill>
                  </a:tcPr>
                </a:tc>
                <a:tc>
                  <a:txBody>
                    <a:bodyPr/>
                    <a:lstStyle/>
                    <a:p>
                      <a:pPr algn="l"/>
                      <a:r>
                        <a:rPr sz="1200" b="0">
                          <a:solidFill>
                            <a:srgbClr val="1A202C"/>
                          </a:solidFill>
                          <a:latin typeface="Calibri"/>
                        </a:rPr>
                        <a:t>$2,150M</a:t>
                      </a:r>
                    </a:p>
                  </a:txBody>
                  <a:tcPr>
                    <a:solidFill>
                      <a:srgbClr val="F7FAFC"/>
                    </a:solidFill>
                  </a:tcPr>
                </a:tc>
                <a:tc>
                  <a:txBody>
                    <a:bodyPr/>
                    <a:lstStyle/>
                    <a:p>
                      <a:pPr algn="l"/>
                      <a:r>
                        <a:rPr sz="1200" b="0">
                          <a:solidFill>
                            <a:srgbClr val="1A202C"/>
                          </a:solidFill>
                          <a:latin typeface="Calibri"/>
                        </a:rPr>
                        <a:t>$2,310M</a:t>
                      </a:r>
                    </a:p>
                  </a:txBody>
                  <a:tcPr>
                    <a:solidFill>
                      <a:srgbClr val="F7FAFC"/>
                    </a:solidFill>
                  </a:tcPr>
                </a:tc>
              </a:tr>
              <a:tr h="457200">
                <a:tc>
                  <a:txBody>
                    <a:bodyPr/>
                    <a:lstStyle/>
                    <a:p>
                      <a:pPr algn="l"/>
                      <a:r>
                        <a:rPr sz="1200" b="0">
                          <a:solidFill>
                            <a:srgbClr val="1A202C"/>
                          </a:solidFill>
                          <a:latin typeface="Calibri"/>
                        </a:rPr>
                        <a:t>12.5%</a:t>
                      </a:r>
                    </a:p>
                  </a:txBody>
                  <a:tcPr>
                    <a:solidFill>
                      <a:srgbClr val="FFFFFF"/>
                    </a:solidFill>
                  </a:tcPr>
                </a:tc>
                <a:tc>
                  <a:txBody>
                    <a:bodyPr/>
                    <a:lstStyle/>
                    <a:p>
                      <a:pPr algn="l"/>
                      <a:r>
                        <a:rPr sz="1200" b="0">
                          <a:solidFill>
                            <a:srgbClr val="1A202C"/>
                          </a:solidFill>
                          <a:latin typeface="Calibri"/>
                        </a:rPr>
                        <a:t>$1,590M</a:t>
                      </a:r>
                    </a:p>
                  </a:txBody>
                  <a:tcPr>
                    <a:solidFill>
                      <a:srgbClr val="FFFFFF"/>
                    </a:solidFill>
                  </a:tcPr>
                </a:tc>
                <a:tc>
                  <a:txBody>
                    <a:bodyPr/>
                    <a:lstStyle/>
                    <a:p>
                      <a:pPr algn="l"/>
                      <a:r>
                        <a:rPr sz="1200" b="0">
                          <a:solidFill>
                            <a:srgbClr val="1A202C"/>
                          </a:solidFill>
                          <a:latin typeface="Calibri"/>
                        </a:rPr>
                        <a:t>$1,750M</a:t>
                      </a:r>
                    </a:p>
                  </a:txBody>
                  <a:tcPr>
                    <a:solidFill>
                      <a:srgbClr val="FFFFFF"/>
                    </a:solidFill>
                  </a:tcPr>
                </a:tc>
                <a:tc>
                  <a:txBody>
                    <a:bodyPr/>
                    <a:lstStyle/>
                    <a:p>
                      <a:pPr algn="l"/>
                      <a:r>
                        <a:rPr sz="1200" b="0">
                          <a:solidFill>
                            <a:srgbClr val="1A202C"/>
                          </a:solidFill>
                          <a:latin typeface="Calibri"/>
                        </a:rPr>
                        <a:t>$1,900M</a:t>
                      </a:r>
                    </a:p>
                  </a:txBody>
                  <a:tcPr>
                    <a:solidFill>
                      <a:srgbClr val="FFFFFF"/>
                    </a:solidFill>
                  </a:tcPr>
                </a:tc>
                <a:tc>
                  <a:txBody>
                    <a:bodyPr/>
                    <a:lstStyle/>
                    <a:p>
                      <a:pPr algn="l"/>
                      <a:r>
                        <a:rPr sz="1200" b="0">
                          <a:solidFill>
                            <a:srgbClr val="1A202C"/>
                          </a:solidFill>
                          <a:latin typeface="Calibri"/>
                        </a:rPr>
                        <a:t>$2,060M</a:t>
                      </a:r>
                    </a:p>
                  </a:txBody>
                  <a:tcPr>
                    <a:solidFill>
                      <a:srgbClr val="FFFFFF"/>
                    </a:solidFill>
                  </a:tcPr>
                </a:tc>
                <a:tc>
                  <a:txBody>
                    <a:bodyPr/>
                    <a:lstStyle/>
                    <a:p>
                      <a:pPr algn="l"/>
                      <a:r>
                        <a:rPr sz="1200" b="0">
                          <a:solidFill>
                            <a:srgbClr val="1A202C"/>
                          </a:solidFill>
                          <a:latin typeface="Calibri"/>
                        </a:rPr>
                        <a:t>$2,210M</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Returns Analysis: IRR &amp; MOIC Scenarios</a:t>
            </a:r>
          </a:p>
        </p:txBody>
      </p:sp>
      <p:graphicFrame>
        <p:nvGraphicFramePr>
          <p:cNvPr id="3" name="Table 2"/>
          <p:cNvGraphicFramePr>
            <a:graphicFrameLocks noGrp="1"/>
          </p:cNvGraphicFramePr>
          <p:nvPr/>
        </p:nvGraphicFramePr>
        <p:xfrm>
          <a:off x="685800" y="1371600"/>
          <a:ext cx="10789915" cy="3657600"/>
        </p:xfrm>
        <a:graphic>
          <a:graphicData uri="http://schemas.openxmlformats.org/drawingml/2006/table">
            <a:tbl>
              <a:tblPr firstRow="1" bandRow="1">
                <a:tableStyleId>{5C22544A-7EE6-4342-B048-85BDC9FD1C3A}</a:tableStyleId>
              </a:tblPr>
              <a:tblGrid>
                <a:gridCol w="928165"/>
                <a:gridCol w="1972350"/>
                <a:gridCol w="1508268"/>
                <a:gridCol w="1508268"/>
                <a:gridCol w="1392247"/>
                <a:gridCol w="1972350"/>
                <a:gridCol w="464082"/>
                <a:gridCol w="1044185"/>
              </a:tblGrid>
              <a:tr h="731520">
                <a:tc>
                  <a:txBody>
                    <a:bodyPr/>
                    <a:lstStyle/>
                    <a:p>
                      <a:r>
                        <a:rPr sz="1200" b="1">
                          <a:solidFill>
                            <a:srgbClr val="FFFFFF"/>
                          </a:solidFill>
                          <a:latin typeface="Calibri"/>
                        </a:rPr>
                        <a:t>Scenario</a:t>
                      </a:r>
                    </a:p>
                  </a:txBody>
                  <a:tcPr>
                    <a:solidFill>
                      <a:srgbClr val="0C1B33"/>
                    </a:solidFill>
                  </a:tcPr>
                </a:tc>
                <a:tc>
                  <a:txBody>
                    <a:bodyPr/>
                    <a:lstStyle/>
                    <a:p>
                      <a:r>
                        <a:rPr sz="1200" b="1">
                          <a:solidFill>
                            <a:srgbClr val="FFFFFF"/>
                          </a:solidFill>
                          <a:latin typeface="Calibri"/>
                        </a:rPr>
                        <a:t>Revenue Exit ($M)</a:t>
                      </a:r>
                    </a:p>
                  </a:txBody>
                  <a:tcPr>
                    <a:solidFill>
                      <a:srgbClr val="0C1B33"/>
                    </a:solidFill>
                  </a:tcPr>
                </a:tc>
                <a:tc>
                  <a:txBody>
                    <a:bodyPr/>
                    <a:lstStyle/>
                    <a:p>
                      <a:r>
                        <a:rPr sz="1200" b="1">
                          <a:solidFill>
                            <a:srgbClr val="FFFFFF"/>
                          </a:solidFill>
                          <a:latin typeface="Calibri"/>
                        </a:rPr>
                        <a:t>EBITDA Margin</a:t>
                      </a:r>
                    </a:p>
                  </a:txBody>
                  <a:tcPr>
                    <a:solidFill>
                      <a:srgbClr val="0C1B33"/>
                    </a:solidFill>
                  </a:tcPr>
                </a:tc>
                <a:tc>
                  <a:txBody>
                    <a:bodyPr/>
                    <a:lstStyle/>
                    <a:p>
                      <a:r>
                        <a:rPr sz="1200" b="1">
                          <a:solidFill>
                            <a:srgbClr val="FFFFFF"/>
                          </a:solidFill>
                          <a:latin typeface="Calibri"/>
                        </a:rPr>
                        <a:t>Exit Multiple</a:t>
                      </a:r>
                    </a:p>
                  </a:txBody>
                  <a:tcPr>
                    <a:solidFill>
                      <a:srgbClr val="0C1B33"/>
                    </a:solidFill>
                  </a:tcPr>
                </a:tc>
                <a:tc>
                  <a:txBody>
                    <a:bodyPr/>
                    <a:lstStyle/>
                    <a:p>
                      <a:r>
                        <a:rPr sz="1200" b="1">
                          <a:solidFill>
                            <a:srgbClr val="FFFFFF"/>
                          </a:solidFill>
                          <a:latin typeface="Calibri"/>
                        </a:rPr>
                        <a:t>Exit EV ($M)</a:t>
                      </a:r>
                    </a:p>
                  </a:txBody>
                  <a:tcPr>
                    <a:solidFill>
                      <a:srgbClr val="0C1B33"/>
                    </a:solidFill>
                  </a:tcPr>
                </a:tc>
                <a:tc>
                  <a:txBody>
                    <a:bodyPr/>
                    <a:lstStyle/>
                    <a:p>
                      <a:r>
                        <a:rPr sz="1200" b="1">
                          <a:solidFill>
                            <a:srgbClr val="FFFFFF"/>
                          </a:solidFill>
                          <a:latin typeface="Calibri"/>
                        </a:rPr>
                        <a:t>Equity Value ($M)</a:t>
                      </a:r>
                    </a:p>
                  </a:txBody>
                  <a:tcPr>
                    <a:solidFill>
                      <a:srgbClr val="0C1B33"/>
                    </a:solidFill>
                  </a:tcPr>
                </a:tc>
                <a:tc>
                  <a:txBody>
                    <a:bodyPr/>
                    <a:lstStyle/>
                    <a:p>
                      <a:r>
                        <a:rPr sz="1200" b="1">
                          <a:solidFill>
                            <a:srgbClr val="FFFFFF"/>
                          </a:solidFill>
                          <a:latin typeface="Calibri"/>
                        </a:rPr>
                        <a:t>MOIC</a:t>
                      </a:r>
                    </a:p>
                  </a:txBody>
                  <a:tcPr>
                    <a:solidFill>
                      <a:srgbClr val="0C1B33"/>
                    </a:solidFill>
                  </a:tcPr>
                </a:tc>
                <a:tc>
                  <a:txBody>
                    <a:bodyPr/>
                    <a:lstStyle/>
                    <a:p>
                      <a:r>
                        <a:rPr sz="1200" b="1">
                          <a:solidFill>
                            <a:srgbClr val="FFFFFF"/>
                          </a:solidFill>
                          <a:latin typeface="Calibri"/>
                        </a:rPr>
                        <a:t>Gross IRR</a:t>
                      </a:r>
                    </a:p>
                  </a:txBody>
                  <a:tcPr>
                    <a:solidFill>
                      <a:srgbClr val="0C1B33"/>
                    </a:solidFill>
                  </a:tcPr>
                </a:tc>
              </a:tr>
              <a:tr h="731520">
                <a:tc>
                  <a:txBody>
                    <a:bodyPr/>
                    <a:lstStyle/>
                    <a:p>
                      <a:pPr algn="l"/>
                      <a:r>
                        <a:rPr sz="1200" b="0">
                          <a:solidFill>
                            <a:srgbClr val="1A202C"/>
                          </a:solidFill>
                          <a:latin typeface="Calibri"/>
                        </a:rPr>
                        <a:t>Bear Case</a:t>
                      </a:r>
                    </a:p>
                  </a:txBody>
                  <a:tcPr>
                    <a:solidFill>
                      <a:srgbClr val="F7FAFC"/>
                    </a:solidFill>
                  </a:tcPr>
                </a:tc>
                <a:tc>
                  <a:txBody>
                    <a:bodyPr/>
                    <a:lstStyle/>
                    <a:p>
                      <a:pPr algn="r"/>
                      <a:r>
                        <a:rPr sz="1200" b="0">
                          <a:solidFill>
                            <a:srgbClr val="1A202C"/>
                          </a:solidFill>
                          <a:latin typeface="Calibri"/>
                        </a:rPr>
                        <a:t>480</a:t>
                      </a:r>
                    </a:p>
                  </a:txBody>
                  <a:tcPr>
                    <a:solidFill>
                      <a:srgbClr val="F7FAFC"/>
                    </a:solidFill>
                  </a:tcPr>
                </a:tc>
                <a:tc>
                  <a:txBody>
                    <a:bodyPr/>
                    <a:lstStyle/>
                    <a:p>
                      <a:pPr algn="r"/>
                      <a:r>
                        <a:rPr sz="1200" b="0">
                          <a:solidFill>
                            <a:srgbClr val="1A202C"/>
                          </a:solidFill>
                          <a:latin typeface="Calibri"/>
                        </a:rPr>
                        <a:t>30%</a:t>
                      </a:r>
                    </a:p>
                  </a:txBody>
                  <a:tcPr>
                    <a:solidFill>
                      <a:srgbClr val="F7FAFC"/>
                    </a:solidFill>
                  </a:tcPr>
                </a:tc>
                <a:tc>
                  <a:txBody>
                    <a:bodyPr/>
                    <a:lstStyle/>
                    <a:p>
                      <a:pPr algn="r"/>
                      <a:r>
                        <a:rPr sz="1200" b="0">
                          <a:solidFill>
                            <a:srgbClr val="1A202C"/>
                          </a:solidFill>
                          <a:latin typeface="Calibri"/>
                        </a:rPr>
                        <a:t>8.0x</a:t>
                      </a:r>
                    </a:p>
                  </a:txBody>
                  <a:tcPr>
                    <a:solidFill>
                      <a:srgbClr val="F7FAFC"/>
                    </a:solidFill>
                  </a:tcPr>
                </a:tc>
                <a:tc>
                  <a:txBody>
                    <a:bodyPr/>
                    <a:lstStyle/>
                    <a:p>
                      <a:pPr algn="r"/>
                      <a:r>
                        <a:rPr sz="1200" b="0">
                          <a:solidFill>
                            <a:srgbClr val="1A202C"/>
                          </a:solidFill>
                          <a:latin typeface="Calibri"/>
                        </a:rPr>
                        <a:t>1,152</a:t>
                      </a:r>
                    </a:p>
                  </a:txBody>
                  <a:tcPr>
                    <a:solidFill>
                      <a:srgbClr val="F7FAFC"/>
                    </a:solidFill>
                  </a:tcPr>
                </a:tc>
                <a:tc>
                  <a:txBody>
                    <a:bodyPr/>
                    <a:lstStyle/>
                    <a:p>
                      <a:pPr algn="r"/>
                      <a:r>
                        <a:rPr sz="1200" b="0">
                          <a:solidFill>
                            <a:srgbClr val="1A202C"/>
                          </a:solidFill>
                          <a:latin typeface="Calibri"/>
                        </a:rPr>
                        <a:t>552</a:t>
                      </a:r>
                    </a:p>
                  </a:txBody>
                  <a:tcPr>
                    <a:solidFill>
                      <a:srgbClr val="F7FAFC"/>
                    </a:solidFill>
                  </a:tcPr>
                </a:tc>
                <a:tc>
                  <a:txBody>
                    <a:bodyPr/>
                    <a:lstStyle/>
                    <a:p>
                      <a:pPr algn="r"/>
                      <a:r>
                        <a:rPr sz="1200" b="0">
                          <a:solidFill>
                            <a:srgbClr val="1A202C"/>
                          </a:solidFill>
                          <a:latin typeface="Calibri"/>
                        </a:rPr>
                        <a:t>1.5x</a:t>
                      </a:r>
                    </a:p>
                  </a:txBody>
                  <a:tcPr>
                    <a:solidFill>
                      <a:srgbClr val="F7FAFC"/>
                    </a:solidFill>
                  </a:tcPr>
                </a:tc>
                <a:tc>
                  <a:txBody>
                    <a:bodyPr/>
                    <a:lstStyle/>
                    <a:p>
                      <a:pPr algn="r"/>
                      <a:r>
                        <a:rPr sz="1200" b="0">
                          <a:solidFill>
                            <a:srgbClr val="1A202C"/>
                          </a:solidFill>
                          <a:latin typeface="Calibri"/>
                        </a:rPr>
                        <a:t>12%</a:t>
                      </a:r>
                    </a:p>
                  </a:txBody>
                  <a:tcPr>
                    <a:solidFill>
                      <a:srgbClr val="F7FAFC"/>
                    </a:solidFill>
                  </a:tcPr>
                </a:tc>
              </a:tr>
              <a:tr h="731520">
                <a:tc>
                  <a:txBody>
                    <a:bodyPr/>
                    <a:lstStyle/>
                    <a:p>
                      <a:pPr algn="l"/>
                      <a:r>
                        <a:rPr sz="1200" b="0">
                          <a:solidFill>
                            <a:srgbClr val="1A202C"/>
                          </a:solidFill>
                          <a:latin typeface="Calibri"/>
                        </a:rPr>
                        <a:t>Base Case</a:t>
                      </a:r>
                    </a:p>
                  </a:txBody>
                  <a:tcPr>
                    <a:solidFill>
                      <a:srgbClr val="FFFFFF"/>
                    </a:solidFill>
                  </a:tcPr>
                </a:tc>
                <a:tc>
                  <a:txBody>
                    <a:bodyPr/>
                    <a:lstStyle/>
                    <a:p>
                      <a:pPr algn="r"/>
                      <a:r>
                        <a:rPr sz="1200" b="0">
                          <a:solidFill>
                            <a:srgbClr val="1A202C"/>
                          </a:solidFill>
                          <a:latin typeface="Calibri"/>
                        </a:rPr>
                        <a:t>620</a:t>
                      </a:r>
                    </a:p>
                  </a:txBody>
                  <a:tcPr>
                    <a:solidFill>
                      <a:srgbClr val="FFFFFF"/>
                    </a:solidFill>
                  </a:tcPr>
                </a:tc>
                <a:tc>
                  <a:txBody>
                    <a:bodyPr/>
                    <a:lstStyle/>
                    <a:p>
                      <a:pPr algn="r"/>
                      <a:r>
                        <a:rPr sz="1200" b="0">
                          <a:solidFill>
                            <a:srgbClr val="1A202C"/>
                          </a:solidFill>
                          <a:latin typeface="Calibri"/>
                        </a:rPr>
                        <a:t>35%</a:t>
                      </a:r>
                    </a:p>
                  </a:txBody>
                  <a:tcPr>
                    <a:solidFill>
                      <a:srgbClr val="FFFFFF"/>
                    </a:solidFill>
                  </a:tcPr>
                </a:tc>
                <a:tc>
                  <a:txBody>
                    <a:bodyPr/>
                    <a:lstStyle/>
                    <a:p>
                      <a:pPr algn="r"/>
                      <a:r>
                        <a:rPr sz="1200" b="0">
                          <a:solidFill>
                            <a:srgbClr val="1A202C"/>
                          </a:solidFill>
                          <a:latin typeface="Calibri"/>
                        </a:rPr>
                        <a:t>10.0x</a:t>
                      </a:r>
                    </a:p>
                  </a:txBody>
                  <a:tcPr>
                    <a:solidFill>
                      <a:srgbClr val="FFFFFF"/>
                    </a:solidFill>
                  </a:tcPr>
                </a:tc>
                <a:tc>
                  <a:txBody>
                    <a:bodyPr/>
                    <a:lstStyle/>
                    <a:p>
                      <a:pPr algn="r"/>
                      <a:r>
                        <a:rPr sz="1200" b="0">
                          <a:solidFill>
                            <a:srgbClr val="1A202C"/>
                          </a:solidFill>
                          <a:latin typeface="Calibri"/>
                        </a:rPr>
                        <a:t>2,170</a:t>
                      </a:r>
                    </a:p>
                  </a:txBody>
                  <a:tcPr>
                    <a:solidFill>
                      <a:srgbClr val="FFFFFF"/>
                    </a:solidFill>
                  </a:tcPr>
                </a:tc>
                <a:tc>
                  <a:txBody>
                    <a:bodyPr/>
                    <a:lstStyle/>
                    <a:p>
                      <a:pPr algn="r"/>
                      <a:r>
                        <a:rPr sz="1200" b="0">
                          <a:solidFill>
                            <a:srgbClr val="1A202C"/>
                          </a:solidFill>
                          <a:latin typeface="Calibri"/>
                        </a:rPr>
                        <a:t>1,570</a:t>
                      </a:r>
                    </a:p>
                  </a:txBody>
                  <a:tcPr>
                    <a:solidFill>
                      <a:srgbClr val="FFFFFF"/>
                    </a:solidFill>
                  </a:tcPr>
                </a:tc>
                <a:tc>
                  <a:txBody>
                    <a:bodyPr/>
                    <a:lstStyle/>
                    <a:p>
                      <a:pPr algn="r"/>
                      <a:r>
                        <a:rPr sz="1200" b="0">
                          <a:solidFill>
                            <a:srgbClr val="1A202C"/>
                          </a:solidFill>
                          <a:latin typeface="Calibri"/>
                        </a:rPr>
                        <a:t>3.1x</a:t>
                      </a:r>
                    </a:p>
                  </a:txBody>
                  <a:tcPr>
                    <a:solidFill>
                      <a:srgbClr val="FFFFFF"/>
                    </a:solidFill>
                  </a:tcPr>
                </a:tc>
                <a:tc>
                  <a:txBody>
                    <a:bodyPr/>
                    <a:lstStyle/>
                    <a:p>
                      <a:pPr algn="r"/>
                      <a:r>
                        <a:rPr sz="1200" b="0">
                          <a:solidFill>
                            <a:srgbClr val="1A202C"/>
                          </a:solidFill>
                          <a:latin typeface="Calibri"/>
                        </a:rPr>
                        <a:t>28%</a:t>
                      </a:r>
                    </a:p>
                  </a:txBody>
                  <a:tcPr>
                    <a:solidFill>
                      <a:srgbClr val="FFFFFF"/>
                    </a:solidFill>
                  </a:tcPr>
                </a:tc>
              </a:tr>
              <a:tr h="731520">
                <a:tc>
                  <a:txBody>
                    <a:bodyPr/>
                    <a:lstStyle/>
                    <a:p>
                      <a:pPr algn="l"/>
                      <a:r>
                        <a:rPr sz="1200" b="0">
                          <a:solidFill>
                            <a:srgbClr val="1A202C"/>
                          </a:solidFill>
                          <a:latin typeface="Calibri"/>
                        </a:rPr>
                        <a:t>Bull Case</a:t>
                      </a:r>
                    </a:p>
                  </a:txBody>
                  <a:tcPr>
                    <a:solidFill>
                      <a:srgbClr val="F7FAFC"/>
                    </a:solidFill>
                  </a:tcPr>
                </a:tc>
                <a:tc>
                  <a:txBody>
                    <a:bodyPr/>
                    <a:lstStyle/>
                    <a:p>
                      <a:pPr algn="r"/>
                      <a:r>
                        <a:rPr sz="1200" b="0">
                          <a:solidFill>
                            <a:srgbClr val="1A202C"/>
                          </a:solidFill>
                          <a:latin typeface="Calibri"/>
                        </a:rPr>
                        <a:t>780</a:t>
                      </a:r>
                    </a:p>
                  </a:txBody>
                  <a:tcPr>
                    <a:solidFill>
                      <a:srgbClr val="F7FAFC"/>
                    </a:solidFill>
                  </a:tcPr>
                </a:tc>
                <a:tc>
                  <a:txBody>
                    <a:bodyPr/>
                    <a:lstStyle/>
                    <a:p>
                      <a:pPr algn="r"/>
                      <a:r>
                        <a:rPr sz="1200" b="0">
                          <a:solidFill>
                            <a:srgbClr val="1A202C"/>
                          </a:solidFill>
                          <a:latin typeface="Calibri"/>
                        </a:rPr>
                        <a:t>38%</a:t>
                      </a:r>
                    </a:p>
                  </a:txBody>
                  <a:tcPr>
                    <a:solidFill>
                      <a:srgbClr val="F7FAFC"/>
                    </a:solidFill>
                  </a:tcPr>
                </a:tc>
                <a:tc>
                  <a:txBody>
                    <a:bodyPr/>
                    <a:lstStyle/>
                    <a:p>
                      <a:pPr algn="r"/>
                      <a:r>
                        <a:rPr sz="1200" b="0">
                          <a:solidFill>
                            <a:srgbClr val="1A202C"/>
                          </a:solidFill>
                          <a:latin typeface="Calibri"/>
                        </a:rPr>
                        <a:t>12.0x</a:t>
                      </a:r>
                    </a:p>
                  </a:txBody>
                  <a:tcPr>
                    <a:solidFill>
                      <a:srgbClr val="F7FAFC"/>
                    </a:solidFill>
                  </a:tcPr>
                </a:tc>
                <a:tc>
                  <a:txBody>
                    <a:bodyPr/>
                    <a:lstStyle/>
                    <a:p>
                      <a:pPr algn="r"/>
                      <a:r>
                        <a:rPr sz="1200" b="0">
                          <a:solidFill>
                            <a:srgbClr val="1A202C"/>
                          </a:solidFill>
                          <a:latin typeface="Calibri"/>
                        </a:rPr>
                        <a:t>3,557</a:t>
                      </a:r>
                    </a:p>
                  </a:txBody>
                  <a:tcPr>
                    <a:solidFill>
                      <a:srgbClr val="F7FAFC"/>
                    </a:solidFill>
                  </a:tcPr>
                </a:tc>
                <a:tc>
                  <a:txBody>
                    <a:bodyPr/>
                    <a:lstStyle/>
                    <a:p>
                      <a:pPr algn="r"/>
                      <a:r>
                        <a:rPr sz="1200" b="0">
                          <a:solidFill>
                            <a:srgbClr val="1A202C"/>
                          </a:solidFill>
                          <a:latin typeface="Calibri"/>
                        </a:rPr>
                        <a:t>2,957</a:t>
                      </a:r>
                    </a:p>
                  </a:txBody>
                  <a:tcPr>
                    <a:solidFill>
                      <a:srgbClr val="F7FAFC"/>
                    </a:solidFill>
                  </a:tcPr>
                </a:tc>
                <a:tc>
                  <a:txBody>
                    <a:bodyPr/>
                    <a:lstStyle/>
                    <a:p>
                      <a:pPr algn="r"/>
                      <a:r>
                        <a:rPr sz="1200" b="0">
                          <a:solidFill>
                            <a:srgbClr val="1A202C"/>
                          </a:solidFill>
                          <a:latin typeface="Calibri"/>
                        </a:rPr>
                        <a:t>5.2x</a:t>
                      </a:r>
                    </a:p>
                  </a:txBody>
                  <a:tcPr>
                    <a:solidFill>
                      <a:srgbClr val="F7FAFC"/>
                    </a:solidFill>
                  </a:tcPr>
                </a:tc>
                <a:tc>
                  <a:txBody>
                    <a:bodyPr/>
                    <a:lstStyle/>
                    <a:p>
                      <a:pPr algn="r"/>
                      <a:r>
                        <a:rPr sz="1200" b="0">
                          <a:solidFill>
                            <a:srgbClr val="1A202C"/>
                          </a:solidFill>
                          <a:latin typeface="Calibri"/>
                        </a:rPr>
                        <a:t>42%</a:t>
                      </a:r>
                    </a:p>
                  </a:txBody>
                  <a:tcPr>
                    <a:solidFill>
                      <a:srgbClr val="F7FAFC"/>
                    </a:solidFill>
                  </a:tcPr>
                </a:tc>
              </a:tr>
              <a:tr h="731520">
                <a:tc>
                  <a:txBody>
                    <a:bodyPr/>
                    <a:lstStyle/>
                    <a:p>
                      <a:pPr algn="l"/>
                      <a:r>
                        <a:rPr sz="1200" b="0">
                          <a:solidFill>
                            <a:srgbClr val="1A202C"/>
                          </a:solidFill>
                          <a:latin typeface="Calibri"/>
                        </a:rPr>
                        <a:t>Home Run (Payer vertical)</a:t>
                      </a:r>
                    </a:p>
                  </a:txBody>
                  <a:tcPr>
                    <a:solidFill>
                      <a:srgbClr val="FFFFFF"/>
                    </a:solidFill>
                  </a:tcPr>
                </a:tc>
                <a:tc>
                  <a:txBody>
                    <a:bodyPr/>
                    <a:lstStyle/>
                    <a:p>
                      <a:pPr algn="r"/>
                      <a:r>
                        <a:rPr sz="1200" b="0">
                          <a:solidFill>
                            <a:srgbClr val="1A202C"/>
                          </a:solidFill>
                          <a:latin typeface="Calibri"/>
                        </a:rPr>
                        <a:t>950</a:t>
                      </a:r>
                    </a:p>
                  </a:txBody>
                  <a:tcPr>
                    <a:solidFill>
                      <a:srgbClr val="FFFFFF"/>
                    </a:solidFill>
                  </a:tcPr>
                </a:tc>
                <a:tc>
                  <a:txBody>
                    <a:bodyPr/>
                    <a:lstStyle/>
                    <a:p>
                      <a:pPr algn="r"/>
                      <a:r>
                        <a:rPr sz="1200" b="0">
                          <a:solidFill>
                            <a:srgbClr val="1A202C"/>
                          </a:solidFill>
                          <a:latin typeface="Calibri"/>
                        </a:rPr>
                        <a:t>40%</a:t>
                      </a:r>
                    </a:p>
                  </a:txBody>
                  <a:tcPr>
                    <a:solidFill>
                      <a:srgbClr val="FFFFFF"/>
                    </a:solidFill>
                  </a:tcPr>
                </a:tc>
                <a:tc>
                  <a:txBody>
                    <a:bodyPr/>
                    <a:lstStyle/>
                    <a:p>
                      <a:pPr algn="r"/>
                      <a:r>
                        <a:rPr sz="1200" b="0">
                          <a:solidFill>
                            <a:srgbClr val="1A202C"/>
                          </a:solidFill>
                          <a:latin typeface="Calibri"/>
                        </a:rPr>
                        <a:t>14.0x</a:t>
                      </a:r>
                    </a:p>
                  </a:txBody>
                  <a:tcPr>
                    <a:solidFill>
                      <a:srgbClr val="FFFFFF"/>
                    </a:solidFill>
                  </a:tcPr>
                </a:tc>
                <a:tc>
                  <a:txBody>
                    <a:bodyPr/>
                    <a:lstStyle/>
                    <a:p>
                      <a:pPr algn="r"/>
                      <a:r>
                        <a:rPr sz="1200" b="0">
                          <a:solidFill>
                            <a:srgbClr val="1A202C"/>
                          </a:solidFill>
                          <a:latin typeface="Calibri"/>
                        </a:rPr>
                        <a:t>5,320</a:t>
                      </a:r>
                    </a:p>
                  </a:txBody>
                  <a:tcPr>
                    <a:solidFill>
                      <a:srgbClr val="FFFFFF"/>
                    </a:solidFill>
                  </a:tcPr>
                </a:tc>
                <a:tc>
                  <a:txBody>
                    <a:bodyPr/>
                    <a:lstStyle/>
                    <a:p>
                      <a:pPr algn="r"/>
                      <a:r>
                        <a:rPr sz="1200" b="0">
                          <a:solidFill>
                            <a:srgbClr val="1A202C"/>
                          </a:solidFill>
                          <a:latin typeface="Calibri"/>
                        </a:rPr>
                        <a:t>4,720</a:t>
                      </a:r>
                    </a:p>
                  </a:txBody>
                  <a:tcPr>
                    <a:solidFill>
                      <a:srgbClr val="FFFFFF"/>
                    </a:solidFill>
                  </a:tcPr>
                </a:tc>
                <a:tc>
                  <a:txBody>
                    <a:bodyPr/>
                    <a:lstStyle/>
                    <a:p>
                      <a:pPr algn="r"/>
                      <a:r>
                        <a:rPr sz="1200" b="0">
                          <a:solidFill>
                            <a:srgbClr val="1A202C"/>
                          </a:solidFill>
                          <a:latin typeface="Calibri"/>
                        </a:rPr>
                        <a:t>8.4x</a:t>
                      </a:r>
                    </a:p>
                  </a:txBody>
                  <a:tcPr>
                    <a:solidFill>
                      <a:srgbClr val="FFFFFF"/>
                    </a:solidFill>
                  </a:tcPr>
                </a:tc>
                <a:tc>
                  <a:txBody>
                    <a:bodyPr/>
                    <a:lstStyle/>
                    <a:p>
                      <a:pPr algn="r"/>
                      <a:r>
                        <a:rPr sz="1200" b="0">
                          <a:solidFill>
                            <a:srgbClr val="1A202C"/>
                          </a:solidFill>
                          <a:latin typeface="Calibri"/>
                        </a:rPr>
                        <a:t>56%</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Proposed Capital Structure</a:t>
            </a:r>
          </a:p>
        </p:txBody>
      </p:sp>
      <p:graphicFrame>
        <p:nvGraphicFramePr>
          <p:cNvPr id="3" name="Table 2"/>
          <p:cNvGraphicFramePr>
            <a:graphicFrameLocks noGrp="1"/>
          </p:cNvGraphicFramePr>
          <p:nvPr/>
        </p:nvGraphicFramePr>
        <p:xfrm>
          <a:off x="685800" y="1371600"/>
          <a:ext cx="5029198" cy="3657600"/>
        </p:xfrm>
        <a:graphic>
          <a:graphicData uri="http://schemas.openxmlformats.org/drawingml/2006/table">
            <a:tbl>
              <a:tblPr firstRow="1" bandRow="1">
                <a:tableStyleId>{5C22544A-7EE6-4342-B048-85BDC9FD1C3A}</a:tableStyleId>
              </a:tblPr>
              <a:tblGrid>
                <a:gridCol w="642025"/>
                <a:gridCol w="1177046"/>
                <a:gridCol w="1070042"/>
                <a:gridCol w="1284051"/>
                <a:gridCol w="856034"/>
              </a:tblGrid>
              <a:tr h="522514">
                <a:tc>
                  <a:txBody>
                    <a:bodyPr/>
                    <a:lstStyle/>
                    <a:p>
                      <a:r>
                        <a:rPr sz="1200" b="1">
                          <a:solidFill>
                            <a:srgbClr val="FFFFFF"/>
                          </a:solidFill>
                          <a:latin typeface="Calibri"/>
                        </a:rPr>
                        <a:t>Source</a:t>
                      </a:r>
                    </a:p>
                  </a:txBody>
                  <a:tcPr>
                    <a:solidFill>
                      <a:srgbClr val="0C1B33"/>
                    </a:solidFill>
                  </a:tcPr>
                </a:tc>
                <a:tc>
                  <a:txBody>
                    <a:bodyPr/>
                    <a:lstStyle/>
                    <a:p>
                      <a:r>
                        <a:rPr sz="1200" b="1">
                          <a:solidFill>
                            <a:srgbClr val="FFFFFF"/>
                          </a:solidFill>
                          <a:latin typeface="Calibri"/>
                        </a:rPr>
                        <a:t>Amount ($M)</a:t>
                      </a:r>
                    </a:p>
                  </a:txBody>
                  <a:tcPr>
                    <a:solidFill>
                      <a:srgbClr val="0C1B33"/>
                    </a:solidFill>
                  </a:tcPr>
                </a:tc>
                <a:tc>
                  <a:txBody>
                    <a:bodyPr/>
                    <a:lstStyle/>
                    <a:p>
                      <a:r>
                        <a:rPr sz="1200" b="1">
                          <a:solidFill>
                            <a:srgbClr val="FFFFFF"/>
                          </a:solidFill>
                          <a:latin typeface="Calibri"/>
                        </a:rPr>
                        <a:t>% of Total</a:t>
                      </a:r>
                    </a:p>
                  </a:txBody>
                  <a:tcPr>
                    <a:solidFill>
                      <a:srgbClr val="0C1B33"/>
                    </a:solidFill>
                  </a:tcPr>
                </a:tc>
                <a:tc>
                  <a:txBody>
                    <a:bodyPr/>
                    <a:lstStyle/>
                    <a:p>
                      <a:r>
                        <a:rPr sz="1200" b="1">
                          <a:solidFill>
                            <a:srgbClr val="FFFFFF"/>
                          </a:solidFill>
                          <a:latin typeface="Calibri"/>
                        </a:rPr>
                        <a:t>Rate / Terms</a:t>
                      </a:r>
                    </a:p>
                  </a:txBody>
                  <a:tcPr>
                    <a:solidFill>
                      <a:srgbClr val="0C1B33"/>
                    </a:solidFill>
                  </a:tcPr>
                </a:tc>
                <a:tc>
                  <a:txBody>
                    <a:bodyPr/>
                    <a:lstStyle/>
                    <a:p>
                      <a:r>
                        <a:rPr sz="1200" b="1">
                          <a:solidFill>
                            <a:srgbClr val="FFFFFF"/>
                          </a:solidFill>
                          <a:latin typeface="Calibri"/>
                        </a:rPr>
                        <a:t>Multiple</a:t>
                      </a:r>
                    </a:p>
                  </a:txBody>
                  <a:tcPr>
                    <a:solidFill>
                      <a:srgbClr val="0C1B33"/>
                    </a:solidFill>
                  </a:tcPr>
                </a:tc>
              </a:tr>
              <a:tr h="522514">
                <a:tc>
                  <a:txBody>
                    <a:bodyPr/>
                    <a:lstStyle/>
                    <a:p>
                      <a:pPr algn="l"/>
                      <a:r>
                        <a:rPr sz="1200" b="0">
                          <a:solidFill>
                            <a:srgbClr val="1A202C"/>
                          </a:solidFill>
                          <a:latin typeface="Calibri"/>
                        </a:rPr>
                        <a:t>Senior Secured Term Loan B</a:t>
                      </a:r>
                    </a:p>
                  </a:txBody>
                  <a:tcPr>
                    <a:solidFill>
                      <a:srgbClr val="F7FAFC"/>
                    </a:solidFill>
                  </a:tcPr>
                </a:tc>
                <a:tc>
                  <a:txBody>
                    <a:bodyPr/>
                    <a:lstStyle/>
                    <a:p>
                      <a:pPr algn="r"/>
                      <a:r>
                        <a:rPr sz="1200" b="0">
                          <a:solidFill>
                            <a:srgbClr val="1A202C"/>
                          </a:solidFill>
                          <a:latin typeface="Calibri"/>
                        </a:rPr>
                        <a:t>720</a:t>
                      </a:r>
                    </a:p>
                  </a:txBody>
                  <a:tcPr>
                    <a:solidFill>
                      <a:srgbClr val="F7FAFC"/>
                    </a:solidFill>
                  </a:tcPr>
                </a:tc>
                <a:tc>
                  <a:txBody>
                    <a:bodyPr/>
                    <a:lstStyle/>
                    <a:p>
                      <a:pPr algn="r"/>
                      <a:r>
                        <a:rPr sz="1200" b="0">
                          <a:solidFill>
                            <a:srgbClr val="1A202C"/>
                          </a:solidFill>
                          <a:latin typeface="Calibri"/>
                        </a:rPr>
                        <a:t>40%</a:t>
                      </a:r>
                    </a:p>
                  </a:txBody>
                  <a:tcPr>
                    <a:solidFill>
                      <a:srgbClr val="F7FAFC"/>
                    </a:solidFill>
                  </a:tcPr>
                </a:tc>
                <a:tc>
                  <a:txBody>
                    <a:bodyPr/>
                    <a:lstStyle/>
                    <a:p>
                      <a:pPr algn="r"/>
                      <a:r>
                        <a:rPr sz="1200" b="0">
                          <a:solidFill>
                            <a:srgbClr val="1A202C"/>
                          </a:solidFill>
                          <a:latin typeface="Calibri"/>
                        </a:rPr>
                        <a:t>SOFR + 425bps, 1% floor</a:t>
                      </a:r>
                    </a:p>
                  </a:txBody>
                  <a:tcPr>
                    <a:solidFill>
                      <a:srgbClr val="F7FAFC"/>
                    </a:solidFill>
                  </a:tcPr>
                </a:tc>
                <a:tc>
                  <a:txBody>
                    <a:bodyPr/>
                    <a:lstStyle/>
                    <a:p>
                      <a:pPr algn="r"/>
                      <a:r>
                        <a:rPr sz="1200" b="0">
                          <a:solidFill>
                            <a:srgbClr val="1A202C"/>
                          </a:solidFill>
                          <a:latin typeface="Calibri"/>
                        </a:rPr>
                        <a:t>3.6x LTM EBITDA</a:t>
                      </a:r>
                    </a:p>
                  </a:txBody>
                  <a:tcPr>
                    <a:solidFill>
                      <a:srgbClr val="F7FAFC"/>
                    </a:solidFill>
                  </a:tcPr>
                </a:tc>
              </a:tr>
              <a:tr h="522514">
                <a:tc>
                  <a:txBody>
                    <a:bodyPr/>
                    <a:lstStyle/>
                    <a:p>
                      <a:pPr algn="l"/>
                      <a:r>
                        <a:rPr sz="1200" b="0">
                          <a:solidFill>
                            <a:srgbClr val="1A202C"/>
                          </a:solidFill>
                          <a:latin typeface="Calibri"/>
                        </a:rPr>
                        <a:t>Second Lien Term Loan</a:t>
                      </a:r>
                    </a:p>
                  </a:txBody>
                  <a:tcPr>
                    <a:solidFill>
                      <a:srgbClr val="FFFFFF"/>
                    </a:solidFill>
                  </a:tcPr>
                </a:tc>
                <a:tc>
                  <a:txBody>
                    <a:bodyPr/>
                    <a:lstStyle/>
                    <a:p>
                      <a:pPr algn="r"/>
                      <a:r>
                        <a:rPr sz="1200" b="0">
                          <a:solidFill>
                            <a:srgbClr val="1A202C"/>
                          </a:solidFill>
                          <a:latin typeface="Calibri"/>
                        </a:rPr>
                        <a:t>360</a:t>
                      </a:r>
                    </a:p>
                  </a:txBody>
                  <a:tcPr>
                    <a:solidFill>
                      <a:srgbClr val="FFFFFF"/>
                    </a:solidFill>
                  </a:tcPr>
                </a:tc>
                <a:tc>
                  <a:txBody>
                    <a:bodyPr/>
                    <a:lstStyle/>
                    <a:p>
                      <a:pPr algn="r"/>
                      <a:r>
                        <a:rPr sz="1200" b="0">
                          <a:solidFill>
                            <a:srgbClr val="1A202C"/>
                          </a:solidFill>
                          <a:latin typeface="Calibri"/>
                        </a:rPr>
                        <a:t>20%</a:t>
                      </a:r>
                    </a:p>
                  </a:txBody>
                  <a:tcPr>
                    <a:solidFill>
                      <a:srgbClr val="FFFFFF"/>
                    </a:solidFill>
                  </a:tcPr>
                </a:tc>
                <a:tc>
                  <a:txBody>
                    <a:bodyPr/>
                    <a:lstStyle/>
                    <a:p>
                      <a:pPr algn="r"/>
                      <a:r>
                        <a:rPr sz="1200" b="0">
                          <a:solidFill>
                            <a:srgbClr val="1A202C"/>
                          </a:solidFill>
                          <a:latin typeface="Calibri"/>
                        </a:rPr>
                        <a:t>SOFR + 750bps, 1% floor</a:t>
                      </a:r>
                    </a:p>
                  </a:txBody>
                  <a:tcPr>
                    <a:solidFill>
                      <a:srgbClr val="FFFFFF"/>
                    </a:solidFill>
                  </a:tcPr>
                </a:tc>
                <a:tc>
                  <a:txBody>
                    <a:bodyPr/>
                    <a:lstStyle/>
                    <a:p>
                      <a:pPr algn="r"/>
                      <a:r>
                        <a:rPr sz="1200" b="0">
                          <a:solidFill>
                            <a:srgbClr val="1A202C"/>
                          </a:solidFill>
                          <a:latin typeface="Calibri"/>
                        </a:rPr>
                        <a:t>1.8x LTM EBITDA</a:t>
                      </a:r>
                    </a:p>
                  </a:txBody>
                  <a:tcPr>
                    <a:solidFill>
                      <a:srgbClr val="FFFFFF"/>
                    </a:solidFill>
                  </a:tcPr>
                </a:tc>
              </a:tr>
              <a:tr h="522514">
                <a:tc>
                  <a:txBody>
                    <a:bodyPr/>
                    <a:lstStyle/>
                    <a:p>
                      <a:pPr algn="l"/>
                      <a:r>
                        <a:rPr sz="1200" b="0">
                          <a:solidFill>
                            <a:srgbClr val="1A202C"/>
                          </a:solidFill>
                          <a:latin typeface="Calibri"/>
                        </a:rPr>
                        <a:t>Mezzanine / PIK Notes</a:t>
                      </a:r>
                    </a:p>
                  </a:txBody>
                  <a:tcPr>
                    <a:solidFill>
                      <a:srgbClr val="F7FAFC"/>
                    </a:solidFill>
                  </a:tcPr>
                </a:tc>
                <a:tc>
                  <a:txBody>
                    <a:bodyPr/>
                    <a:lstStyle/>
                    <a:p>
                      <a:pPr algn="r"/>
                      <a:r>
                        <a:rPr sz="1200" b="0">
                          <a:solidFill>
                            <a:srgbClr val="1A202C"/>
                          </a:solidFill>
                          <a:latin typeface="Calibri"/>
                        </a:rPr>
                        <a:t>120</a:t>
                      </a:r>
                    </a:p>
                  </a:txBody>
                  <a:tcPr>
                    <a:solidFill>
                      <a:srgbClr val="F7FAFC"/>
                    </a:solidFill>
                  </a:tcPr>
                </a:tc>
                <a:tc>
                  <a:txBody>
                    <a:bodyPr/>
                    <a:lstStyle/>
                    <a:p>
                      <a:pPr algn="r"/>
                      <a:r>
                        <a:rPr sz="1200" b="0">
                          <a:solidFill>
                            <a:srgbClr val="1A202C"/>
                          </a:solidFill>
                          <a:latin typeface="Calibri"/>
                        </a:rPr>
                        <a:t>7%</a:t>
                      </a:r>
                    </a:p>
                  </a:txBody>
                  <a:tcPr>
                    <a:solidFill>
                      <a:srgbClr val="F7FAFC"/>
                    </a:solidFill>
                  </a:tcPr>
                </a:tc>
                <a:tc>
                  <a:txBody>
                    <a:bodyPr/>
                    <a:lstStyle/>
                    <a:p>
                      <a:pPr algn="r"/>
                      <a:r>
                        <a:rPr sz="1200" b="0">
                          <a:solidFill>
                            <a:srgbClr val="1A202C"/>
                          </a:solidFill>
                          <a:latin typeface="Calibri"/>
                        </a:rPr>
                        <a:t>12% cash + 3% PIK</a:t>
                      </a:r>
                    </a:p>
                  </a:txBody>
                  <a:tcPr>
                    <a:solidFill>
                      <a:srgbClr val="F7FAFC"/>
                    </a:solidFill>
                  </a:tcPr>
                </a:tc>
                <a:tc>
                  <a:txBody>
                    <a:bodyPr/>
                    <a:lstStyle/>
                    <a:p>
                      <a:pPr algn="r"/>
                      <a:r>
                        <a:rPr sz="1200" b="0">
                          <a:solidFill>
                            <a:srgbClr val="1A202C"/>
                          </a:solidFill>
                          <a:latin typeface="Calibri"/>
                        </a:rPr>
                        <a:t>0.6x LTM EBITDA</a:t>
                      </a:r>
                    </a:p>
                  </a:txBody>
                  <a:tcPr>
                    <a:solidFill>
                      <a:srgbClr val="F7FAFC"/>
                    </a:solidFill>
                  </a:tcPr>
                </a:tc>
              </a:tr>
              <a:tr h="522514">
                <a:tc>
                  <a:txBody>
                    <a:bodyPr/>
                    <a:lstStyle/>
                    <a:p>
                      <a:pPr algn="l"/>
                      <a:r>
                        <a:rPr sz="1200" b="0">
                          <a:solidFill>
                            <a:srgbClr val="1A202C"/>
                          </a:solidFill>
                          <a:latin typeface="Calibri"/>
                        </a:rPr>
                        <a:t>Sponsor Equity</a:t>
                      </a:r>
                    </a:p>
                  </a:txBody>
                  <a:tcPr>
                    <a:solidFill>
                      <a:srgbClr val="FFFFFF"/>
                    </a:solidFill>
                  </a:tcPr>
                </a:tc>
                <a:tc>
                  <a:txBody>
                    <a:bodyPr/>
                    <a:lstStyle/>
                    <a:p>
                      <a:pPr algn="r"/>
                      <a:r>
                        <a:rPr sz="1200" b="0">
                          <a:solidFill>
                            <a:srgbClr val="1A202C"/>
                          </a:solidFill>
                          <a:latin typeface="Calibri"/>
                        </a:rPr>
                        <a:t>540</a:t>
                      </a:r>
                    </a:p>
                  </a:txBody>
                  <a:tcPr>
                    <a:solidFill>
                      <a:srgbClr val="FFFFFF"/>
                    </a:solidFill>
                  </a:tcPr>
                </a:tc>
                <a:tc>
                  <a:txBody>
                    <a:bodyPr/>
                    <a:lstStyle/>
                    <a:p>
                      <a:pPr algn="r"/>
                      <a:r>
                        <a:rPr sz="1200" b="0">
                          <a:solidFill>
                            <a:srgbClr val="1A202C"/>
                          </a:solidFill>
                          <a:latin typeface="Calibri"/>
                        </a:rPr>
                        <a:t>30%</a:t>
                      </a:r>
                    </a:p>
                  </a:txBody>
                  <a:tcPr>
                    <a:solidFill>
                      <a:srgbClr val="FFFFFF"/>
                    </a:solidFill>
                  </a:tcPr>
                </a:tc>
                <a:tc>
                  <a:txBody>
                    <a:bodyPr/>
                    <a:lstStyle/>
                    <a:p>
                      <a:pPr algn="r"/>
                      <a:r>
                        <a:rPr sz="1200" b="0">
                          <a:solidFill>
                            <a:srgbClr val="1A202C"/>
                          </a:solidFill>
                          <a:latin typeface="Calibri"/>
                        </a:rPr>
                        <a:t>-</a:t>
                      </a:r>
                    </a:p>
                  </a:txBody>
                  <a:tcPr>
                    <a:solidFill>
                      <a:srgbClr val="FFFFFF"/>
                    </a:solidFill>
                  </a:tcPr>
                </a:tc>
                <a:tc>
                  <a:txBody>
                    <a:bodyPr/>
                    <a:lstStyle/>
                    <a:p>
                      <a:pPr algn="r"/>
                      <a:r>
                        <a:rPr sz="1200" b="0">
                          <a:solidFill>
                            <a:srgbClr val="1A202C"/>
                          </a:solidFill>
                          <a:latin typeface="Calibri"/>
                        </a:rPr>
                        <a:t>-</a:t>
                      </a:r>
                    </a:p>
                  </a:txBody>
                  <a:tcPr>
                    <a:solidFill>
                      <a:srgbClr val="FFFFFF"/>
                    </a:solidFill>
                  </a:tcPr>
                </a:tc>
              </a:tr>
              <a:tr h="522514">
                <a:tc>
                  <a:txBody>
                    <a:bodyPr/>
                    <a:lstStyle/>
                    <a:p>
                      <a:pPr algn="l"/>
                      <a:r>
                        <a:rPr sz="1200" b="0">
                          <a:solidFill>
                            <a:srgbClr val="1A202C"/>
                          </a:solidFill>
                          <a:latin typeface="Calibri"/>
                        </a:rPr>
                        <a:t>Management Rollover</a:t>
                      </a:r>
                    </a:p>
                  </a:txBody>
                  <a:tcPr>
                    <a:solidFill>
                      <a:srgbClr val="F7FAFC"/>
                    </a:solidFill>
                  </a:tcPr>
                </a:tc>
                <a:tc>
                  <a:txBody>
                    <a:bodyPr/>
                    <a:lstStyle/>
                    <a:p>
                      <a:pPr algn="r"/>
                      <a:r>
                        <a:rPr sz="1200" b="0">
                          <a:solidFill>
                            <a:srgbClr val="1A202C"/>
                          </a:solidFill>
                          <a:latin typeface="Calibri"/>
                        </a:rPr>
                        <a:t>60</a:t>
                      </a:r>
                    </a:p>
                  </a:txBody>
                  <a:tcPr>
                    <a:solidFill>
                      <a:srgbClr val="F7FAFC"/>
                    </a:solidFill>
                  </a:tcPr>
                </a:tc>
                <a:tc>
                  <a:txBody>
                    <a:bodyPr/>
                    <a:lstStyle/>
                    <a:p>
                      <a:pPr algn="r"/>
                      <a:r>
                        <a:rPr sz="1200" b="0">
                          <a:solidFill>
                            <a:srgbClr val="1A202C"/>
                          </a:solidFill>
                          <a:latin typeface="Calibri"/>
                        </a:rPr>
                        <a:t>3%</a:t>
                      </a:r>
                    </a:p>
                  </a:txBody>
                  <a:tcPr>
                    <a:solidFill>
                      <a:srgbClr val="F7FAFC"/>
                    </a:solidFill>
                  </a:tcPr>
                </a:tc>
                <a:tc>
                  <a:txBody>
                    <a:bodyPr/>
                    <a:lstStyle/>
                    <a:p>
                      <a:pPr algn="r"/>
                      <a:r>
                        <a:rPr sz="1200" b="0">
                          <a:solidFill>
                            <a:srgbClr val="1A202C"/>
                          </a:solidFill>
                          <a:latin typeface="Calibri"/>
                        </a:rPr>
                        <a:t>-</a:t>
                      </a:r>
                    </a:p>
                  </a:txBody>
                  <a:tcPr>
                    <a:solidFill>
                      <a:srgbClr val="F7FAFC"/>
                    </a:solidFill>
                  </a:tcPr>
                </a:tc>
                <a:tc>
                  <a:txBody>
                    <a:bodyPr/>
                    <a:lstStyle/>
                    <a:p>
                      <a:pPr algn="r"/>
                      <a:r>
                        <a:rPr sz="1200" b="0">
                          <a:solidFill>
                            <a:srgbClr val="1A202C"/>
                          </a:solidFill>
                          <a:latin typeface="Calibri"/>
                        </a:rPr>
                        <a:t>-</a:t>
                      </a:r>
                    </a:p>
                  </a:txBody>
                  <a:tcPr>
                    <a:solidFill>
                      <a:srgbClr val="F7FAFC"/>
                    </a:solidFill>
                  </a:tcPr>
                </a:tc>
              </a:tr>
              <a:tr h="522516">
                <a:tc>
                  <a:txBody>
                    <a:bodyPr/>
                    <a:lstStyle/>
                    <a:p>
                      <a:pPr algn="l"/>
                      <a:r>
                        <a:rPr sz="1200" b="0">
                          <a:solidFill>
                            <a:srgbClr val="1A202C"/>
                          </a:solidFill>
                          <a:latin typeface="Calibri"/>
                        </a:rPr>
                        <a:t>Total Sources</a:t>
                      </a:r>
                    </a:p>
                  </a:txBody>
                  <a:tcPr>
                    <a:solidFill>
                      <a:srgbClr val="FFFFFF"/>
                    </a:solidFill>
                  </a:tcPr>
                </a:tc>
                <a:tc>
                  <a:txBody>
                    <a:bodyPr/>
                    <a:lstStyle/>
                    <a:p>
                      <a:pPr algn="r"/>
                      <a:r>
                        <a:rPr sz="1200" b="0">
                          <a:solidFill>
                            <a:srgbClr val="1A202C"/>
                          </a:solidFill>
                          <a:latin typeface="Calibri"/>
                        </a:rPr>
                        <a:t>1,800</a:t>
                      </a:r>
                    </a:p>
                  </a:txBody>
                  <a:tcPr>
                    <a:solidFill>
                      <a:srgbClr val="FFFFFF"/>
                    </a:solidFill>
                  </a:tcPr>
                </a:tc>
                <a:tc>
                  <a:txBody>
                    <a:bodyPr/>
                    <a:lstStyle/>
                    <a:p>
                      <a:pPr algn="r"/>
                      <a:r>
                        <a:rPr sz="1200" b="0">
                          <a:solidFill>
                            <a:srgbClr val="1A202C"/>
                          </a:solidFill>
                          <a:latin typeface="Calibri"/>
                        </a:rPr>
                        <a:t>100%</a:t>
                      </a:r>
                    </a:p>
                  </a:txBody>
                  <a:tcPr>
                    <a:solidFill>
                      <a:srgbClr val="FFFFFF"/>
                    </a:solidFill>
                  </a:tcPr>
                </a:tc>
                <a:tc>
                  <a:txBody>
                    <a:bodyPr/>
                    <a:lstStyle/>
                    <a:p>
                      <a:pPr algn="r"/>
                      <a:r>
                        <a:rPr sz="1200" b="0">
                          <a:solidFill>
                            <a:srgbClr val="1A202C"/>
                          </a:solidFill>
                          <a:latin typeface="Calibri"/>
                        </a:rPr>
                        <a:t>-</a:t>
                      </a:r>
                    </a:p>
                  </a:txBody>
                  <a:tcPr>
                    <a:solidFill>
                      <a:srgbClr val="FFFFFF"/>
                    </a:solidFill>
                  </a:tcPr>
                </a:tc>
                <a:tc>
                  <a:txBody>
                    <a:bodyPr/>
                    <a:lstStyle/>
                    <a:p>
                      <a:pPr algn="r"/>
                      <a:r>
                        <a:rPr sz="1200" b="0">
                          <a:solidFill>
                            <a:srgbClr val="1A202C"/>
                          </a:solidFill>
                          <a:latin typeface="Calibri"/>
                        </a:rPr>
                        <a:t>6.0x Total Leverage</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Risk Assessment Matrix</a:t>
            </a:r>
          </a:p>
        </p:txBody>
      </p:sp>
      <p:graphicFrame>
        <p:nvGraphicFramePr>
          <p:cNvPr id="3" name="Table 2"/>
          <p:cNvGraphicFramePr>
            <a:graphicFrameLocks noGrp="1"/>
          </p:cNvGraphicFramePr>
          <p:nvPr/>
        </p:nvGraphicFramePr>
        <p:xfrm>
          <a:off x="685800" y="1371600"/>
          <a:ext cx="10789920" cy="4572000"/>
        </p:xfrm>
        <a:graphic>
          <a:graphicData uri="http://schemas.openxmlformats.org/drawingml/2006/table">
            <a:tbl>
              <a:tblPr firstRow="1" bandRow="1">
                <a:tableStyleId>{5C22544A-7EE6-4342-B048-85BDC9FD1C3A}</a:tableStyleId>
              </a:tblPr>
              <a:tblGrid>
                <a:gridCol w="1798320"/>
                <a:gridCol w="2397760"/>
                <a:gridCol w="899160"/>
                <a:gridCol w="1798320"/>
                <a:gridCol w="1198880"/>
                <a:gridCol w="2697480"/>
              </a:tblGrid>
              <a:tr h="762000">
                <a:tc>
                  <a:txBody>
                    <a:bodyPr/>
                    <a:lstStyle/>
                    <a:p>
                      <a:r>
                        <a:rPr sz="1200" b="1">
                          <a:solidFill>
                            <a:srgbClr val="FFFFFF"/>
                          </a:solidFill>
                          <a:latin typeface="Calibri"/>
                        </a:rPr>
                        <a:t>Impact</a:t>
                      </a:r>
                    </a:p>
                  </a:txBody>
                  <a:tcPr>
                    <a:solidFill>
                      <a:srgbClr val="0C1B33"/>
                    </a:solidFill>
                  </a:tcPr>
                </a:tc>
                <a:tc>
                  <a:txBody>
                    <a:bodyPr/>
                    <a:lstStyle/>
                    <a:p>
                      <a:r>
                        <a:rPr sz="1200" b="1">
                          <a:solidFill>
                            <a:srgbClr val="FFFFFF"/>
                          </a:solidFill>
                          <a:latin typeface="Calibri"/>
                        </a:rPr>
                        <a:t>Very Low</a:t>
                      </a:r>
                    </a:p>
                  </a:txBody>
                  <a:tcPr>
                    <a:solidFill>
                      <a:srgbClr val="0C1B33"/>
                    </a:solidFill>
                  </a:tcPr>
                </a:tc>
                <a:tc>
                  <a:txBody>
                    <a:bodyPr/>
                    <a:lstStyle/>
                    <a:p>
                      <a:r>
                        <a:rPr sz="1200" b="1">
                          <a:solidFill>
                            <a:srgbClr val="FFFFFF"/>
                          </a:solidFill>
                          <a:latin typeface="Calibri"/>
                        </a:rPr>
                        <a:t>Low</a:t>
                      </a:r>
                    </a:p>
                  </a:txBody>
                  <a:tcPr>
                    <a:solidFill>
                      <a:srgbClr val="0C1B33"/>
                    </a:solidFill>
                  </a:tcPr>
                </a:tc>
                <a:tc>
                  <a:txBody>
                    <a:bodyPr/>
                    <a:lstStyle/>
                    <a:p>
                      <a:r>
                        <a:rPr sz="1200" b="1">
                          <a:solidFill>
                            <a:srgbClr val="FFFFFF"/>
                          </a:solidFill>
                          <a:latin typeface="Calibri"/>
                        </a:rPr>
                        <a:t>Medium</a:t>
                      </a:r>
                    </a:p>
                  </a:txBody>
                  <a:tcPr>
                    <a:solidFill>
                      <a:srgbClr val="0C1B33"/>
                    </a:solidFill>
                  </a:tcPr>
                </a:tc>
                <a:tc>
                  <a:txBody>
                    <a:bodyPr/>
                    <a:lstStyle/>
                    <a:p>
                      <a:r>
                        <a:rPr sz="1200" b="1">
                          <a:solidFill>
                            <a:srgbClr val="FFFFFF"/>
                          </a:solidFill>
                          <a:latin typeface="Calibri"/>
                        </a:rPr>
                        <a:t>High</a:t>
                      </a:r>
                    </a:p>
                  </a:txBody>
                  <a:tcPr>
                    <a:solidFill>
                      <a:srgbClr val="0C1B33"/>
                    </a:solidFill>
                  </a:tcPr>
                </a:tc>
                <a:tc>
                  <a:txBody>
                    <a:bodyPr/>
                    <a:lstStyle/>
                    <a:p>
                      <a:r>
                        <a:rPr sz="1200" b="1">
                          <a:solidFill>
                            <a:srgbClr val="FFFFFF"/>
                          </a:solidFill>
                          <a:latin typeface="Calibri"/>
                        </a:rPr>
                        <a:t>Very High</a:t>
                      </a:r>
                    </a:p>
                  </a:txBody>
                  <a:tcPr>
                    <a:solidFill>
                      <a:srgbClr val="0C1B33"/>
                    </a:solidFill>
                  </a:tcPr>
                </a:tc>
              </a:tr>
              <a:tr h="762000">
                <a:tc>
                  <a:txBody>
                    <a:bodyPr/>
                    <a:lstStyle/>
                    <a:p>
                      <a:pPr algn="l"/>
                      <a:r>
                        <a:rPr sz="1200" b="0">
                          <a:solidFill>
                            <a:srgbClr val="1A202C"/>
                          </a:solidFill>
                          <a:latin typeface="Calibri"/>
                        </a:rPr>
                        <a:t>Very High</a:t>
                      </a:r>
                    </a:p>
                  </a:txBody>
                  <a:tcPr>
                    <a:solidFill>
                      <a:srgbClr val="F7FAFC"/>
                    </a:solidFill>
                  </a:tcPr>
                </a:tc>
                <a:tc>
                  <a:txBody>
                    <a:bodyPr/>
                    <a:lstStyle/>
                    <a:p>
                      <a:pPr algn="l"/>
                    </a:p>
                  </a:txBody>
                  <a:tcPr>
                    <a:solidFill>
                      <a:srgbClr val="694E36"/>
                    </a:solidFill>
                  </a:tcPr>
                </a:tc>
                <a:tc>
                  <a:txBody>
                    <a:bodyPr/>
                    <a:lstStyle/>
                    <a:p>
                      <a:pPr algn="l"/>
                      <a:r>
                        <a:rPr sz="1200" b="0">
                          <a:solidFill>
                            <a:srgbClr val="1A202C"/>
                          </a:solidFill>
                          <a:latin typeface="Calibri"/>
                        </a:rPr>
                        <a:t>Regulatory change (CMS reimbursement cuts)</a:t>
                      </a:r>
                    </a:p>
                  </a:txBody>
                  <a:tcPr>
                    <a:solidFill>
                      <a:srgbClr val="525538"/>
                    </a:solidFill>
                  </a:tcPr>
                </a:tc>
                <a:tc>
                  <a:txBody>
                    <a:bodyPr/>
                    <a:lstStyle/>
                    <a:p>
                      <a:pPr algn="l"/>
                    </a:p>
                  </a:txBody>
                  <a:tcPr>
                    <a:solidFill>
                      <a:srgbClr val="3B5C3A"/>
                    </a:solidFill>
                  </a:tcPr>
                </a:tc>
                <a:tc>
                  <a:txBody>
                    <a:bodyPr/>
                    <a:lstStyle/>
                    <a:p>
                      <a:pPr algn="l"/>
                    </a:p>
                  </a:txBody>
                  <a:tcPr>
                    <a:solidFill>
                      <a:srgbClr val="24643B"/>
                    </a:solidFill>
                  </a:tcPr>
                </a:tc>
                <a:tc>
                  <a:txBody>
                    <a:bodyPr/>
                    <a:lstStyle/>
                    <a:p>
                      <a:pPr algn="l"/>
                    </a:p>
                  </a:txBody>
                  <a:tcPr>
                    <a:solidFill>
                      <a:srgbClr val="0D6B3D"/>
                    </a:solidFill>
                  </a:tcPr>
                </a:tc>
              </a:tr>
              <a:tr h="762000">
                <a:tc>
                  <a:txBody>
                    <a:bodyPr/>
                    <a:lstStyle/>
                    <a:p>
                      <a:pPr algn="l"/>
                      <a:r>
                        <a:rPr sz="1200" b="0">
                          <a:solidFill>
                            <a:srgbClr val="1A202C"/>
                          </a:solidFill>
                          <a:latin typeface="Calibri"/>
                        </a:rPr>
                        <a:t>High</a:t>
                      </a:r>
                    </a:p>
                  </a:txBody>
                  <a:tcPr>
                    <a:solidFill>
                      <a:srgbClr val="FFFFFF"/>
                    </a:solidFill>
                  </a:tcPr>
                </a:tc>
                <a:tc>
                  <a:txBody>
                    <a:bodyPr/>
                    <a:lstStyle/>
                    <a:p>
                      <a:pPr algn="l"/>
                    </a:p>
                  </a:txBody>
                  <a:tcPr>
                    <a:solidFill>
                      <a:srgbClr val="804635"/>
                    </a:solidFill>
                  </a:tcPr>
                </a:tc>
                <a:tc>
                  <a:txBody>
                    <a:bodyPr/>
                    <a:lstStyle/>
                    <a:p>
                      <a:pPr algn="l"/>
                    </a:p>
                  </a:txBody>
                  <a:tcPr>
                    <a:solidFill>
                      <a:srgbClr val="694E36"/>
                    </a:solidFill>
                  </a:tcPr>
                </a:tc>
                <a:tc>
                  <a:txBody>
                    <a:bodyPr/>
                    <a:lstStyle/>
                    <a:p>
                      <a:pPr algn="l"/>
                      <a:r>
                        <a:rPr sz="1200" b="0">
                          <a:solidFill>
                            <a:srgbClr val="1A202C"/>
                          </a:solidFill>
                          <a:latin typeface="Calibri"/>
                        </a:rPr>
                        <a:t>Customer concentration (top 10 = 28% ARR)</a:t>
                      </a:r>
                    </a:p>
                    <a:p>
                      <a:pPr algn="l"/>
                      <a:r>
                        <a:rPr sz="1200" b="0">
                          <a:solidFill>
                            <a:srgbClr val="1A202C"/>
                          </a:solidFill>
                          <a:latin typeface="Calibri"/>
                        </a:rPr>
                        <a:t>Key person risk (CTO/founder)</a:t>
                      </a:r>
                    </a:p>
                  </a:txBody>
                  <a:tcPr>
                    <a:solidFill>
                      <a:srgbClr val="525538"/>
                    </a:solidFill>
                  </a:tcPr>
                </a:tc>
                <a:tc>
                  <a:txBody>
                    <a:bodyPr/>
                    <a:lstStyle/>
                    <a:p>
                      <a:pPr algn="l"/>
                    </a:p>
                  </a:txBody>
                  <a:tcPr>
                    <a:solidFill>
                      <a:srgbClr val="3B5C3A"/>
                    </a:solidFill>
                  </a:tcPr>
                </a:tc>
                <a:tc>
                  <a:txBody>
                    <a:bodyPr/>
                    <a:lstStyle/>
                    <a:p>
                      <a:pPr algn="l"/>
                    </a:p>
                  </a:txBody>
                  <a:tcPr>
                    <a:solidFill>
                      <a:srgbClr val="24643B"/>
                    </a:solidFill>
                  </a:tcPr>
                </a:tc>
              </a:tr>
              <a:tr h="762000">
                <a:tc>
                  <a:txBody>
                    <a:bodyPr/>
                    <a:lstStyle/>
                    <a:p>
                      <a:pPr algn="l"/>
                      <a:r>
                        <a:rPr sz="1200" b="0">
                          <a:solidFill>
                            <a:srgbClr val="1A202C"/>
                          </a:solidFill>
                          <a:latin typeface="Calibri"/>
                        </a:rPr>
                        <a:t>Medium</a:t>
                      </a:r>
                    </a:p>
                  </a:txBody>
                  <a:tcPr>
                    <a:solidFill>
                      <a:srgbClr val="F7FAFC"/>
                    </a:solidFill>
                  </a:tcPr>
                </a:tc>
                <a:tc>
                  <a:txBody>
                    <a:bodyPr/>
                    <a:lstStyle/>
                    <a:p>
                      <a:pPr algn="l"/>
                    </a:p>
                  </a:txBody>
                  <a:tcPr>
                    <a:solidFill>
                      <a:srgbClr val="973F33"/>
                    </a:solidFill>
                  </a:tcPr>
                </a:tc>
                <a:tc>
                  <a:txBody>
                    <a:bodyPr/>
                    <a:lstStyle/>
                    <a:p>
                      <a:pPr algn="l"/>
                      <a:r>
                        <a:rPr sz="1200" b="0">
                          <a:solidFill>
                            <a:srgbClr val="1A202C"/>
                          </a:solidFill>
                          <a:latin typeface="Calibri"/>
                        </a:rPr>
                        <a:t>Macro / recession reduces health IT spend</a:t>
                      </a:r>
                    </a:p>
                  </a:txBody>
                  <a:tcPr>
                    <a:solidFill>
                      <a:srgbClr val="804635"/>
                    </a:solidFill>
                  </a:tcPr>
                </a:tc>
                <a:tc>
                  <a:txBody>
                    <a:bodyPr/>
                    <a:lstStyle/>
                    <a:p>
                      <a:pPr algn="l"/>
                      <a:r>
                        <a:rPr sz="1200" b="0">
                          <a:solidFill>
                            <a:srgbClr val="1A202C"/>
                          </a:solidFill>
                          <a:latin typeface="Calibri"/>
                        </a:rPr>
                        <a:t>Competition from Epic/Oracle bundling</a:t>
                      </a:r>
                    </a:p>
                  </a:txBody>
                  <a:tcPr>
                    <a:solidFill>
                      <a:srgbClr val="694E36"/>
                    </a:solidFill>
                  </a:tcPr>
                </a:tc>
                <a:tc>
                  <a:txBody>
                    <a:bodyPr/>
                    <a:lstStyle/>
                    <a:p>
                      <a:pPr algn="l"/>
                      <a:r>
                        <a:rPr sz="1200" b="0">
                          <a:solidFill>
                            <a:srgbClr val="1A202C"/>
                          </a:solidFill>
                          <a:latin typeface="Calibri"/>
                        </a:rPr>
                        <a:t>Cloud migration execution risk</a:t>
                      </a:r>
                    </a:p>
                  </a:txBody>
                  <a:tcPr>
                    <a:solidFill>
                      <a:srgbClr val="525538"/>
                    </a:solidFill>
                  </a:tcPr>
                </a:tc>
                <a:tc>
                  <a:txBody>
                    <a:bodyPr/>
                    <a:lstStyle/>
                    <a:p>
                      <a:pPr algn="l"/>
                    </a:p>
                  </a:txBody>
                  <a:tcPr>
                    <a:solidFill>
                      <a:srgbClr val="3B5C3A"/>
                    </a:solidFill>
                  </a:tcPr>
                </a:tc>
              </a:tr>
              <a:tr h="762000">
                <a:tc>
                  <a:txBody>
                    <a:bodyPr/>
                    <a:lstStyle/>
                    <a:p>
                      <a:pPr algn="l"/>
                      <a:r>
                        <a:rPr sz="1200" b="0">
                          <a:solidFill>
                            <a:srgbClr val="1A202C"/>
                          </a:solidFill>
                          <a:latin typeface="Calibri"/>
                        </a:rPr>
                        <a:t>Low</a:t>
                      </a:r>
                    </a:p>
                  </a:txBody>
                  <a:tcPr>
                    <a:solidFill>
                      <a:srgbClr val="FFFFFF"/>
                    </a:solidFill>
                  </a:tcPr>
                </a:tc>
                <a:tc>
                  <a:txBody>
                    <a:bodyPr/>
                    <a:lstStyle/>
                    <a:p>
                      <a:pPr algn="l"/>
                    </a:p>
                  </a:txBody>
                  <a:tcPr>
                    <a:solidFill>
                      <a:srgbClr val="AE3732"/>
                    </a:solidFill>
                  </a:tcPr>
                </a:tc>
                <a:tc>
                  <a:txBody>
                    <a:bodyPr/>
                    <a:lstStyle/>
                    <a:p>
                      <a:pPr algn="l"/>
                    </a:p>
                  </a:txBody>
                  <a:tcPr>
                    <a:solidFill>
                      <a:srgbClr val="973F33"/>
                    </a:solidFill>
                  </a:tcPr>
                </a:tc>
                <a:tc>
                  <a:txBody>
                    <a:bodyPr/>
                    <a:lstStyle/>
                    <a:p>
                      <a:pPr algn="l"/>
                    </a:p>
                  </a:txBody>
                  <a:tcPr>
                    <a:solidFill>
                      <a:srgbClr val="804635"/>
                    </a:solidFill>
                  </a:tcPr>
                </a:tc>
                <a:tc>
                  <a:txBody>
                    <a:bodyPr/>
                    <a:lstStyle/>
                    <a:p>
                      <a:pPr algn="l"/>
                    </a:p>
                  </a:txBody>
                  <a:tcPr>
                    <a:solidFill>
                      <a:srgbClr val="694E36"/>
                    </a:solidFill>
                  </a:tcPr>
                </a:tc>
                <a:tc>
                  <a:txBody>
                    <a:bodyPr/>
                    <a:lstStyle/>
                    <a:p>
                      <a:pPr algn="l"/>
                    </a:p>
                  </a:txBody>
                  <a:tcPr>
                    <a:solidFill>
                      <a:srgbClr val="525538"/>
                    </a:solidFill>
                  </a:tcPr>
                </a:tc>
              </a:tr>
              <a:tr h="762000">
                <a:tc>
                  <a:txBody>
                    <a:bodyPr/>
                    <a:lstStyle/>
                    <a:p>
                      <a:pPr algn="l"/>
                      <a:r>
                        <a:rPr sz="1200" b="0">
                          <a:solidFill>
                            <a:srgbClr val="1A202C"/>
                          </a:solidFill>
                          <a:latin typeface="Calibri"/>
                        </a:rPr>
                        <a:t>Very Low</a:t>
                      </a:r>
                    </a:p>
                  </a:txBody>
                  <a:tcPr>
                    <a:solidFill>
                      <a:srgbClr val="F7FAFC"/>
                    </a:solidFill>
                  </a:tcPr>
                </a:tc>
                <a:tc>
                  <a:txBody>
                    <a:bodyPr/>
                    <a:lstStyle/>
                    <a:p>
                      <a:pPr algn="l"/>
                    </a:p>
                  </a:txBody>
                  <a:tcPr>
                    <a:solidFill>
                      <a:srgbClr val="C53030"/>
                    </a:solidFill>
                  </a:tcPr>
                </a:tc>
                <a:tc>
                  <a:txBody>
                    <a:bodyPr/>
                    <a:lstStyle/>
                    <a:p>
                      <a:pPr algn="l"/>
                    </a:p>
                  </a:txBody>
                  <a:tcPr>
                    <a:solidFill>
                      <a:srgbClr val="AE3732"/>
                    </a:solidFill>
                  </a:tcPr>
                </a:tc>
                <a:tc>
                  <a:txBody>
                    <a:bodyPr/>
                    <a:lstStyle/>
                    <a:p>
                      <a:pPr algn="l"/>
                    </a:p>
                  </a:txBody>
                  <a:tcPr>
                    <a:solidFill>
                      <a:srgbClr val="973F33"/>
                    </a:solidFill>
                  </a:tcPr>
                </a:tc>
                <a:tc>
                  <a:txBody>
                    <a:bodyPr/>
                    <a:lstStyle/>
                    <a:p>
                      <a:pPr algn="l"/>
                    </a:p>
                  </a:txBody>
                  <a:tcPr>
                    <a:solidFill>
                      <a:srgbClr val="804635"/>
                    </a:solidFill>
                  </a:tcPr>
                </a:tc>
                <a:tc>
                  <a:txBody>
                    <a:bodyPr/>
                    <a:lstStyle/>
                    <a:p>
                      <a:pPr algn="l"/>
                    </a:p>
                  </a:txBody>
                  <a:tcPr>
                    <a:solidFill>
                      <a:srgbClr val="694E36"/>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789920" cy="731520"/>
          </a:xfrm>
          <a:prstGeom prst="rect">
            <a:avLst/>
          </a:prstGeom>
          <a:noFill/>
        </p:spPr>
        <p:txBody>
          <a:bodyPr wrap="square">
            <a:spAutoFit/>
          </a:bodyPr>
          <a:lstStyle/>
          <a:p>
            <a:pPr algn="l"/>
            <a:r>
              <a:rPr sz="3200" b="1">
                <a:solidFill>
                  <a:srgbClr val="1A202C"/>
                </a:solidFill>
                <a:latin typeface="Arial"/>
              </a:rPr>
              <a:t>Healthcare IT Market Landscape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B33"/>
        </a:solidFill>
        <a:effectLst/>
      </p:bgPr>
    </p:bg>
    <p:spTree>
      <p:nvGrpSpPr>
        <p:cNvPr id="1" name=""/>
        <p:cNvGrpSpPr/>
        <p:nvPr/>
      </p:nvGrpSpPr>
      <p:grpSpPr/>
      <p:sp>
        <p:nvSpPr>
          <p:cNvPr id="2" name="TextBox 1"/>
          <p:cNvSpPr txBox="1"/>
          <p:nvPr/>
        </p:nvSpPr>
        <p:spPr>
          <a:xfrm>
            <a:off x="548640" y="365760"/>
            <a:ext cx="11094415" cy="493395"/>
          </a:xfrm>
          <a:prstGeom prst="rect">
            <a:avLst/>
          </a:prstGeom>
          <a:noFill/>
        </p:spPr>
        <p:txBody>
          <a:bodyPr wrap="square">
            <a:spAutoFit/>
          </a:bodyPr>
          <a:lstStyle/>
          <a:p>
            <a:r>
              <a:rPr sz="4000" b="1">
                <a:solidFill>
                  <a:srgbClr val="1A202C"/>
                </a:solidFill>
                <a:latin typeface="Arial"/>
              </a:rPr>
              <a:t>IC Recommendation: Approve Project Nimbus</a:t>
            </a:r>
          </a:p>
        </p:txBody>
      </p:sp>
      <p:sp>
        <p:nvSpPr>
          <p:cNvPr id="3" name="TextBox 2"/>
          <p:cNvSpPr txBox="1"/>
          <p:nvPr/>
        </p:nvSpPr>
        <p:spPr>
          <a:xfrm>
            <a:off x="548640" y="996315"/>
            <a:ext cx="11094415" cy="1480185"/>
          </a:xfrm>
          <a:prstGeom prst="rect">
            <a:avLst/>
          </a:prstGeom>
          <a:noFill/>
        </p:spPr>
        <p:txBody>
          <a:bodyPr wrap="square">
            <a:spAutoFit/>
          </a:bodyPr>
          <a:lstStyle/>
          <a:p>
            <a:r>
              <a:rPr sz="1600" b="0">
                <a:solidFill>
                  <a:srgbClr val="1A202C"/>
                </a:solidFill>
                <a:latin typeface="Calibri"/>
              </a:rPr>
              <a:t>Requesting approval for a $600M equity commitment from Fund VII to acquire CloudMetrics at $1.8B enterprise value (8.3x NTM revenue). Base case: 3.1x MOIC / 28% IRR over 5 years. Exclusivity expires April 15, 2026.</a:t>
            </a:r>
            <a:br/>
            <a:br/>
            <a:r>
              <a:t>Next Steps: (1) Approve equity commitment, (2) Engage Quality of Earnings firm, (3) Finalize debt commitment letters, (4) Execute management presentations.</a:t>
            </a:r>
            <a:br/>
            <a:br/>
            <a:r>
              <a:t>Apex Capital Partners | Fund VII | Strictly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