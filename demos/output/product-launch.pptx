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of customers requesting (n=840)</c:v>
                </c:pt>
              </c:strCache>
            </c:strRef>
          </c:tx>
          <c:spPr>
            <a:solidFill>
              <a:srgbClr val="4F46E5"/>
            </a:solidFill>
            <a:ln>
              <a:solidFill>
                <a:srgbClr val="4F46E5"/>
              </a:solidFill>
            </a:ln>
          </c:spPr>
          <c:cat>
            <c:strRef>
              <c:f>Sheet1!$A$2:$A$8</c:f>
              <c:strCache>
                <c:ptCount val="7"/>
                <c:pt idx="0">
                  <c:v>Automated reporting</c:v>
                </c:pt>
                <c:pt idx="1">
                  <c:v>Anomaly detection</c:v>
                </c:pt>
                <c:pt idx="2">
                  <c:v>Natural language queries</c:v>
                </c:pt>
                <c:pt idx="3">
                  <c:v>Predictive analytics</c:v>
                </c:pt>
                <c:pt idx="4">
                  <c:v>Document processing</c:v>
                </c:pt>
                <c:pt idx="5">
                  <c:v>Workflow automation</c:v>
                </c:pt>
                <c:pt idx="6">
                  <c:v>Smart recommendations</c:v>
                </c:pt>
              </c:strCache>
            </c:strRef>
          </c:cat>
          <c:val>
            <c:numRef>
              <c:f>Sheet1!$B$2:$B$8</c:f>
              <c:numCache>
                <c:formatCode>General</c:formatCode>
                <c:ptCount val="7"/>
                <c:pt idx="0">
                  <c:v>78</c:v>
                </c:pt>
                <c:pt idx="1">
                  <c:v>72</c:v>
                </c:pt>
                <c:pt idx="2">
                  <c:v>68</c:v>
                </c:pt>
                <c:pt idx="3">
                  <c:v>65</c:v>
                </c:pt>
                <c:pt idx="4">
                  <c:v>61</c:v>
                </c:pt>
                <c:pt idx="5">
                  <c:v>58</c:v>
                </c:pt>
                <c:pt idx="6">
                  <c:v>52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300">
                <a:latin typeface="Inter"/>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300">
                <a:latin typeface="Inter"/>
              </a:defRPr>
            </a:pPr>
          </a:p>
        </c:txPr>
        <c:crossAx val="-2068027336"/>
        <c:crosses val="autoZero"/>
      </c:valAx>
    </c:plotArea>
    <c:legend>
      <c:legendPos val="b"/>
      <c:overlay val="0"/>
      <c:txPr>
        <a:bodyPr/>
        <a:lstStyle/>
        <a:p>
          <a:pPr>
            <a:defRPr sz="1300">
              <a:latin typeface="Inter"/>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announce AI Copilot Suite -- the most significant product launch in Nexus Systems' history. This is not an AI experiment. It is production-grade AI that works on day one, trained on 8 years of customer workflow data, and it will redefine what our customers expect from enterprise software.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is driven by customer demand, competitive pressure, and our unique data advantage. No one else has 2.8 billion transactions of real enterprise workflow data. That is our moat. The standalone AI tools our customers are buying do not have this context -- and they never will.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improvement here is based on actual beta customer data, not projections. The report generation time reduction from 4 hours to 90 seconds was measured across 12 beta customers. The forecasting improvement from 30% to 8% error rate was validated by our data science team against customer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surveyed 840 customers. Every feature in AI Copilot Suite maps directly to these top requests. We are not building AI for the sake of AI -- we are solving the specific problems our customers told us about. The top 3 (reporting, anomaly detection, NL queries) are all in our Day 1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features ship with every Nexus license at no additional cost. This is a strategic decision -- we want 100% adoption to build the training data flywheel. Advanced features are where the monetization happens -- Pro and Enterprise tiers. This follows the Figma playbook: make the core product so good that everyone uses it, then charge for power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months from today to full launch. We have deliberately staged this to learn from each phase. Private beta gives us 500 customers worth of feedback before public launch. Core features launch free to maximize adoption. Advanced features monetize once we have proven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pricing is designed around a land-and-expand motion. Standard is free for everyone -- this drives adoption and creates demand for Pro. We estimate 15% of users upgrade to Pro in Year 1 at $49/user/month. Enterprise is custom-priced for our top 200 accounts. Total Year 1 AI revenue projection: $42M.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GTM motion is three-pronged: product-led for mass adoption, direct sales for enterprise, and partners for implementation. The most important metric in the first 90 days is daily active AI users -- not revenue. If we get 60% of our user base using AI weekly, the revenue will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Jennifer's team was one of our first 50 beta customers. The 6 hours per analyst per week is a number her team tracked independently -- we didn't prompt them. This quote will be central to our launch marketing. We have 8 more testimonials of similar quality lined up for launch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biggest product launch in Nexus Systems history. The team has been working on this for 18 months and I could not be more proud of what we have built. Let's change what our customers expect from enterprise software.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30158"/>
            <a:ext cx="10728655" cy="493395"/>
          </a:xfrm>
          <a:prstGeom prst="rect">
            <a:avLst/>
          </a:prstGeom>
          <a:noFill/>
        </p:spPr>
        <p:txBody>
          <a:bodyPr wrap="square">
            <a:spAutoFit/>
          </a:bodyPr>
          <a:lstStyle/>
          <a:p>
            <a:r>
              <a:rPr sz="4000" b="1">
                <a:solidFill>
                  <a:srgbClr val="171717"/>
                </a:solidFill>
                <a:latin typeface="Calibri"/>
              </a:rPr>
              <a:t>Introducing AI Copilot Suite</a:t>
            </a:r>
          </a:p>
        </p:txBody>
      </p:sp>
      <p:sp>
        <p:nvSpPr>
          <p:cNvPr id="3" name="TextBox 2"/>
          <p:cNvSpPr txBox="1"/>
          <p:nvPr/>
        </p:nvSpPr>
        <p:spPr>
          <a:xfrm>
            <a:off x="731520" y="3072193"/>
            <a:ext cx="10728655" cy="253365"/>
          </a:xfrm>
          <a:prstGeom prst="rect">
            <a:avLst/>
          </a:prstGeom>
          <a:noFill/>
        </p:spPr>
        <p:txBody>
          <a:bodyPr wrap="square">
            <a:spAutoFit/>
          </a:bodyPr>
          <a:lstStyle/>
          <a:p>
            <a:r>
              <a:rPr sz="2000" b="1">
                <a:solidFill>
                  <a:srgbClr val="171717"/>
                </a:solidFill>
                <a:latin typeface="Calibri"/>
              </a:rPr>
              <a:t>Nexus Systems | Enterprise AI That Works on Day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Why Now: The Enterprise AI Inflection</a:t>
            </a:r>
          </a:p>
        </p:txBody>
      </p:sp>
      <p:sp>
        <p:nvSpPr>
          <p:cNvPr id="3" name="TextBox 2"/>
          <p:cNvSpPr txBox="1"/>
          <p:nvPr/>
        </p:nvSpPr>
        <p:spPr>
          <a:xfrm>
            <a:off x="731520" y="1392555"/>
            <a:ext cx="10728655" cy="2301620"/>
          </a:xfrm>
          <a:prstGeom prst="rect">
            <a:avLst/>
          </a:prstGeom>
          <a:noFill/>
        </p:spPr>
        <p:txBody>
          <a:bodyPr wrap="square">
            <a:spAutoFit/>
          </a:bodyPr>
          <a:lstStyle/>
          <a:p>
            <a:pPr/>
            <a:r>
              <a:rPr sz="1600">
                <a:solidFill>
                  <a:srgbClr val="171717"/>
                </a:solidFill>
                <a:latin typeface="Calibri"/>
              </a:rPr>
              <a:t>• 92% of enterprise executives say AI is their top technology priority in 2026 (Gartner CIO Survey) -- but only 14% have deployed AI in production workflows</a:t>
            </a:r>
          </a:p>
          <a:p>
            <a:pPr/>
            <a:r>
              <a:rPr sz="1600">
                <a:solidFill>
                  <a:srgbClr val="171717"/>
                </a:solidFill>
                <a:latin typeface="Calibri"/>
              </a:rPr>
              <a:t>• The gap is not model capability -- it is integration. AI needs context from existing systems, not just prompts.</a:t>
            </a:r>
          </a:p>
          <a:p>
            <a:pPr/>
            <a:r>
              <a:rPr sz="1600">
                <a:solidFill>
                  <a:srgbClr val="171717"/>
                </a:solidFill>
                <a:latin typeface="Calibri"/>
              </a:rPr>
              <a:t>• Nexus Systems processes 2.8 billion transactions annually across 4,200 enterprise customers -- we have the context layer that standalone AI tools lack</a:t>
            </a:r>
          </a:p>
          <a:p>
            <a:pPr/>
            <a:r>
              <a:rPr sz="1600">
                <a:solidFill>
                  <a:srgbClr val="171717"/>
                </a:solidFill>
                <a:latin typeface="Calibri"/>
              </a:rPr>
              <a:t>• Customers are spending $340K annually on average with point-solution AI tools that don't connect to their Nexus data -- money leaving our ecosystem</a:t>
            </a:r>
          </a:p>
          <a:p>
            <a:pPr/>
            <a:r>
              <a:rPr sz="1600">
                <a:solidFill>
                  <a:srgbClr val="171717"/>
                </a:solidFill>
                <a:latin typeface="Calibri"/>
              </a:rPr>
              <a:t>• Competitive pressure: 3 of our top 5 competitors shipped AI features in the last 6 months. We must lead, not follow.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Before &amp; After: Enterprise Workflow Transformation</a:t>
            </a:r>
          </a:p>
        </p:txBody>
      </p:sp>
      <p:sp>
        <p:nvSpPr>
          <p:cNvPr id="3" name="TextBox 2"/>
          <p:cNvSpPr txBox="1"/>
          <p:nvPr/>
        </p:nvSpPr>
        <p:spPr>
          <a:xfrm>
            <a:off x="731520" y="548640"/>
            <a:ext cx="10728655" cy="386715"/>
          </a:xfrm>
          <a:prstGeom prst="rect">
            <a:avLst/>
          </a:prstGeom>
          <a:noFill/>
        </p:spPr>
        <p:txBody>
          <a:bodyPr wrap="square">
            <a:spAutoFit/>
          </a:bodyPr>
          <a:lstStyle/>
          <a:p>
            <a:r>
              <a:rPr sz="3200" b="1">
                <a:solidFill>
                  <a:srgbClr val="171717"/>
                </a:solidFill>
                <a:latin typeface="Calibri"/>
              </a:rPr>
              <a:t>Before: Manual Workflows</a:t>
            </a:r>
          </a:p>
        </p:txBody>
      </p:sp>
      <p:sp>
        <p:nvSpPr>
          <p:cNvPr id="4" name="TextBox 3"/>
          <p:cNvSpPr txBox="1"/>
          <p:nvPr/>
        </p:nvSpPr>
        <p:spPr>
          <a:xfrm>
            <a:off x="731520" y="548640"/>
            <a:ext cx="10728655" cy="386715"/>
          </a:xfrm>
          <a:prstGeom prst="rect">
            <a:avLst/>
          </a:prstGeom>
          <a:noFill/>
        </p:spPr>
        <p:txBody>
          <a:bodyPr wrap="square">
            <a:spAutoFit/>
          </a:bodyPr>
          <a:lstStyle/>
          <a:p>
            <a:r>
              <a:rPr sz="3200" b="1">
                <a:solidFill>
                  <a:srgbClr val="171717"/>
                </a:solidFill>
                <a:latin typeface="Calibri"/>
              </a:rPr>
              <a:t>After: AI Copilot Suite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06705"/>
          </a:xfrm>
          <a:prstGeom prst="rect">
            <a:avLst/>
          </a:prstGeom>
          <a:noFill/>
        </p:spPr>
        <p:txBody>
          <a:bodyPr wrap="square">
            <a:spAutoFit/>
          </a:bodyPr>
          <a:lstStyle/>
          <a:p>
            <a:r>
              <a:rPr sz="4000" b="1">
                <a:solidFill>
                  <a:srgbClr val="171717"/>
                </a:solidFill>
                <a:latin typeface="Calibri"/>
              </a:rPr>
              <a:t>User Research: What Customers Want from AI</a:t>
            </a:r>
          </a:p>
        </p:txBody>
      </p:sp>
      <p:graphicFrame>
        <p:nvGraphicFramePr>
          <p:cNvPr id="3" name="Chart 2"/>
          <p:cNvGraphicFramePr>
            <a:graphicFrameLocks noGrp="1"/>
          </p:cNvGraphicFramePr>
          <p:nvPr/>
        </p:nvGraphicFramePr>
        <p:xfrm>
          <a:off x="731520" y="1083945"/>
          <a:ext cx="10728655"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AI Copilot Suite: Feature Overview</a:t>
            </a:r>
          </a:p>
        </p:txBody>
      </p:sp>
      <p:sp>
        <p:nvSpPr>
          <p:cNvPr id="3" name="TextBox 2"/>
          <p:cNvSpPr txBox="1"/>
          <p:nvPr/>
        </p:nvSpPr>
        <p:spPr>
          <a:xfrm>
            <a:off x="731520" y="548640"/>
            <a:ext cx="10728655" cy="386715"/>
          </a:xfrm>
          <a:prstGeom prst="rect">
            <a:avLst/>
          </a:prstGeom>
          <a:noFill/>
        </p:spPr>
        <p:txBody>
          <a:bodyPr wrap="square">
            <a:spAutoFit/>
          </a:bodyPr>
          <a:lstStyle/>
          <a:p>
            <a:r>
              <a:rPr sz="3200" b="1">
                <a:solidFill>
                  <a:srgbClr val="171717"/>
                </a:solidFill>
                <a:latin typeface="Calibri"/>
              </a:rPr>
              <a:t>Core AI Features (All Tiers)</a:t>
            </a:r>
          </a:p>
        </p:txBody>
      </p:sp>
      <p:sp>
        <p:nvSpPr>
          <p:cNvPr id="4" name="TextBox 3"/>
          <p:cNvSpPr txBox="1"/>
          <p:nvPr/>
        </p:nvSpPr>
        <p:spPr>
          <a:xfrm>
            <a:off x="731520" y="548640"/>
            <a:ext cx="10728655" cy="386715"/>
          </a:xfrm>
          <a:prstGeom prst="rect">
            <a:avLst/>
          </a:prstGeom>
          <a:noFill/>
        </p:spPr>
        <p:txBody>
          <a:bodyPr wrap="square">
            <a:spAutoFit/>
          </a:bodyPr>
          <a:lstStyle/>
          <a:p>
            <a:r>
              <a:rPr sz="3200" b="1">
                <a:solidFill>
                  <a:srgbClr val="171717"/>
                </a:solidFill>
                <a:latin typeface="Calibri"/>
              </a:rPr>
              <a:t>Advanced AI (Pro + Enterprise)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Launch Timeline: April - September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Pricing: AI Copilot Suite Tiers</a:t>
            </a:r>
          </a:p>
        </p:txBody>
      </p:sp>
      <p:graphicFrame>
        <p:nvGraphicFramePr>
          <p:cNvPr id="3" name="Table 2"/>
          <p:cNvGraphicFramePr>
            <a:graphicFrameLocks noGrp="1"/>
          </p:cNvGraphicFramePr>
          <p:nvPr/>
        </p:nvGraphicFramePr>
        <p:xfrm>
          <a:off x="731520" y="1163955"/>
          <a:ext cx="10728652" cy="3657600"/>
        </p:xfrm>
        <a:graphic>
          <a:graphicData uri="http://schemas.openxmlformats.org/drawingml/2006/table">
            <a:tbl>
              <a:tblPr firstRow="1" bandRow="1">
                <a:tableStyleId>{5C22544A-7EE6-4342-B048-85BDC9FD1C3A}</a:tableStyleId>
              </a:tblPr>
              <a:tblGrid>
                <a:gridCol w="1211299"/>
                <a:gridCol w="3287813"/>
                <a:gridCol w="2941727"/>
                <a:gridCol w="3287813"/>
              </a:tblGrid>
              <a:tr h="281353">
                <a:tc>
                  <a:txBody>
                    <a:bodyPr/>
                    <a:lstStyle/>
                    <a:p>
                      <a:r>
                        <a:rPr sz="1300" b="1">
                          <a:solidFill>
                            <a:srgbClr val="FFFFFF"/>
                          </a:solidFill>
                          <a:latin typeface="Calibri"/>
                        </a:rPr>
                        <a:t>Feature</a:t>
                      </a:r>
                    </a:p>
                  </a:txBody>
                  <a:tcPr>
                    <a:solidFill>
                      <a:srgbClr val="171717"/>
                    </a:solidFill>
                  </a:tcPr>
                </a:tc>
                <a:tc>
                  <a:txBody>
                    <a:bodyPr/>
                    <a:lstStyle/>
                    <a:p>
                      <a:r>
                        <a:rPr sz="1300" b="1">
                          <a:solidFill>
                            <a:srgbClr val="FFFFFF"/>
                          </a:solidFill>
                          <a:latin typeface="Calibri"/>
                        </a:rPr>
                        <a:t>Standard (Included)</a:t>
                      </a:r>
                    </a:p>
                  </a:txBody>
                  <a:tcPr>
                    <a:solidFill>
                      <a:srgbClr val="171717"/>
                    </a:solidFill>
                  </a:tcPr>
                </a:tc>
                <a:tc>
                  <a:txBody>
                    <a:bodyPr/>
                    <a:lstStyle/>
                    <a:p>
                      <a:r>
                        <a:rPr sz="1300" b="1">
                          <a:solidFill>
                            <a:srgbClr val="FFFFFF"/>
                          </a:solidFill>
                          <a:latin typeface="Calibri"/>
                        </a:rPr>
                        <a:t>Pro ($49/user/mo)</a:t>
                      </a:r>
                    </a:p>
                  </a:txBody>
                  <a:tcPr>
                    <a:solidFill>
                      <a:srgbClr val="171717"/>
                    </a:solidFill>
                  </a:tcPr>
                </a:tc>
                <a:tc>
                  <a:txBody>
                    <a:bodyPr/>
                    <a:lstStyle/>
                    <a:p>
                      <a:r>
                        <a:rPr sz="1300" b="1">
                          <a:solidFill>
                            <a:srgbClr val="FFFFFF"/>
                          </a:solidFill>
                          <a:latin typeface="Calibri"/>
                        </a:rPr>
                        <a:t>Enterprise (Custom)</a:t>
                      </a:r>
                    </a:p>
                  </a:txBody>
                  <a:tcPr>
                    <a:solidFill>
                      <a:srgbClr val="171717"/>
                    </a:solidFill>
                  </a:tcPr>
                </a:tc>
              </a:tr>
              <a:tr h="281353">
                <a:tc>
                  <a:txBody>
                    <a:bodyPr/>
                    <a:lstStyle/>
                    <a:p>
                      <a:pPr algn="l"/>
                      <a:r>
                        <a:rPr sz="1300" b="0">
                          <a:solidFill>
                            <a:srgbClr val="171717"/>
                          </a:solidFill>
                          <a:latin typeface="Calibri"/>
                        </a:rPr>
                        <a:t>NexusChat (NL queries)</a:t>
                      </a:r>
                    </a:p>
                  </a:txBody>
                  <a:tcPr>
                    <a:solidFill>
                      <a:srgbClr val="FAFAFA"/>
                    </a:solidFill>
                  </a:tcPr>
                </a:tc>
                <a:tc>
                  <a:txBody>
                    <a:bodyPr/>
                    <a:lstStyle/>
                    <a:p>
                      <a:pPr algn="l"/>
                      <a:r>
                        <a:rPr sz="1300" b="0">
                          <a:solidFill>
                            <a:srgbClr val="171717"/>
                          </a:solidFill>
                          <a:latin typeface="Calibri"/>
                        </a:rPr>
                        <a:t>Included</a:t>
                      </a:r>
                    </a:p>
                  </a:txBody>
                  <a:tcPr>
                    <a:solidFill>
                      <a:srgbClr val="FAFAFA"/>
                    </a:solidFill>
                  </a:tcPr>
                </a:tc>
                <a:tc>
                  <a:txBody>
                    <a:bodyPr/>
                    <a:lstStyle/>
                    <a:p>
                      <a:pPr algn="l"/>
                      <a:r>
                        <a:rPr sz="1300" b="0">
                          <a:solidFill>
                            <a:srgbClr val="171717"/>
                          </a:solidFill>
                          <a:latin typeface="Calibri"/>
                        </a:rPr>
                        <a:t>Included</a:t>
                      </a:r>
                    </a:p>
                  </a:txBody>
                  <a:tcPr>
                    <a:solidFill>
                      <a:srgbClr val="FAFAFA"/>
                    </a:solidFill>
                  </a:tcPr>
                </a:tc>
                <a:tc>
                  <a:txBody>
                    <a:bodyPr/>
                    <a:lstStyle/>
                    <a:p>
                      <a:pPr algn="l"/>
                      <a:r>
                        <a:rPr sz="1300" b="0">
                          <a:solidFill>
                            <a:srgbClr val="171717"/>
                          </a:solidFill>
                          <a:latin typeface="Calibri"/>
                        </a:rPr>
                        <a:t>Included</a:t>
                      </a:r>
                    </a:p>
                  </a:txBody>
                  <a:tcPr>
                    <a:solidFill>
                      <a:srgbClr val="FAFAFA"/>
                    </a:solidFill>
                  </a:tcPr>
                </a:tc>
              </a:tr>
              <a:tr h="281353">
                <a:tc>
                  <a:txBody>
                    <a:bodyPr/>
                    <a:lstStyle/>
                    <a:p>
                      <a:pPr algn="l"/>
                      <a:r>
                        <a:rPr sz="1300" b="0">
                          <a:solidFill>
                            <a:srgbClr val="171717"/>
                          </a:solidFill>
                          <a:latin typeface="Calibri"/>
                        </a:rPr>
                        <a:t>Smart Reports</a:t>
                      </a:r>
                    </a:p>
                  </a:txBody>
                  <a:tcPr>
                    <a:solidFill>
                      <a:srgbClr val="FFFFFF"/>
                    </a:solidFill>
                  </a:tcPr>
                </a:tc>
                <a:tc>
                  <a:txBody>
                    <a:bodyPr/>
                    <a:lstStyle/>
                    <a:p>
                      <a:pPr algn="l"/>
                      <a:r>
                        <a:rPr sz="1300" b="0">
                          <a:solidFill>
                            <a:srgbClr val="171717"/>
                          </a:solidFill>
                          <a:latin typeface="Calibri"/>
                        </a:rPr>
                        <a:t>5/month</a:t>
                      </a:r>
                    </a:p>
                  </a:txBody>
                  <a:tcPr>
                    <a:solidFill>
                      <a:srgbClr val="FFFFFF"/>
                    </a:solidFill>
                  </a:tcPr>
                </a:tc>
                <a:tc>
                  <a:txBody>
                    <a:bodyPr/>
                    <a:lstStyle/>
                    <a:p>
                      <a:pPr algn="l"/>
                      <a:r>
                        <a:rPr sz="1300" b="0">
                          <a:solidFill>
                            <a:srgbClr val="171717"/>
                          </a:solidFill>
                          <a:latin typeface="Calibri"/>
                        </a:rPr>
                        <a:t>Unlimited</a:t>
                      </a:r>
                    </a:p>
                  </a:txBody>
                  <a:tcPr>
                    <a:solidFill>
                      <a:srgbClr val="FFFFFF"/>
                    </a:solidFill>
                  </a:tcPr>
                </a:tc>
                <a:tc>
                  <a:txBody>
                    <a:bodyPr/>
                    <a:lstStyle/>
                    <a:p>
                      <a:pPr algn="l"/>
                      <a:r>
                        <a:rPr sz="1300" b="0">
                          <a:solidFill>
                            <a:srgbClr val="171717"/>
                          </a:solidFill>
                          <a:latin typeface="Calibri"/>
                        </a:rPr>
                        <a:t>Unlimited</a:t>
                      </a:r>
                    </a:p>
                  </a:txBody>
                  <a:tcPr>
                    <a:solidFill>
                      <a:srgbClr val="FFFFFF"/>
                    </a:solidFill>
                  </a:tcPr>
                </a:tc>
              </a:tr>
              <a:tr h="281353">
                <a:tc>
                  <a:txBody>
                    <a:bodyPr/>
                    <a:lstStyle/>
                    <a:p>
                      <a:pPr algn="l"/>
                      <a:r>
                        <a:rPr sz="1300" b="0">
                          <a:solidFill>
                            <a:srgbClr val="171717"/>
                          </a:solidFill>
                          <a:latin typeface="Calibri"/>
                        </a:rPr>
                        <a:t>Anomaly Radar</a:t>
                      </a:r>
                    </a:p>
                  </a:txBody>
                  <a:tcPr>
                    <a:solidFill>
                      <a:srgbClr val="FAFAFA"/>
                    </a:solidFill>
                  </a:tcPr>
                </a:tc>
                <a:tc>
                  <a:txBody>
                    <a:bodyPr/>
                    <a:lstStyle/>
                    <a:p>
                      <a:pPr algn="l"/>
                      <a:r>
                        <a:rPr sz="1300" b="0">
                          <a:solidFill>
                            <a:srgbClr val="171717"/>
                          </a:solidFill>
                          <a:latin typeface="Calibri"/>
                        </a:rPr>
                        <a:t>Basic (daily)</a:t>
                      </a:r>
                    </a:p>
                  </a:txBody>
                  <a:tcPr>
                    <a:solidFill>
                      <a:srgbClr val="FAFAFA"/>
                    </a:solidFill>
                  </a:tcPr>
                </a:tc>
                <a:tc>
                  <a:txBody>
                    <a:bodyPr/>
                    <a:lstStyle/>
                    <a:p>
                      <a:pPr algn="l"/>
                      <a:r>
                        <a:rPr sz="1300" b="0">
                          <a:solidFill>
                            <a:srgbClr val="171717"/>
                          </a:solidFill>
                          <a:latin typeface="Calibri"/>
                        </a:rPr>
                        <a:t>Real-time</a:t>
                      </a:r>
                    </a:p>
                  </a:txBody>
                  <a:tcPr>
                    <a:solidFill>
                      <a:srgbClr val="FAFAFA"/>
                    </a:solidFill>
                  </a:tcPr>
                </a:tc>
                <a:tc>
                  <a:txBody>
                    <a:bodyPr/>
                    <a:lstStyle/>
                    <a:p>
                      <a:pPr algn="l"/>
                      <a:r>
                        <a:rPr sz="1300" b="0">
                          <a:solidFill>
                            <a:srgbClr val="171717"/>
                          </a:solidFill>
                          <a:latin typeface="Calibri"/>
                        </a:rPr>
                        <a:t>Real-time + custom</a:t>
                      </a:r>
                    </a:p>
                  </a:txBody>
                  <a:tcPr>
                    <a:solidFill>
                      <a:srgbClr val="FAFAFA"/>
                    </a:solidFill>
                  </a:tcPr>
                </a:tc>
              </a:tr>
              <a:tr h="281353">
                <a:tc>
                  <a:txBody>
                    <a:bodyPr/>
                    <a:lstStyle/>
                    <a:p>
                      <a:pPr algn="l"/>
                      <a:r>
                        <a:rPr sz="1300" b="0">
                          <a:solidFill>
                            <a:srgbClr val="171717"/>
                          </a:solidFill>
                          <a:latin typeface="Calibri"/>
                        </a:rPr>
                        <a:t>AutoFill</a:t>
                      </a:r>
                    </a:p>
                  </a:txBody>
                  <a:tcPr>
                    <a:solidFill>
                      <a:srgbClr val="FFFFFF"/>
                    </a:solidFill>
                  </a:tcPr>
                </a:tc>
                <a:tc>
                  <a:txBody>
                    <a:bodyPr/>
                    <a:lstStyle/>
                    <a:p>
                      <a:pPr algn="l"/>
                      <a:r>
                        <a:rPr sz="1300" b="0">
                          <a:solidFill>
                            <a:srgbClr val="171717"/>
                          </a:solidFill>
                          <a:latin typeface="Calibri"/>
                        </a:rPr>
                        <a:t>Included</a:t>
                      </a:r>
                    </a:p>
                  </a:txBody>
                  <a:tcPr>
                    <a:solidFill>
                      <a:srgbClr val="FFFFFF"/>
                    </a:solidFill>
                  </a:tcPr>
                </a:tc>
                <a:tc>
                  <a:txBody>
                    <a:bodyPr/>
                    <a:lstStyle/>
                    <a:p>
                      <a:pPr algn="l"/>
                      <a:r>
                        <a:rPr sz="1300" b="0">
                          <a:solidFill>
                            <a:srgbClr val="171717"/>
                          </a:solidFill>
                          <a:latin typeface="Calibri"/>
                        </a:rPr>
                        <a:t>Included</a:t>
                      </a:r>
                    </a:p>
                  </a:txBody>
                  <a:tcPr>
                    <a:solidFill>
                      <a:srgbClr val="FFFFFF"/>
                    </a:solidFill>
                  </a:tcPr>
                </a:tc>
                <a:tc>
                  <a:txBody>
                    <a:bodyPr/>
                    <a:lstStyle/>
                    <a:p>
                      <a:pPr algn="l"/>
                      <a:r>
                        <a:rPr sz="1300" b="0">
                          <a:solidFill>
                            <a:srgbClr val="171717"/>
                          </a:solidFill>
                          <a:latin typeface="Calibri"/>
                        </a:rPr>
                        <a:t>Included</a:t>
                      </a:r>
                    </a:p>
                  </a:txBody>
                  <a:tcPr>
                    <a:solidFill>
                      <a:srgbClr val="FFFFFF"/>
                    </a:solidFill>
                  </a:tcPr>
                </a:tc>
              </a:tr>
              <a:tr h="281353">
                <a:tc>
                  <a:txBody>
                    <a:bodyPr/>
                    <a:lstStyle/>
                    <a:p>
                      <a:pPr algn="l"/>
                      <a:r>
                        <a:rPr sz="1300" b="0">
                          <a:solidFill>
                            <a:srgbClr val="171717"/>
                          </a:solidFill>
                          <a:latin typeface="Calibri"/>
                        </a:rPr>
                        <a:t>Predictive Engine</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3 models</a:t>
                      </a:r>
                    </a:p>
                  </a:txBody>
                  <a:tcPr>
                    <a:solidFill>
                      <a:srgbClr val="FAFAFA"/>
                    </a:solidFill>
                  </a:tcPr>
                </a:tc>
                <a:tc>
                  <a:txBody>
                    <a:bodyPr/>
                    <a:lstStyle/>
                    <a:p>
                      <a:pPr algn="l"/>
                      <a:r>
                        <a:rPr sz="1300" b="0">
                          <a:solidFill>
                            <a:srgbClr val="171717"/>
                          </a:solidFill>
                          <a:latin typeface="Calibri"/>
                        </a:rPr>
                        <a:t>Unlimited models</a:t>
                      </a:r>
                    </a:p>
                  </a:txBody>
                  <a:tcPr>
                    <a:solidFill>
                      <a:srgbClr val="FAFAFA"/>
                    </a:solidFill>
                  </a:tcPr>
                </a:tc>
              </a:tr>
              <a:tr h="281353">
                <a:tc>
                  <a:txBody>
                    <a:bodyPr/>
                    <a:lstStyle/>
                    <a:p>
                      <a:pPr algn="l"/>
                      <a:r>
                        <a:rPr sz="1300" b="0">
                          <a:solidFill>
                            <a:srgbClr val="171717"/>
                          </a:solidFill>
                          <a:latin typeface="Calibri"/>
                        </a:rPr>
                        <a:t>Workflow AI</a:t>
                      </a:r>
                    </a:p>
                  </a:txBody>
                  <a:tcPr>
                    <a:solidFill>
                      <a:srgbClr val="FFFFFF"/>
                    </a:solidFill>
                  </a:tcPr>
                </a:tc>
                <a:tc>
                  <a:txBody>
                    <a:bodyPr/>
                    <a:lstStyle/>
                    <a:p>
                      <a:pPr algn="l"/>
                      <a:r>
                        <a:rPr sz="1300" b="0">
                          <a:solidFill>
                            <a:srgbClr val="171717"/>
                          </a:solidFill>
                          <a:latin typeface="Calibri"/>
                        </a:rPr>
                        <a:t>-</a:t>
                      </a:r>
                    </a:p>
                  </a:txBody>
                  <a:tcPr>
                    <a:solidFill>
                      <a:srgbClr val="FFFFFF"/>
                    </a:solidFill>
                  </a:tcPr>
                </a:tc>
                <a:tc>
                  <a:txBody>
                    <a:bodyPr/>
                    <a:lstStyle/>
                    <a:p>
                      <a:pPr algn="l"/>
                      <a:r>
                        <a:rPr sz="1300" b="0">
                          <a:solidFill>
                            <a:srgbClr val="171717"/>
                          </a:solidFill>
                          <a:latin typeface="Calibri"/>
                        </a:rPr>
                        <a:t>10 workflows</a:t>
                      </a:r>
                    </a:p>
                  </a:txBody>
                  <a:tcPr>
                    <a:solidFill>
                      <a:srgbClr val="FFFFFF"/>
                    </a:solidFill>
                  </a:tcPr>
                </a:tc>
                <a:tc>
                  <a:txBody>
                    <a:bodyPr/>
                    <a:lstStyle/>
                    <a:p>
                      <a:pPr algn="l"/>
                      <a:r>
                        <a:rPr sz="1300" b="0">
                          <a:solidFill>
                            <a:srgbClr val="171717"/>
                          </a:solidFill>
                          <a:latin typeface="Calibri"/>
                        </a:rPr>
                        <a:t>Unlimited</a:t>
                      </a:r>
                    </a:p>
                  </a:txBody>
                  <a:tcPr>
                    <a:solidFill>
                      <a:srgbClr val="FFFFFF"/>
                    </a:solidFill>
                  </a:tcPr>
                </a:tc>
              </a:tr>
              <a:tr h="281353">
                <a:tc>
                  <a:txBody>
                    <a:bodyPr/>
                    <a:lstStyle/>
                    <a:p>
                      <a:pPr algn="l"/>
                      <a:r>
                        <a:rPr sz="1300" b="0">
                          <a:solidFill>
                            <a:srgbClr val="171717"/>
                          </a:solidFill>
                          <a:latin typeface="Calibri"/>
                        </a:rPr>
                        <a:t>Document Intelligence</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100 docs/mo</a:t>
                      </a:r>
                    </a:p>
                  </a:txBody>
                  <a:tcPr>
                    <a:solidFill>
                      <a:srgbClr val="FAFAFA"/>
                    </a:solidFill>
                  </a:tcPr>
                </a:tc>
                <a:tc>
                  <a:txBody>
                    <a:bodyPr/>
                    <a:lstStyle/>
                    <a:p>
                      <a:pPr algn="l"/>
                      <a:r>
                        <a:rPr sz="1300" b="0">
                          <a:solidFill>
                            <a:srgbClr val="171717"/>
                          </a:solidFill>
                          <a:latin typeface="Calibri"/>
                        </a:rPr>
                        <a:t>Unlimited</a:t>
                      </a:r>
                    </a:p>
                  </a:txBody>
                  <a:tcPr>
                    <a:solidFill>
                      <a:srgbClr val="FAFAFA"/>
                    </a:solidFill>
                  </a:tcPr>
                </a:tc>
              </a:tr>
              <a:tr h="281353">
                <a:tc>
                  <a:txBody>
                    <a:bodyPr/>
                    <a:lstStyle/>
                    <a:p>
                      <a:pPr algn="l"/>
                      <a:r>
                        <a:rPr sz="1300" b="0">
                          <a:solidFill>
                            <a:srgbClr val="171717"/>
                          </a:solidFill>
                          <a:latin typeface="Calibri"/>
                        </a:rPr>
                        <a:t>Custom AI Models</a:t>
                      </a:r>
                    </a:p>
                  </a:txBody>
                  <a:tcPr>
                    <a:solidFill>
                      <a:srgbClr val="FFFFFF"/>
                    </a:solidFill>
                  </a:tcPr>
                </a:tc>
                <a:tc>
                  <a:txBody>
                    <a:bodyPr/>
                    <a:lstStyle/>
                    <a:p>
                      <a:pPr algn="l"/>
                      <a:r>
                        <a:rPr sz="1300" b="0">
                          <a:solidFill>
                            <a:srgbClr val="171717"/>
                          </a:solidFill>
                          <a:latin typeface="Calibri"/>
                        </a:rPr>
                        <a:t>-</a:t>
                      </a:r>
                    </a:p>
                  </a:txBody>
                  <a:tcPr>
                    <a:solidFill>
                      <a:srgbClr val="FFFFFF"/>
                    </a:solidFill>
                  </a:tcPr>
                </a:tc>
                <a:tc>
                  <a:txBody>
                    <a:bodyPr/>
                    <a:lstStyle/>
                    <a:p>
                      <a:pPr algn="l"/>
                      <a:r>
                        <a:rPr sz="1300" b="0">
                          <a:solidFill>
                            <a:srgbClr val="171717"/>
                          </a:solidFill>
                          <a:latin typeface="Calibri"/>
                        </a:rPr>
                        <a:t>-</a:t>
                      </a:r>
                    </a:p>
                  </a:txBody>
                  <a:tcPr>
                    <a:solidFill>
                      <a:srgbClr val="FFFFFF"/>
                    </a:solidFill>
                  </a:tcPr>
                </a:tc>
                <a:tc>
                  <a:txBody>
                    <a:bodyPr/>
                    <a:lstStyle/>
                    <a:p>
                      <a:pPr algn="l"/>
                      <a:r>
                        <a:rPr sz="1300" b="0">
                          <a:solidFill>
                            <a:srgbClr val="171717"/>
                          </a:solidFill>
                          <a:latin typeface="Calibri"/>
                        </a:rPr>
                        <a:t>Included</a:t>
                      </a:r>
                    </a:p>
                  </a:txBody>
                  <a:tcPr>
                    <a:solidFill>
                      <a:srgbClr val="FFFFFF"/>
                    </a:solidFill>
                  </a:tcPr>
                </a:tc>
              </a:tr>
              <a:tr h="281353">
                <a:tc>
                  <a:txBody>
                    <a:bodyPr/>
                    <a:lstStyle/>
                    <a:p>
                      <a:pPr algn="l"/>
                      <a:r>
                        <a:rPr sz="1300" b="0">
                          <a:solidFill>
                            <a:srgbClr val="171717"/>
                          </a:solidFill>
                          <a:latin typeface="Calibri"/>
                        </a:rPr>
                        <a:t>AI Marketplace</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Included</a:t>
                      </a:r>
                    </a:p>
                  </a:txBody>
                  <a:tcPr>
                    <a:solidFill>
                      <a:srgbClr val="FAFAFA"/>
                    </a:solidFill>
                  </a:tcPr>
                </a:tc>
              </a:tr>
              <a:tr h="281353">
                <a:tc>
                  <a:txBody>
                    <a:bodyPr/>
                    <a:lstStyle/>
                    <a:p>
                      <a:pPr algn="l"/>
                      <a:r>
                        <a:rPr sz="1300" b="0">
                          <a:solidFill>
                            <a:srgbClr val="171717"/>
                          </a:solidFill>
                          <a:latin typeface="Calibri"/>
                        </a:rPr>
                        <a:t>Dedicated AI Support</a:t>
                      </a:r>
                    </a:p>
                  </a:txBody>
                  <a:tcPr>
                    <a:solidFill>
                      <a:srgbClr val="FFFFFF"/>
                    </a:solidFill>
                  </a:tcPr>
                </a:tc>
                <a:tc>
                  <a:txBody>
                    <a:bodyPr/>
                    <a:lstStyle/>
                    <a:p>
                      <a:pPr algn="l"/>
                      <a:r>
                        <a:rPr sz="1300" b="0">
                          <a:solidFill>
                            <a:srgbClr val="171717"/>
                          </a:solidFill>
                          <a:latin typeface="Calibri"/>
                        </a:rPr>
                        <a:t>-</a:t>
                      </a:r>
                    </a:p>
                  </a:txBody>
                  <a:tcPr>
                    <a:solidFill>
                      <a:srgbClr val="FFFFFF"/>
                    </a:solidFill>
                  </a:tcPr>
                </a:tc>
                <a:tc>
                  <a:txBody>
                    <a:bodyPr/>
                    <a:lstStyle/>
                    <a:p>
                      <a:pPr algn="l"/>
                      <a:r>
                        <a:rPr sz="1300" b="0">
                          <a:solidFill>
                            <a:srgbClr val="171717"/>
                          </a:solidFill>
                          <a:latin typeface="Calibri"/>
                        </a:rPr>
                        <a:t>-</a:t>
                      </a:r>
                    </a:p>
                  </a:txBody>
                  <a:tcPr>
                    <a:solidFill>
                      <a:srgbClr val="FFFFFF"/>
                    </a:solidFill>
                  </a:tcPr>
                </a:tc>
                <a:tc>
                  <a:txBody>
                    <a:bodyPr/>
                    <a:lstStyle/>
                    <a:p>
                      <a:pPr algn="l"/>
                      <a:r>
                        <a:rPr sz="1300" b="0">
                          <a:solidFill>
                            <a:srgbClr val="171717"/>
                          </a:solidFill>
                          <a:latin typeface="Calibri"/>
                        </a:rPr>
                        <a:t>Included</a:t>
                      </a:r>
                    </a:p>
                  </a:txBody>
                  <a:tcPr>
                    <a:solidFill>
                      <a:srgbClr val="FFFFFF"/>
                    </a:solidFill>
                  </a:tcPr>
                </a:tc>
              </a:tr>
              <a:tr h="281353">
                <a:tc>
                  <a:txBody>
                    <a:bodyPr/>
                    <a:lstStyle/>
                    <a:p>
                      <a:pPr algn="l"/>
                      <a:r>
                        <a:rPr sz="1300" b="0">
                          <a:solidFill>
                            <a:srgbClr val="171717"/>
                          </a:solidFill>
                          <a:latin typeface="Calibri"/>
                        </a:rPr>
                        <a:t>Data Residency Options</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a:t>
                      </a:r>
                    </a:p>
                  </a:txBody>
                  <a:tcPr>
                    <a:solidFill>
                      <a:srgbClr val="FAFAFA"/>
                    </a:solidFill>
                  </a:tcPr>
                </a:tc>
                <a:tc>
                  <a:txBody>
                    <a:bodyPr/>
                    <a:lstStyle/>
                    <a:p>
                      <a:pPr algn="l"/>
                      <a:r>
                        <a:rPr sz="1300" b="0">
                          <a:solidFill>
                            <a:srgbClr val="171717"/>
                          </a:solidFill>
                          <a:latin typeface="Calibri"/>
                        </a:rPr>
                        <a:t>US/EU/APAC</a:t>
                      </a:r>
                    </a:p>
                  </a:txBody>
                  <a:tcPr>
                    <a:solidFill>
                      <a:srgbClr val="FAFAFA"/>
                    </a:solidFill>
                  </a:tcPr>
                </a:tc>
              </a:tr>
              <a:tr h="281364">
                <a:tc>
                  <a:txBody>
                    <a:bodyPr/>
                    <a:lstStyle/>
                    <a:p>
                      <a:pPr algn="l"/>
                      <a:r>
                        <a:rPr sz="1300" b="0">
                          <a:solidFill>
                            <a:srgbClr val="171717"/>
                          </a:solidFill>
                          <a:latin typeface="Calibri"/>
                        </a:rPr>
                        <a:t>Expected Revenue Impact</a:t>
                      </a:r>
                    </a:p>
                  </a:txBody>
                  <a:tcPr>
                    <a:solidFill>
                      <a:srgbClr val="FFFFFF"/>
                    </a:solidFill>
                  </a:tcPr>
                </a:tc>
                <a:tc>
                  <a:txBody>
                    <a:bodyPr/>
                    <a:lstStyle/>
                    <a:p>
                      <a:pPr algn="l"/>
                      <a:r>
                        <a:rPr sz="1300" b="0">
                          <a:solidFill>
                            <a:srgbClr val="171717"/>
                          </a:solidFill>
                          <a:latin typeface="Calibri"/>
                        </a:rPr>
                        <a:t>$0 (strategic)</a:t>
                      </a:r>
                    </a:p>
                  </a:txBody>
                  <a:tcPr>
                    <a:solidFill>
                      <a:srgbClr val="FFFFFF"/>
                    </a:solidFill>
                  </a:tcPr>
                </a:tc>
                <a:tc>
                  <a:txBody>
                    <a:bodyPr/>
                    <a:lstStyle/>
                    <a:p>
                      <a:pPr algn="l"/>
                      <a:r>
                        <a:rPr sz="1300" b="0">
                          <a:solidFill>
                            <a:srgbClr val="171717"/>
                          </a:solidFill>
                          <a:latin typeface="Calibri"/>
                        </a:rPr>
                        <a:t>$24M ARR (Y1)</a:t>
                      </a:r>
                    </a:p>
                  </a:txBody>
                  <a:tcPr>
                    <a:solidFill>
                      <a:srgbClr val="FFFFFF"/>
                    </a:solidFill>
                  </a:tcPr>
                </a:tc>
                <a:tc>
                  <a:txBody>
                    <a:bodyPr/>
                    <a:lstStyle/>
                    <a:p>
                      <a:pPr algn="l"/>
                      <a:r>
                        <a:rPr sz="1300" b="0">
                          <a:solidFill>
                            <a:srgbClr val="171717"/>
                          </a:solidFill>
                          <a:latin typeface="Calibri"/>
                        </a:rPr>
                        <a:t>$18M ARR (Y1)</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386715"/>
          </a:xfrm>
          <a:prstGeom prst="rect">
            <a:avLst/>
          </a:prstGeom>
          <a:noFill/>
        </p:spPr>
        <p:txBody>
          <a:bodyPr wrap="square">
            <a:spAutoFit/>
          </a:bodyPr>
          <a:lstStyle/>
          <a:p>
            <a:r>
              <a:rPr sz="4000" b="1">
                <a:solidFill>
                  <a:srgbClr val="171717"/>
                </a:solidFill>
                <a:latin typeface="Calibri"/>
              </a:rPr>
              <a:t>Go-To-Market Strategy</a:t>
            </a:r>
          </a:p>
        </p:txBody>
      </p:sp>
      <p:sp>
        <p:nvSpPr>
          <p:cNvPr id="3" name="TextBox 2"/>
          <p:cNvSpPr txBox="1"/>
          <p:nvPr/>
        </p:nvSpPr>
        <p:spPr>
          <a:xfrm>
            <a:off x="731520" y="1392555"/>
            <a:ext cx="10728655" cy="3549777"/>
          </a:xfrm>
          <a:prstGeom prst="rect">
            <a:avLst/>
          </a:prstGeom>
          <a:noFill/>
        </p:spPr>
        <p:txBody>
          <a:bodyPr wrap="square">
            <a:spAutoFit/>
          </a:bodyPr>
          <a:lstStyle/>
          <a:p>
            <a:pPr/>
            <a:r>
              <a:rPr sz="1600">
                <a:solidFill>
                  <a:srgbClr val="171717"/>
                </a:solidFill>
                <a:latin typeface="Calibri"/>
              </a:rPr>
              <a:t>• PRODUCT-LED GROWTH: Core AI features free for all 4,200 customers. In-app upgrade prompts when users hit Pro feature limits. Self-serve checkout.</a:t>
            </a:r>
          </a:p>
          <a:p>
            <a:pPr/>
            <a:r>
              <a:rPr sz="1600">
                <a:solidFill>
                  <a:srgbClr val="171717"/>
                </a:solidFill>
                <a:latin typeface="Calibri"/>
              </a:rPr>
              <a:t>• ENTERPRISE SALES: Dedicated AI solutions team (8 AEs, 4 SEs) targeting top 200 accounts. Custom ROI calculators. Proof-of-value engagements.</a:t>
            </a:r>
          </a:p>
          <a:p>
            <a:pPr/>
            <a:r>
              <a:rPr sz="1600">
                <a:solidFill>
                  <a:srgbClr val="171717"/>
                </a:solidFill>
                <a:latin typeface="Calibri"/>
              </a:rPr>
              <a:t>• CONTENT MARKETING: 12-part AI transformation webinar series. Case studies from beta customers. Partnership with Gartner on AI in Enterprise report.</a:t>
            </a:r>
          </a:p>
          <a:p>
            <a:pPr/>
            <a:r>
              <a:rPr sz="1600">
                <a:solidFill>
                  <a:srgbClr val="171717"/>
                </a:solidFill>
                <a:latin typeface="Calibri"/>
              </a:rPr>
              <a:t>• PARTNER CHANNEL: SI partners (Deloitte, Accenture, Wipro) trained on AI Copilot implementation. Referral incentive: 15% of first-year AI revenue.</a:t>
            </a:r>
          </a:p>
          <a:p>
            <a:pPr/>
            <a:r>
              <a:rPr sz="1600">
                <a:solidFill>
                  <a:srgbClr val="171717"/>
                </a:solidFill>
                <a:latin typeface="Calibri"/>
              </a:rPr>
              <a:t>• CUSTOMER SUCCESS: Proactive AI adoption team. Weekly office hours. AI readiness assessment for every enterprise account. 90-day adoption playbook.</a:t>
            </a:r>
          </a:p>
          <a:p>
            <a:pPr/>
            <a:r>
              <a:rPr sz="1600">
                <a:solidFill>
                  <a:srgbClr val="171717"/>
                </a:solidFill>
                <a:latin typeface="Calibri"/>
              </a:rPr>
              <a:t>• ANALYST RELATIONS: Pre-brief with Gartner, Forrester, IDC before public launch. Target: inclusion in next Magic Quadrant as AI innovation leader.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72727"/>
            <a:ext cx="10728655" cy="306705"/>
          </a:xfrm>
          <a:prstGeom prst="rect">
            <a:avLst/>
          </a:prstGeom>
          <a:noFill/>
        </p:spPr>
        <p:txBody>
          <a:bodyPr wrap="square">
            <a:spAutoFit/>
          </a:bodyPr>
          <a:lstStyle/>
          <a:p>
            <a:r>
              <a:rPr sz="4000" b="1">
                <a:solidFill>
                  <a:srgbClr val="171717"/>
                </a:solidFill>
                <a:latin typeface="Calibri"/>
              </a:rPr>
              <a:t>Customer Testimonial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728655" cy="1040130"/>
          </a:xfrm>
          <a:prstGeom prst="rect">
            <a:avLst/>
          </a:prstGeom>
          <a:noFill/>
        </p:spPr>
        <p:txBody>
          <a:bodyPr wrap="square">
            <a:spAutoFit/>
          </a:bodyPr>
          <a:lstStyle/>
          <a:p>
            <a:r>
              <a:rPr sz="4000" b="1">
                <a:solidFill>
                  <a:srgbClr val="171717"/>
                </a:solidFill>
                <a:latin typeface="Calibri"/>
              </a:rPr>
              <a:t>AI Copilot Suite: Enterprise AI That Works on Day One</a:t>
            </a:r>
          </a:p>
        </p:txBody>
      </p:sp>
      <p:sp>
        <p:nvSpPr>
          <p:cNvPr id="3" name="TextBox 2"/>
          <p:cNvSpPr txBox="1"/>
          <p:nvPr/>
        </p:nvSpPr>
        <p:spPr>
          <a:xfrm>
            <a:off x="731520" y="1817369"/>
            <a:ext cx="10728655" cy="2747010"/>
          </a:xfrm>
          <a:prstGeom prst="rect">
            <a:avLst/>
          </a:prstGeom>
          <a:noFill/>
        </p:spPr>
        <p:txBody>
          <a:bodyPr wrap="square">
            <a:spAutoFit/>
          </a:bodyPr>
          <a:lstStyle/>
          <a:p>
            <a:r>
              <a:rPr sz="1600" b="0">
                <a:solidFill>
                  <a:srgbClr val="171717"/>
                </a:solidFill>
                <a:latin typeface="Calibri"/>
              </a:rPr>
              <a:t>Launch: May 15, 2026 | 4,200 Customers | $42M Year 1 Revenue Target</a:t>
            </a:r>
            <a:br/>
            <a:br/>
            <a:r>
              <a:t>Key Dates:</a:t>
            </a:r>
            <a:br/>
            <a:r>
              <a:t>- April 1: Private beta expansion (500 customers)</a:t>
            </a:r>
            <a:br/>
            <a:r>
              <a:t>- May 15: Public launch (core features, all customers)</a:t>
            </a:r>
            <a:br/>
            <a:r>
              <a:t>- July 1: Advanced AI GA + new pricing tiers</a:t>
            </a:r>
            <a:br/>
            <a:r>
              <a:t>- September 1: Custom models + AI Marketplace</a:t>
            </a:r>
            <a:br/>
            <a:br/>
            <a:r>
              <a:t>nexussystems.com/ai | ai-copilot@nexussystems.com</a:t>
            </a:r>
            <a:br/>
            <a:br/>
            <a:r>
              <a:t>Nexus Systems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