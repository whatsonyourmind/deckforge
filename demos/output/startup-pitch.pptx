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Market Size ($B)</c:v>
                </c:pt>
              </c:strCache>
            </c:strRef>
          </c:tx>
          <c:spPr>
            <a:solidFill>
              <a:srgbClr val="7C3AED"/>
            </a:solidFill>
            <a:ln>
              <a:solidFill>
                <a:srgbClr val="7C3AED"/>
              </a:solidFill>
            </a:ln>
          </c:spPr>
          <c:cat>
            <c:strRef>
              <c:f>Sheet1!$A$2:$A$4</c:f>
              <c:strCache>
                <c:ptCount val="3"/>
                <c:pt idx="0">
                  <c:v>TAM</c:v>
                </c:pt>
                <c:pt idx="1">
                  <c:v>SAM</c:v>
                </c:pt>
                <c:pt idx="2">
                  <c:v>SOM (2029)</c:v>
                </c:pt>
              </c:strCache>
            </c:strRef>
          </c:cat>
          <c:val>
            <c:numRef>
              <c:f>Sheet1!$B$2:$B$4</c:f>
              <c:numCache>
                <c:formatCode>General</c:formatCode>
                <c:ptCount val="3"/>
                <c:pt idx="0">
                  <c:v>28.4</c:v>
                </c:pt>
                <c:pt idx="1">
                  <c:v>8.6</c:v>
                </c:pt>
                <c:pt idx="2">
                  <c:v>1.2</c:v>
                </c:pt>
              </c:numCache>
            </c:numRef>
          </c:val>
        </c:ser>
        <c:axId val="-2068027336"/>
        <c:axId val="-2113994440"/>
      </c:barChart>
      <c:catAx>
        <c:axId val="-2068027336"/>
        <c:scaling>
          <c:orientation val="minMax"/>
        </c:scaling>
        <c:delete val="0"/>
        <c:axPos val="b"/>
        <c:majorTickMark val="out"/>
        <c:minorTickMark val="none"/>
        <c:tickLblPos val="nextTo"/>
        <c:txPr>
          <a:bodyPr/>
          <a:lstStyle/>
          <a:p>
            <a:pPr>
              <a:defRPr sz="1400">
                <a:latin typeface="Poppins"/>
              </a:defRPr>
            </a:pPr>
          </a:p>
        </c:txPr>
        <c:crossAx val="-2113994440"/>
        <c:crosses val="autoZero"/>
        <c:auto val="1"/>
        <c:lblAlgn val="ctr"/>
        <c:lblOffset val="100"/>
        <c:noMultiLvlLbl val="0"/>
      </c:catAx>
      <c:valAx>
        <c:axId val="-2113994440"/>
        <c:scaling/>
        <c:delete val="0"/>
        <c:axPos val="l"/>
        <c:majorGridlines/>
        <c:majorTickMark val="out"/>
        <c:minorTickMark val="none"/>
        <c:tickLblPos val="nextTo"/>
        <c:txPr>
          <a:bodyPr/>
          <a:lstStyle/>
          <a:p>
            <a:pPr>
              <a:defRPr sz="1400">
                <a:latin typeface="Poppins"/>
              </a:defRPr>
            </a:pPr>
          </a:p>
        </c:txPr>
        <c:crossAx val="-2068027336"/>
        <c:crosses val="autoZero"/>
      </c:valAx>
    </c:plotArea>
    <c:legend>
      <c:legendPos val="b"/>
      <c:overlay val="0"/>
      <c:txPr>
        <a:bodyPr/>
        <a:lstStyle/>
        <a:p>
          <a:pPr>
            <a:defRPr sz="1400">
              <a:latin typeface="Poppins"/>
            </a:defRPr>
          </a:pPr>
        </a:p>
      </c:txPr>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ARR ($M)</c:v>
                </c:pt>
              </c:strCache>
            </c:strRef>
          </c:tx>
          <c:spPr>
            <a:solidFill>
              <a:srgbClr val="7C3AED"/>
            </a:solidFill>
            <a:ln>
              <a:solidFill>
                <a:srgbClr val="7C3AED"/>
              </a:solidFill>
            </a:ln>
          </c:spPr>
          <c:cat>
            <c:strRef>
              <c:f>Sheet1!$A$2:$A$13</c:f>
              <c:strCache>
                <c:ptCount val="12"/>
                <c:pt idx="0">
                  <c:v>Q1'25</c:v>
                </c:pt>
                <c:pt idx="1">
                  <c:v>Q2'25</c:v>
                </c:pt>
                <c:pt idx="2">
                  <c:v>Q3'25</c:v>
                </c:pt>
                <c:pt idx="3">
                  <c:v>Q4'25</c:v>
                </c:pt>
                <c:pt idx="4">
                  <c:v>Q1'26</c:v>
                </c:pt>
                <c:pt idx="5">
                  <c:v>Q2'26E</c:v>
                </c:pt>
                <c:pt idx="6">
                  <c:v>Q3'26E</c:v>
                </c:pt>
                <c:pt idx="7">
                  <c:v>Q4'26E</c:v>
                </c:pt>
                <c:pt idx="8">
                  <c:v>Q1'27E</c:v>
                </c:pt>
                <c:pt idx="9">
                  <c:v>Q2'27E</c:v>
                </c:pt>
                <c:pt idx="10">
                  <c:v>Q3'27E</c:v>
                </c:pt>
                <c:pt idx="11">
                  <c:v>Q4'27E</c:v>
                </c:pt>
              </c:strCache>
            </c:strRef>
          </c:cat>
          <c:val>
            <c:numRef>
              <c:f>Sheet1!$B$2:$B$13</c:f>
              <c:numCache>
                <c:formatCode>General</c:formatCode>
                <c:ptCount val="12"/>
                <c:pt idx="0">
                  <c:v>0.42</c:v>
                </c:pt>
                <c:pt idx="1">
                  <c:v>0.95</c:v>
                </c:pt>
                <c:pt idx="2">
                  <c:v>2.1</c:v>
                </c:pt>
                <c:pt idx="3">
                  <c:v>3.2</c:v>
                </c:pt>
                <c:pt idx="4">
                  <c:v>4.8</c:v>
                </c:pt>
                <c:pt idx="5">
                  <c:v>7.2</c:v>
                </c:pt>
                <c:pt idx="6">
                  <c:v>10.5</c:v>
                </c:pt>
                <c:pt idx="7">
                  <c:v>14.8</c:v>
                </c:pt>
                <c:pt idx="8">
                  <c:v>20.1</c:v>
                </c:pt>
                <c:pt idx="9">
                  <c:v>26.8</c:v>
                </c:pt>
                <c:pt idx="10">
                  <c:v>35.2</c:v>
                </c:pt>
                <c:pt idx="11">
                  <c:v>48.6</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txPr>
          <a:bodyPr/>
          <a:lstStyle/>
          <a:p>
            <a:pPr>
              <a:defRPr sz="1400">
                <a:latin typeface="Poppins"/>
              </a:defRPr>
            </a:pPr>
          </a:p>
        </c:txPr>
        <c:crossAx val="2140495176"/>
        <c:crosses val="autoZero"/>
        <c:auto val="1"/>
        <c:lblAlgn val="ctr"/>
        <c:lblOffset val="100"/>
        <c:noMultiLvlLbl val="0"/>
      </c:catAx>
      <c:valAx>
        <c:axId val="2140495176"/>
        <c:scaling/>
        <c:delete val="0"/>
        <c:axPos val="l"/>
        <c:majorGridlines/>
        <c:majorTickMark val="out"/>
        <c:minorTickMark val="none"/>
        <c:tickLblPos val="nextTo"/>
        <c:txPr>
          <a:bodyPr/>
          <a:lstStyle/>
          <a:p>
            <a:pPr>
              <a:defRPr sz="1400">
                <a:latin typeface="Poppins"/>
              </a:defRPr>
            </a:pPr>
          </a:p>
        </c:txPr>
        <c:crossAx val="2118791784"/>
        <c:crosses val="autoZero"/>
      </c:valAx>
    </c:plotArea>
    <c:legend>
      <c:legendPos val="b"/>
      <c:layout/>
      <c:overlay val="0"/>
      <c:txPr>
        <a:bodyPr/>
        <a:lstStyle/>
        <a:p>
          <a:pPr>
            <a:defRPr sz="1400">
              <a:latin typeface="Poppins"/>
            </a:defRPr>
          </a:pPr>
        </a:p>
      </c:txPr>
    </c:legend>
    <c:plotVisOnly val="1"/>
    <c:dispBlanksAs val="gap"/>
    <c:showDLblsOverMax val="0"/>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for making time today. OptiChain uses machine learning to solve the $2.3 trillion supply chain waste problem. We have 47 customers, $4.8M ARR growing 220% year-over-year, and we are raising $18M to scale.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not hypothetical numbers. Our customers confirmed them during discovery. One $500M manufacturer was carrying $180M in excess inventory -- 130 days of supply -- because they did not trust their forecasting system. They were right not to trust 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key technical insight: demand signals are sequential time series with external covariates. Transformers -- the same architecture behind GPT -- excel at exactly this pattern. We fine-tune a foundation model per customer with their historical data, achieving 12% MAPE vs. 38% industry average.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are targeting the mid-market deliberately. Enterprise is dominated by Blue Yonder and Kinaxis with 3-year implementations. SMB cannot afford dedicated supply chain software. Mid-market manufacturers are underserved and have the pain -- they have complex supply chains but no dedicated planning tools.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Demand Intelligence is the entry product -- it sells the vision and generates immediate ROI. Inventory Optimizer is the expansion product -- it drives deeper integration and higher ACV. 72% of customers who start with Demand Intelligence add Inventory Optimizer within 12 months.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trajectory speaks for itself: $0 to $4.8M ARR in 18 months, with net revenue retention of 142%. We are not just acquiring customers -- we are expanding within them. The average customer has increased their contract value 42% after the first year.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project reaching $48.6M ARR by Q4 2027 -- roughly 10x from current. This assumes we grow the sales team from 6 to 24 reps, each ramping to $2M+ quota. Our current reps are producing $1.8M per head at full ramp, and our win rate is 38% against legacy incumbents.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team has built and scaled the exact systems we are competing against. Sarah built Amazon's forecasting platform. Raj designed Blue Yonder's ML models. Marcus sold Kinaxis to the same buyer persona. We did not just study the problem -- we built the previous generation of solutions and know exactly where they fall short.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$18M gets us to $50M ARR with 18 months of runway. At that point we are either raising a Series B at $500M+ valuation or we are cash-flow positive. 45% goes to sales because we have proven product-market fit -- the bottleneck is distribution, not product.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are solving a $2.3 trillion problem with technology that is 3x more accurate than incumbent solutions. We have the team that built the last generation, the product-market fit metrics to prove demand, and the capital efficiency to reach $50M ARR on this round. We would love to have you join us.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4C1D95"/>
        </a:solidFill>
        <a:effectLst/>
      </p:bgPr>
    </p:bg>
    <p:spTree>
      <p:nvGrpSpPr>
        <p:cNvPr id="1" name=""/>
        <p:cNvGrpSpPr/>
        <p:nvPr/>
      </p:nvGrpSpPr>
      <p:grpSpPr/>
      <p:sp>
        <p:nvSpPr>
          <p:cNvPr id="2" name="TextBox 1"/>
          <p:cNvSpPr txBox="1"/>
          <p:nvPr/>
        </p:nvSpPr>
        <p:spPr>
          <a:xfrm>
            <a:off x="685800" y="1966912"/>
            <a:ext cx="10820095" cy="546735"/>
          </a:xfrm>
          <a:prstGeom prst="rect">
            <a:avLst/>
          </a:prstGeom>
          <a:noFill/>
        </p:spPr>
        <p:txBody>
          <a:bodyPr wrap="square">
            <a:spAutoFit/>
          </a:bodyPr>
          <a:lstStyle/>
          <a:p>
            <a:r>
              <a:rPr sz="4400" b="1">
                <a:solidFill>
                  <a:srgbClr val="18181B"/>
                </a:solidFill>
                <a:latin typeface="Calibri"/>
              </a:rPr>
              <a:t>OptiChain</a:t>
            </a:r>
          </a:p>
        </p:txBody>
      </p:sp>
      <p:sp>
        <p:nvSpPr>
          <p:cNvPr id="3" name="TextBox 2"/>
          <p:cNvSpPr txBox="1"/>
          <p:nvPr/>
        </p:nvSpPr>
        <p:spPr>
          <a:xfrm>
            <a:off x="685800" y="2970847"/>
            <a:ext cx="10820095" cy="280035"/>
          </a:xfrm>
          <a:prstGeom prst="rect">
            <a:avLst/>
          </a:prstGeom>
          <a:noFill/>
        </p:spPr>
        <p:txBody>
          <a:bodyPr wrap="square">
            <a:spAutoFit/>
          </a:bodyPr>
          <a:lstStyle/>
          <a:p>
            <a:r>
              <a:rPr sz="2200" b="1">
                <a:solidFill>
                  <a:srgbClr val="18181B"/>
                </a:solidFill>
                <a:latin typeface="Calibri"/>
              </a:rPr>
              <a:t>AI-Powered Supply Chain Optimization | Series A | $18M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57200"/>
            <a:ext cx="10820095" cy="466724"/>
          </a:xfrm>
          <a:prstGeom prst="rect">
            <a:avLst/>
          </a:prstGeom>
          <a:noFill/>
        </p:spPr>
        <p:txBody>
          <a:bodyPr wrap="square">
            <a:spAutoFit/>
          </a:bodyPr>
          <a:lstStyle/>
          <a:p>
            <a:r>
              <a:rPr sz="4400" b="1">
                <a:solidFill>
                  <a:srgbClr val="18181B"/>
                </a:solidFill>
                <a:latin typeface="Calibri"/>
              </a:rPr>
              <a:t>The Problem: $2.3T in Supply Chain Waste</a:t>
            </a:r>
          </a:p>
        </p:txBody>
      </p:sp>
      <p:sp>
        <p:nvSpPr>
          <p:cNvPr id="3" name="TextBox 2"/>
          <p:cNvSpPr txBox="1"/>
          <p:nvPr/>
        </p:nvSpPr>
        <p:spPr>
          <a:xfrm>
            <a:off x="685800" y="1289685"/>
            <a:ext cx="10820095" cy="3376422"/>
          </a:xfrm>
          <a:prstGeom prst="rect">
            <a:avLst/>
          </a:prstGeom>
          <a:noFill/>
        </p:spPr>
        <p:txBody>
          <a:bodyPr wrap="square">
            <a:spAutoFit/>
          </a:bodyPr>
          <a:lstStyle/>
          <a:p>
            <a:pPr/>
            <a:r>
              <a:rPr sz="1800">
                <a:solidFill>
                  <a:srgbClr val="18181B"/>
                </a:solidFill>
                <a:latin typeface="Calibri"/>
              </a:rPr>
              <a:t>• Manufacturers lose $2.3 trillion annually to supply chain inefficiencies -- excess inventory, stockouts, and demand forecasting errors</a:t>
            </a:r>
          </a:p>
          <a:p>
            <a:pPr/>
            <a:r>
              <a:rPr sz="1800">
                <a:solidFill>
                  <a:srgbClr val="18181B"/>
                </a:solidFill>
                <a:latin typeface="Calibri"/>
              </a:rPr>
              <a:t>• Current forecasting tools use statistical models built in the 1990s (exponential smoothing, ARIMA) with 35-45% error rates on SKU-level predictions</a:t>
            </a:r>
          </a:p>
          <a:p>
            <a:pPr/>
            <a:r>
              <a:rPr sz="1800">
                <a:solidFill>
                  <a:srgbClr val="18181B"/>
                </a:solidFill>
                <a:latin typeface="Calibri"/>
              </a:rPr>
              <a:t>• The average manufacturer carries 67 days of inventory -- top performers carry 28 days. That gap is $840B in trapped working capital globally</a:t>
            </a:r>
          </a:p>
          <a:p>
            <a:pPr/>
            <a:r>
              <a:rPr sz="1800">
                <a:solidFill>
                  <a:srgbClr val="18181B"/>
                </a:solidFill>
                <a:latin typeface="Calibri"/>
              </a:rPr>
              <a:t>• Supply chain disruptions increased 4x since 2020 (COVID, Suez Canal, chip shortage, Red Sea). Static models cannot adapt to volatility</a:t>
            </a:r>
          </a:p>
          <a:p>
            <a:pPr/>
            <a:r>
              <a:rPr sz="1800">
                <a:solidFill>
                  <a:srgbClr val="18181B"/>
                </a:solidFill>
                <a:latin typeface="Calibri"/>
              </a:rPr>
              <a:t>• Supply chain planners spend 60% of their time in spreadsheets manually adjusting forecasts -- not optimizing strategy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57200"/>
            <a:ext cx="10820095" cy="440055"/>
          </a:xfrm>
          <a:prstGeom prst="rect">
            <a:avLst/>
          </a:prstGeom>
          <a:noFill/>
        </p:spPr>
        <p:txBody>
          <a:bodyPr wrap="square">
            <a:spAutoFit/>
          </a:bodyPr>
          <a:lstStyle/>
          <a:p>
            <a:r>
              <a:rPr sz="4400" b="1">
                <a:solidFill>
                  <a:srgbClr val="18181B"/>
                </a:solidFill>
                <a:latin typeface="Calibri"/>
              </a:rPr>
              <a:t>The Solution: ML-Driven Demand Intelligence</a:t>
            </a:r>
          </a:p>
        </p:txBody>
      </p:sp>
      <p:sp>
        <p:nvSpPr>
          <p:cNvPr id="3" name="TextBox 2"/>
          <p:cNvSpPr txBox="1"/>
          <p:nvPr/>
        </p:nvSpPr>
        <p:spPr>
          <a:xfrm>
            <a:off x="685800" y="1263014"/>
            <a:ext cx="10820095" cy="3344418"/>
          </a:xfrm>
          <a:prstGeom prst="rect">
            <a:avLst/>
          </a:prstGeom>
          <a:noFill/>
        </p:spPr>
        <p:txBody>
          <a:bodyPr wrap="square">
            <a:spAutoFit/>
          </a:bodyPr>
          <a:lstStyle/>
          <a:p>
            <a:pPr/>
            <a:r>
              <a:rPr sz="1800">
                <a:solidFill>
                  <a:srgbClr val="18181B"/>
                </a:solidFill>
                <a:latin typeface="Calibri"/>
              </a:rPr>
              <a:t>• Proprietary transformer-based demand forecasting model trained on 2.8B data points across 14 manufacturing verticals -- 12% error rate vs. industry 38%</a:t>
            </a:r>
          </a:p>
          <a:p>
            <a:pPr/>
            <a:r>
              <a:rPr sz="1800">
                <a:solidFill>
                  <a:srgbClr val="18181B"/>
                </a:solidFill>
                <a:latin typeface="Calibri"/>
              </a:rPr>
              <a:t>• Autonomous inventory optimization: multi-echelon reorder points, safety stock, and allocation computed continuously, not quarterly</a:t>
            </a:r>
          </a:p>
          <a:p>
            <a:pPr/>
            <a:r>
              <a:rPr sz="1800">
                <a:solidFill>
                  <a:srgbClr val="18181B"/>
                </a:solidFill>
                <a:latin typeface="Calibri"/>
              </a:rPr>
              <a:t>• External signal ingestion: weather, port congestion, commodity prices, social sentiment, and 140+ real-time data feeds auto-integrated</a:t>
            </a:r>
          </a:p>
          <a:p>
            <a:pPr/>
            <a:r>
              <a:rPr sz="1800">
                <a:solidFill>
                  <a:srgbClr val="18181B"/>
                </a:solidFill>
                <a:latin typeface="Calibri"/>
              </a:rPr>
              <a:t>• Prescriptive recommendations: not just 'what will happen' but 'what to do' -- reroute shipments, adjust production schedules, pre-position inventory</a:t>
            </a:r>
          </a:p>
          <a:p>
            <a:pPr/>
            <a:r>
              <a:rPr sz="1800">
                <a:solidFill>
                  <a:srgbClr val="18181B"/>
                </a:solidFill>
                <a:latin typeface="Calibri"/>
              </a:rPr>
              <a:t>• Deploys in 6 weeks (not 18 months like legacy ERP add-ons). Connects to SAP, Oracle, NetSuite via pre-built connectors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57200"/>
            <a:ext cx="10820095" cy="440055"/>
          </a:xfrm>
          <a:prstGeom prst="rect">
            <a:avLst/>
          </a:prstGeom>
          <a:noFill/>
        </p:spPr>
        <p:txBody>
          <a:bodyPr wrap="square">
            <a:spAutoFit/>
          </a:bodyPr>
          <a:lstStyle/>
          <a:p>
            <a:r>
              <a:rPr sz="4400" b="1">
                <a:solidFill>
                  <a:srgbClr val="18181B"/>
                </a:solidFill>
                <a:latin typeface="Calibri"/>
              </a:rPr>
              <a:t>Market Opportunity: TAM / SAM / SOM</a:t>
            </a:r>
          </a:p>
        </p:txBody>
      </p:sp>
      <p:graphicFrame>
        <p:nvGraphicFramePr>
          <p:cNvPr id="3" name="Chart 2"/>
          <p:cNvGraphicFramePr>
            <a:graphicFrameLocks noGrp="1"/>
          </p:cNvGraphicFramePr>
          <p:nvPr/>
        </p:nvGraphicFramePr>
        <p:xfrm>
          <a:off x="685800" y="1080135"/>
          <a:ext cx="10820095" cy="3657600"/>
        </p:xfrm>
        <a:graphic>
          <a:graphicData uri="http://schemas.openxmlformats.org/drawingml/2006/chart">
            <c:chart xmlns:c="http://schemas.openxmlformats.org/drawingml/2006/chart" r:id="rId2"/>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57200"/>
            <a:ext cx="10820095" cy="346710"/>
          </a:xfrm>
          <a:prstGeom prst="rect">
            <a:avLst/>
          </a:prstGeom>
          <a:noFill/>
        </p:spPr>
        <p:txBody>
          <a:bodyPr wrap="square">
            <a:spAutoFit/>
          </a:bodyPr>
          <a:lstStyle/>
          <a:p>
            <a:r>
              <a:rPr sz="4400" b="1">
                <a:solidFill>
                  <a:srgbClr val="18181B"/>
                </a:solidFill>
                <a:latin typeface="Calibri"/>
              </a:rPr>
              <a:t>Product: Two Core Modules</a:t>
            </a:r>
          </a:p>
        </p:txBody>
      </p:sp>
      <p:sp>
        <p:nvSpPr>
          <p:cNvPr id="3" name="TextBox 2"/>
          <p:cNvSpPr txBox="1"/>
          <p:nvPr/>
        </p:nvSpPr>
        <p:spPr>
          <a:xfrm>
            <a:off x="685800" y="457200"/>
            <a:ext cx="10820095" cy="346710"/>
          </a:xfrm>
          <a:prstGeom prst="rect">
            <a:avLst/>
          </a:prstGeom>
          <a:noFill/>
        </p:spPr>
        <p:txBody>
          <a:bodyPr wrap="square">
            <a:spAutoFit/>
          </a:bodyPr>
          <a:lstStyle/>
          <a:p>
            <a:r>
              <a:rPr sz="3600" b="1">
                <a:solidFill>
                  <a:srgbClr val="18181B"/>
                </a:solidFill>
                <a:latin typeface="Calibri"/>
              </a:rPr>
              <a:t>Demand Intelligence</a:t>
            </a:r>
          </a:p>
        </p:txBody>
      </p:sp>
      <p:sp>
        <p:nvSpPr>
          <p:cNvPr id="4" name="TextBox 3"/>
          <p:cNvSpPr txBox="1"/>
          <p:nvPr/>
        </p:nvSpPr>
        <p:spPr>
          <a:xfrm>
            <a:off x="685800" y="457200"/>
            <a:ext cx="10820095" cy="346710"/>
          </a:xfrm>
          <a:prstGeom prst="rect">
            <a:avLst/>
          </a:prstGeom>
          <a:noFill/>
        </p:spPr>
        <p:txBody>
          <a:bodyPr wrap="square">
            <a:spAutoFit/>
          </a:bodyPr>
          <a:lstStyle/>
          <a:p>
            <a:r>
              <a:rPr sz="3600" b="1">
                <a:solidFill>
                  <a:srgbClr val="18181B"/>
                </a:solidFill>
                <a:latin typeface="Calibri"/>
              </a:rPr>
              <a:t>Inventory Optimizer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57200"/>
            <a:ext cx="10820095" cy="346710"/>
          </a:xfrm>
          <a:prstGeom prst="rect">
            <a:avLst/>
          </a:prstGeom>
          <a:noFill/>
        </p:spPr>
        <p:txBody>
          <a:bodyPr wrap="square">
            <a:spAutoFit/>
          </a:bodyPr>
          <a:lstStyle/>
          <a:p>
            <a:r>
              <a:rPr sz="4400" b="1">
                <a:solidFill>
                  <a:srgbClr val="18181B"/>
                </a:solidFill>
                <a:latin typeface="Calibri"/>
              </a:rPr>
              <a:t>Traction: 18 Months of Momentum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57200"/>
            <a:ext cx="10820095" cy="466724"/>
          </a:xfrm>
          <a:prstGeom prst="rect">
            <a:avLst/>
          </a:prstGeom>
          <a:noFill/>
        </p:spPr>
        <p:txBody>
          <a:bodyPr wrap="square">
            <a:spAutoFit/>
          </a:bodyPr>
          <a:lstStyle/>
          <a:p>
            <a:r>
              <a:rPr sz="4400" b="1">
                <a:solidFill>
                  <a:srgbClr val="18181B"/>
                </a:solidFill>
                <a:latin typeface="Calibri"/>
              </a:rPr>
              <a:t>Revenue Projections: Path to $50M ARR</a:t>
            </a:r>
          </a:p>
        </p:txBody>
      </p:sp>
      <p:graphicFrame>
        <p:nvGraphicFramePr>
          <p:cNvPr id="3" name="Chart 2"/>
          <p:cNvGraphicFramePr>
            <a:graphicFrameLocks noGrp="1"/>
          </p:cNvGraphicFramePr>
          <p:nvPr/>
        </p:nvGraphicFramePr>
        <p:xfrm>
          <a:off x="685800" y="1106805"/>
          <a:ext cx="10820095" cy="3657600"/>
        </p:xfrm>
        <a:graphic>
          <a:graphicData uri="http://schemas.openxmlformats.org/drawingml/2006/chart">
            <c:chart xmlns:c="http://schemas.openxmlformats.org/drawingml/2006/chart" r:id="rId2"/>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57200"/>
            <a:ext cx="10820095" cy="440055"/>
          </a:xfrm>
          <a:prstGeom prst="rect">
            <a:avLst/>
          </a:prstGeom>
          <a:noFill/>
        </p:spPr>
        <p:txBody>
          <a:bodyPr wrap="square">
            <a:spAutoFit/>
          </a:bodyPr>
          <a:lstStyle/>
          <a:p>
            <a:r>
              <a:rPr sz="4400" b="1">
                <a:solidFill>
                  <a:srgbClr val="18181B"/>
                </a:solidFill>
                <a:latin typeface="Calibri"/>
              </a:rPr>
              <a:t>Leadership Team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57200"/>
            <a:ext cx="10820095" cy="466724"/>
          </a:xfrm>
          <a:prstGeom prst="rect">
            <a:avLst/>
          </a:prstGeom>
          <a:noFill/>
        </p:spPr>
        <p:txBody>
          <a:bodyPr wrap="square">
            <a:spAutoFit/>
          </a:bodyPr>
          <a:lstStyle/>
          <a:p>
            <a:r>
              <a:rPr sz="4400" b="1">
                <a:solidFill>
                  <a:srgbClr val="18181B"/>
                </a:solidFill>
                <a:latin typeface="Calibri"/>
              </a:rPr>
              <a:t>Series A: $18M Funding Ask</a:t>
            </a:r>
          </a:p>
        </p:txBody>
      </p:sp>
      <p:graphicFrame>
        <p:nvGraphicFramePr>
          <p:cNvPr id="3" name="Table 2"/>
          <p:cNvGraphicFramePr>
            <a:graphicFrameLocks noGrp="1"/>
          </p:cNvGraphicFramePr>
          <p:nvPr/>
        </p:nvGraphicFramePr>
        <p:xfrm>
          <a:off x="685800" y="1106805"/>
          <a:ext cx="10820093" cy="3657600"/>
        </p:xfrm>
        <a:graphic>
          <a:graphicData uri="http://schemas.openxmlformats.org/drawingml/2006/table">
            <a:tbl>
              <a:tblPr firstRow="1" bandRow="1">
                <a:tableStyleId>{5C22544A-7EE6-4342-B048-85BDC9FD1C3A}</a:tableStyleId>
              </a:tblPr>
              <a:tblGrid>
                <a:gridCol w="3246028"/>
                <a:gridCol w="2975526"/>
                <a:gridCol w="2705023"/>
                <a:gridCol w="1893516"/>
              </a:tblGrid>
              <a:tr h="609600">
                <a:tc>
                  <a:txBody>
                    <a:bodyPr/>
                    <a:lstStyle/>
                    <a:p>
                      <a:r>
                        <a:rPr sz="1400" b="1">
                          <a:solidFill>
                            <a:srgbClr val="FFFFFF"/>
                          </a:solidFill>
                          <a:latin typeface="Calibri"/>
                        </a:rPr>
                        <a:t>Use of Funds</a:t>
                      </a:r>
                    </a:p>
                  </a:txBody>
                  <a:tcPr>
                    <a:solidFill>
                      <a:srgbClr val="7C3AED"/>
                    </a:solidFill>
                  </a:tcPr>
                </a:tc>
                <a:tc>
                  <a:txBody>
                    <a:bodyPr/>
                    <a:lstStyle/>
                    <a:p>
                      <a:r>
                        <a:rPr sz="1400" b="1">
                          <a:solidFill>
                            <a:srgbClr val="FFFFFF"/>
                          </a:solidFill>
                          <a:latin typeface="Calibri"/>
                        </a:rPr>
                        <a:t>Amount ($M)</a:t>
                      </a:r>
                    </a:p>
                  </a:txBody>
                  <a:tcPr>
                    <a:solidFill>
                      <a:srgbClr val="7C3AED"/>
                    </a:solidFill>
                  </a:tcPr>
                </a:tc>
                <a:tc>
                  <a:txBody>
                    <a:bodyPr/>
                    <a:lstStyle/>
                    <a:p>
                      <a:r>
                        <a:rPr sz="1400" b="1">
                          <a:solidFill>
                            <a:srgbClr val="FFFFFF"/>
                          </a:solidFill>
                          <a:latin typeface="Calibri"/>
                        </a:rPr>
                        <a:t>% of Round</a:t>
                      </a:r>
                    </a:p>
                  </a:txBody>
                  <a:tcPr>
                    <a:solidFill>
                      <a:srgbClr val="7C3AED"/>
                    </a:solidFill>
                  </a:tcPr>
                </a:tc>
                <a:tc>
                  <a:txBody>
                    <a:bodyPr/>
                    <a:lstStyle/>
                    <a:p>
                      <a:r>
                        <a:rPr sz="1400" b="1">
                          <a:solidFill>
                            <a:srgbClr val="FFFFFF"/>
                          </a:solidFill>
                          <a:latin typeface="Calibri"/>
                        </a:rPr>
                        <a:t>Outcome</a:t>
                      </a:r>
                    </a:p>
                  </a:txBody>
                  <a:tcPr>
                    <a:solidFill>
                      <a:srgbClr val="7C3AED"/>
                    </a:solidFill>
                  </a:tcPr>
                </a:tc>
              </a:tr>
              <a:tr h="609600">
                <a:tc>
                  <a:txBody>
                    <a:bodyPr/>
                    <a:lstStyle/>
                    <a:p>
                      <a:pPr algn="l"/>
                      <a:r>
                        <a:rPr sz="1400" b="0">
                          <a:solidFill>
                            <a:srgbClr val="18181B"/>
                          </a:solidFill>
                          <a:latin typeface="Calibri"/>
                        </a:rPr>
                        <a:t>Sales &amp; Marketing</a:t>
                      </a:r>
                    </a:p>
                  </a:txBody>
                  <a:tcPr>
                    <a:solidFill>
                      <a:srgbClr val="FAFAFA"/>
                    </a:solidFill>
                  </a:tcPr>
                </a:tc>
                <a:tc>
                  <a:txBody>
                    <a:bodyPr/>
                    <a:lstStyle/>
                    <a:p>
                      <a:pPr algn="r"/>
                      <a:r>
                        <a:rPr sz="1400" b="0">
                          <a:solidFill>
                            <a:srgbClr val="18181B"/>
                          </a:solidFill>
                          <a:latin typeface="Calibri"/>
                        </a:rPr>
                        <a:t>8.1</a:t>
                      </a:r>
                    </a:p>
                  </a:txBody>
                  <a:tcPr>
                    <a:solidFill>
                      <a:srgbClr val="FAFAFA"/>
                    </a:solidFill>
                  </a:tcPr>
                </a:tc>
                <a:tc>
                  <a:txBody>
                    <a:bodyPr/>
                    <a:lstStyle/>
                    <a:p>
                      <a:pPr algn="r"/>
                      <a:r>
                        <a:rPr sz="1400" b="0">
                          <a:solidFill>
                            <a:srgbClr val="18181B"/>
                          </a:solidFill>
                          <a:latin typeface="Calibri"/>
                        </a:rPr>
                        <a:t>45%</a:t>
                      </a:r>
                    </a:p>
                  </a:txBody>
                  <a:tcPr>
                    <a:solidFill>
                      <a:srgbClr val="FAFAFA"/>
                    </a:solidFill>
                  </a:tcPr>
                </a:tc>
                <a:tc>
                  <a:txBody>
                    <a:bodyPr/>
                    <a:lstStyle/>
                    <a:p>
                      <a:pPr algn="l"/>
                      <a:r>
                        <a:rPr sz="1400" b="0">
                          <a:solidFill>
                            <a:srgbClr val="18181B"/>
                          </a:solidFill>
                          <a:latin typeface="Calibri"/>
                        </a:rPr>
                        <a:t>Grow from 6 to 24 AEs; scale demand gen to 200 SQLs/quarter</a:t>
                      </a:r>
                    </a:p>
                  </a:txBody>
                  <a:tcPr>
                    <a:solidFill>
                      <a:srgbClr val="FAFAFA"/>
                    </a:solidFill>
                  </a:tcPr>
                </a:tc>
              </a:tr>
              <a:tr h="609600">
                <a:tc>
                  <a:txBody>
                    <a:bodyPr/>
                    <a:lstStyle/>
                    <a:p>
                      <a:pPr algn="l"/>
                      <a:r>
                        <a:rPr sz="1400" b="0">
                          <a:solidFill>
                            <a:srgbClr val="18181B"/>
                          </a:solidFill>
                          <a:latin typeface="Calibri"/>
                        </a:rPr>
                        <a:t>R&amp;D / Engineering</a:t>
                      </a:r>
                    </a:p>
                  </a:txBody>
                  <a:tcPr>
                    <a:solidFill>
                      <a:srgbClr val="FFFFFF"/>
                    </a:solidFill>
                  </a:tcPr>
                </a:tc>
                <a:tc>
                  <a:txBody>
                    <a:bodyPr/>
                    <a:lstStyle/>
                    <a:p>
                      <a:pPr algn="r"/>
                      <a:r>
                        <a:rPr sz="1400" b="0">
                          <a:solidFill>
                            <a:srgbClr val="18181B"/>
                          </a:solidFill>
                          <a:latin typeface="Calibri"/>
                        </a:rPr>
                        <a:t>5.4</a:t>
                      </a:r>
                    </a:p>
                  </a:txBody>
                  <a:tcPr>
                    <a:solidFill>
                      <a:srgbClr val="FFFFFF"/>
                    </a:solidFill>
                  </a:tcPr>
                </a:tc>
                <a:tc>
                  <a:txBody>
                    <a:bodyPr/>
                    <a:lstStyle/>
                    <a:p>
                      <a:pPr algn="r"/>
                      <a:r>
                        <a:rPr sz="1400" b="0">
                          <a:solidFill>
                            <a:srgbClr val="18181B"/>
                          </a:solidFill>
                          <a:latin typeface="Calibri"/>
                        </a:rPr>
                        <a:t>30%</a:t>
                      </a:r>
                    </a:p>
                  </a:txBody>
                  <a:tcPr>
                    <a:solidFill>
                      <a:srgbClr val="FFFFFF"/>
                    </a:solidFill>
                  </a:tcPr>
                </a:tc>
                <a:tc>
                  <a:txBody>
                    <a:bodyPr/>
                    <a:lstStyle/>
                    <a:p>
                      <a:pPr algn="l"/>
                      <a:r>
                        <a:rPr sz="1400" b="0">
                          <a:solidFill>
                            <a:srgbClr val="18181B"/>
                          </a:solidFill>
                          <a:latin typeface="Calibri"/>
                        </a:rPr>
                        <a:t>Hire 18 engineers; launch Supplier Collaboration module (Q2 2027)</a:t>
                      </a:r>
                    </a:p>
                  </a:txBody>
                  <a:tcPr>
                    <a:solidFill>
                      <a:srgbClr val="FFFFFF"/>
                    </a:solidFill>
                  </a:tcPr>
                </a:tc>
              </a:tr>
              <a:tr h="609600">
                <a:tc>
                  <a:txBody>
                    <a:bodyPr/>
                    <a:lstStyle/>
                    <a:p>
                      <a:pPr algn="l"/>
                      <a:r>
                        <a:rPr sz="1400" b="0">
                          <a:solidFill>
                            <a:srgbClr val="18181B"/>
                          </a:solidFill>
                          <a:latin typeface="Calibri"/>
                        </a:rPr>
                        <a:t>Customer Success</a:t>
                      </a:r>
                    </a:p>
                  </a:txBody>
                  <a:tcPr>
                    <a:solidFill>
                      <a:srgbClr val="FAFAFA"/>
                    </a:solidFill>
                  </a:tcPr>
                </a:tc>
                <a:tc>
                  <a:txBody>
                    <a:bodyPr/>
                    <a:lstStyle/>
                    <a:p>
                      <a:pPr algn="r"/>
                      <a:r>
                        <a:rPr sz="1400" b="0">
                          <a:solidFill>
                            <a:srgbClr val="18181B"/>
                          </a:solidFill>
                          <a:latin typeface="Calibri"/>
                        </a:rPr>
                        <a:t>2.7</a:t>
                      </a:r>
                    </a:p>
                  </a:txBody>
                  <a:tcPr>
                    <a:solidFill>
                      <a:srgbClr val="FAFAFA"/>
                    </a:solidFill>
                  </a:tcPr>
                </a:tc>
                <a:tc>
                  <a:txBody>
                    <a:bodyPr/>
                    <a:lstStyle/>
                    <a:p>
                      <a:pPr algn="r"/>
                      <a:r>
                        <a:rPr sz="1400" b="0">
                          <a:solidFill>
                            <a:srgbClr val="18181B"/>
                          </a:solidFill>
                          <a:latin typeface="Calibri"/>
                        </a:rPr>
                        <a:t>15%</a:t>
                      </a:r>
                    </a:p>
                  </a:txBody>
                  <a:tcPr>
                    <a:solidFill>
                      <a:srgbClr val="FAFAFA"/>
                    </a:solidFill>
                  </a:tcPr>
                </a:tc>
                <a:tc>
                  <a:txBody>
                    <a:bodyPr/>
                    <a:lstStyle/>
                    <a:p>
                      <a:pPr algn="l"/>
                      <a:r>
                        <a:rPr sz="1400" b="0">
                          <a:solidFill>
                            <a:srgbClr val="18181B"/>
                          </a:solidFill>
                          <a:latin typeface="Calibri"/>
                        </a:rPr>
                        <a:t>Scale CS team to 12; maintain 142% NRR through onboarding excellence</a:t>
                      </a:r>
                    </a:p>
                  </a:txBody>
                  <a:tcPr>
                    <a:solidFill>
                      <a:srgbClr val="FAFAFA"/>
                    </a:solidFill>
                  </a:tcPr>
                </a:tc>
              </a:tr>
              <a:tr h="609600">
                <a:tc>
                  <a:txBody>
                    <a:bodyPr/>
                    <a:lstStyle/>
                    <a:p>
                      <a:pPr algn="l"/>
                      <a:r>
                        <a:rPr sz="1400" b="0">
                          <a:solidFill>
                            <a:srgbClr val="18181B"/>
                          </a:solidFill>
                          <a:latin typeface="Calibri"/>
                        </a:rPr>
                        <a:t>G&amp;A / Buffer</a:t>
                      </a:r>
                    </a:p>
                  </a:txBody>
                  <a:tcPr>
                    <a:solidFill>
                      <a:srgbClr val="FFFFFF"/>
                    </a:solidFill>
                  </a:tcPr>
                </a:tc>
                <a:tc>
                  <a:txBody>
                    <a:bodyPr/>
                    <a:lstStyle/>
                    <a:p>
                      <a:pPr algn="r"/>
                      <a:r>
                        <a:rPr sz="1400" b="0">
                          <a:solidFill>
                            <a:srgbClr val="18181B"/>
                          </a:solidFill>
                          <a:latin typeface="Calibri"/>
                        </a:rPr>
                        <a:t>1.8</a:t>
                      </a:r>
                    </a:p>
                  </a:txBody>
                  <a:tcPr>
                    <a:solidFill>
                      <a:srgbClr val="FFFFFF"/>
                    </a:solidFill>
                  </a:tcPr>
                </a:tc>
                <a:tc>
                  <a:txBody>
                    <a:bodyPr/>
                    <a:lstStyle/>
                    <a:p>
                      <a:pPr algn="r"/>
                      <a:r>
                        <a:rPr sz="1400" b="0">
                          <a:solidFill>
                            <a:srgbClr val="18181B"/>
                          </a:solidFill>
                          <a:latin typeface="Calibri"/>
                        </a:rPr>
                        <a:t>10%</a:t>
                      </a:r>
                    </a:p>
                  </a:txBody>
                  <a:tcPr>
                    <a:solidFill>
                      <a:srgbClr val="FFFFFF"/>
                    </a:solidFill>
                  </a:tcPr>
                </a:tc>
                <a:tc>
                  <a:txBody>
                    <a:bodyPr/>
                    <a:lstStyle/>
                    <a:p>
                      <a:pPr algn="l"/>
                      <a:r>
                        <a:rPr sz="1400" b="0">
                          <a:solidFill>
                            <a:srgbClr val="18181B"/>
                          </a:solidFill>
                          <a:latin typeface="Calibri"/>
                        </a:rPr>
                        <a:t>Finance, legal, office expansion; 6-month cash buffer at projected burn</a:t>
                      </a:r>
                    </a:p>
                  </a:txBody>
                  <a:tcPr>
                    <a:solidFill>
                      <a:srgbClr val="FFFFFF"/>
                    </a:solidFill>
                  </a:tcPr>
                </a:tc>
              </a:tr>
              <a:tr h="609600">
                <a:tc>
                  <a:txBody>
                    <a:bodyPr/>
                    <a:lstStyle/>
                    <a:p>
                      <a:pPr algn="l"/>
                      <a:r>
                        <a:rPr sz="1400" b="0">
                          <a:solidFill>
                            <a:srgbClr val="18181B"/>
                          </a:solidFill>
                          <a:latin typeface="Calibri"/>
                        </a:rPr>
                        <a:t>Total</a:t>
                      </a:r>
                    </a:p>
                  </a:txBody>
                  <a:tcPr>
                    <a:solidFill>
                      <a:srgbClr val="FAFAFA"/>
                    </a:solidFill>
                  </a:tcPr>
                </a:tc>
                <a:tc>
                  <a:txBody>
                    <a:bodyPr/>
                    <a:lstStyle/>
                    <a:p>
                      <a:pPr algn="r"/>
                      <a:r>
                        <a:rPr sz="1400" b="0">
                          <a:solidFill>
                            <a:srgbClr val="18181B"/>
                          </a:solidFill>
                          <a:latin typeface="Calibri"/>
                        </a:rPr>
                        <a:t>18.0</a:t>
                      </a:r>
                    </a:p>
                  </a:txBody>
                  <a:tcPr>
                    <a:solidFill>
                      <a:srgbClr val="FAFAFA"/>
                    </a:solidFill>
                  </a:tcPr>
                </a:tc>
                <a:tc>
                  <a:txBody>
                    <a:bodyPr/>
                    <a:lstStyle/>
                    <a:p>
                      <a:pPr algn="r"/>
                      <a:r>
                        <a:rPr sz="1400" b="0">
                          <a:solidFill>
                            <a:srgbClr val="18181B"/>
                          </a:solidFill>
                          <a:latin typeface="Calibri"/>
                        </a:rPr>
                        <a:t>100%</a:t>
                      </a:r>
                    </a:p>
                  </a:txBody>
                  <a:tcPr>
                    <a:solidFill>
                      <a:srgbClr val="FAFAFA"/>
                    </a:solidFill>
                  </a:tcPr>
                </a:tc>
                <a:tc>
                  <a:txBody>
                    <a:bodyPr/>
                    <a:lstStyle/>
                    <a:p>
                      <a:pPr algn="l"/>
                      <a:r>
                        <a:rPr sz="1400" b="0">
                          <a:solidFill>
                            <a:srgbClr val="18181B"/>
                          </a:solidFill>
                          <a:latin typeface="Calibri"/>
                        </a:rPr>
                        <a:t>Path to $50M ARR by Q4 2027; 18-month runway to Series B or profitability</a:t>
                      </a:r>
                    </a:p>
                  </a:txBody>
                  <a:tcPr>
                    <a:solidFill>
                      <a:srgbClr val="FAFAFA"/>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4C1D95"/>
        </a:solidFill>
        <a:effectLst/>
      </p:bgPr>
    </p:bg>
    <p:spTree>
      <p:nvGrpSpPr>
        <p:cNvPr id="1" name=""/>
        <p:cNvGrpSpPr/>
        <p:nvPr/>
      </p:nvGrpSpPr>
      <p:grpSpPr/>
      <p:sp>
        <p:nvSpPr>
          <p:cNvPr id="2" name="TextBox 1"/>
          <p:cNvSpPr txBox="1"/>
          <p:nvPr/>
        </p:nvSpPr>
        <p:spPr>
          <a:xfrm>
            <a:off x="685800" y="457200"/>
            <a:ext cx="10820095" cy="1040130"/>
          </a:xfrm>
          <a:prstGeom prst="rect">
            <a:avLst/>
          </a:prstGeom>
          <a:noFill/>
        </p:spPr>
        <p:txBody>
          <a:bodyPr wrap="square">
            <a:spAutoFit/>
          </a:bodyPr>
          <a:lstStyle/>
          <a:p>
            <a:r>
              <a:rPr sz="4400" b="1">
                <a:solidFill>
                  <a:srgbClr val="18181B"/>
                </a:solidFill>
                <a:latin typeface="Calibri"/>
              </a:rPr>
              <a:t>OptiChain: Eliminating $2.3T in Supply Chain Waste</a:t>
            </a:r>
          </a:p>
        </p:txBody>
      </p:sp>
      <p:sp>
        <p:nvSpPr>
          <p:cNvPr id="3" name="TextBox 2"/>
          <p:cNvSpPr txBox="1"/>
          <p:nvPr/>
        </p:nvSpPr>
        <p:spPr>
          <a:xfrm>
            <a:off x="685800" y="1680210"/>
            <a:ext cx="10820095" cy="1360170"/>
          </a:xfrm>
          <a:prstGeom prst="rect">
            <a:avLst/>
          </a:prstGeom>
          <a:noFill/>
        </p:spPr>
        <p:txBody>
          <a:bodyPr wrap="square">
            <a:spAutoFit/>
          </a:bodyPr>
          <a:lstStyle/>
          <a:p>
            <a:r>
              <a:rPr sz="1800" b="0">
                <a:solidFill>
                  <a:srgbClr val="18181B"/>
                </a:solidFill>
                <a:latin typeface="Calibri"/>
              </a:rPr>
              <a:t>$4.8M ARR | 220% YoY Growth | 142% NRR | 47 Customers | 78% Gross Margin</a:t>
            </a:r>
            <a:br/>
            <a:br/>
            <a:r>
              <a:t>Raising $18M Series A to scale from $4.8M to $50M ARR in 18 months.</a:t>
            </a:r>
            <a:br/>
            <a:br/>
            <a:r>
              <a:t>Contact: sarah@optichain.ai | optichain.ai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