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Subscriptions ($K)</c:v>
                </c:pt>
              </c:strCache>
            </c:strRef>
          </c:tx>
          <c:spPr>
            <a:solidFill>
              <a:srgbClr val="0369A1"/>
            </a:solidFill>
            <a:ln>
              <a:solidFill>
                <a:srgbClr val="0369A1"/>
              </a:solidFill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</c:v>
                </c:pt>
                <c:pt idx="1">
                  <c:v>345</c:v>
                </c:pt>
                <c:pt idx="2">
                  <c:v>380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Add-ons ($K)</c:v>
                </c:pt>
              </c:strCache>
            </c:strRef>
          </c:tx>
          <c:spPr>
            <a:solidFill>
              <a:srgbClr val="0EA5E9"/>
            </a:solidFill>
            <a:ln>
              <a:solidFill>
                <a:srgbClr val="0EA5E9"/>
              </a:solidFill>
            </a:ln>
          </c:spPr>
          <c:cat>
            <c:strRef>
              <c:f>Sheet1!$A$2:$A$4</c:f>
              <c:strCache>
                <c:ptCount val="3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</c:v>
                </c:pt>
                <c:pt idx="1">
                  <c:v>52</c:v>
                </c:pt>
                <c:pt idx="2">
                  <c:v>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KPIs moved in the right direction this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20074"/>
            <a:ext cx="10362895" cy="386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Calibri"/>
              </a:rPr>
              <a:t>Product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1149"/>
            <a:ext cx="10362895" cy="2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Q4 2025 KPIs &amp;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386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Calibri"/>
              </a:rPr>
              <a:t>Key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75435"/>
            <a:ext cx="10362895" cy="105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0F172A"/>
                </a:solidFill>
                <a:latin typeface="Calibri"/>
              </a:rPr>
              <a:t>• Monthly active users grew 34% to 2.1M</a:t>
            </a:r>
          </a:p>
          <a:p>
            <a:pPr/>
            <a:r>
              <a:rPr sz="1600">
                <a:solidFill>
                  <a:srgbClr val="0F172A"/>
                </a:solidFill>
                <a:latin typeface="Calibri"/>
              </a:rPr>
              <a:t>• Average session duration increased 18% to 12.4 minutes</a:t>
            </a:r>
          </a:p>
          <a:p>
            <a:pPr/>
            <a:r>
              <a:rPr sz="1600">
                <a:solidFill>
                  <a:srgbClr val="0F172A"/>
                </a:solidFill>
                <a:latin typeface="Calibri"/>
              </a:rPr>
              <a:t>• Net Promoter Score improved from 62 to 71</a:t>
            </a:r>
          </a:p>
          <a:p>
            <a:pPr/>
            <a:r>
              <a:rPr sz="1600">
                <a:solidFill>
                  <a:srgbClr val="0F172A"/>
                </a:solidFill>
                <a:latin typeface="Calibri"/>
              </a:rPr>
              <a:t>• Customer acquisition cost decreased 22% to $28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386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Calibri"/>
              </a:rPr>
              <a:t>Monthly Revenue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01115"/>
          <a:ext cx="10362895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386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Calibri"/>
              </a:rPr>
              <a:t>Product Usage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01115"/>
          <a:ext cx="1036289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094"/>
                <a:gridCol w="1243547"/>
                <a:gridCol w="1243547"/>
                <a:gridCol w="1243547"/>
                <a:gridCol w="4145158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Oct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Nov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QoQ Change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MAU (M)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1.57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1.82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+34%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DAU/MAU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Avg Session (min)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11.2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12.4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+18%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Features Used/Session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+19%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386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Calibri"/>
              </a:rPr>
              <a:t>Momentum Across All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01115"/>
            <a:ext cx="10362895" cy="200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Calibri"/>
              </a:rPr>
              <a:t>Q4 demonstrated strong product-market fit acceleration.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