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D4A843"/>
            </a:solidFill>
            <a:ln>
              <a:solidFill>
                <a:srgbClr val="D4A843"/>
              </a:solidFill>
            </a:ln>
          </c:spPr>
          <c:dPt>
            <c:idx val="0"/>
            <c:spPr>
              <a:solidFill>
                <a:srgbClr val="D4A843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dPt>
            <c:idx val="2"/>
            <c:spPr>
              <a:solidFill>
                <a:srgbClr val="6366F1"/>
              </a:solidFill>
            </c:spPr>
          </c:dPt>
          <c:dPt>
            <c:idx val="3"/>
            <c:spPr>
              <a:solidFill>
                <a:srgbClr val="EC4899"/>
              </a:solidFill>
            </c:spPr>
          </c:dPt>
          <c:dPt>
            <c:idx val="4"/>
            <c:spPr>
              <a:solidFill>
                <a:srgbClr val="8B5CF6"/>
              </a:solidFill>
            </c:spPr>
          </c:dPt>
          <c:cat>
            <c:strRef>
              <c:f>Sheet1!$A$2:$A$6</c:f>
              <c:strCache>
                <c:ptCount val="5"/>
                <c:pt idx="0">
                  <c:v>Enterprise SaaS</c:v>
                </c:pt>
                <c:pt idx="1">
                  <c:v>SMB SaaS</c:v>
                </c:pt>
                <c:pt idx="2">
                  <c:v>Professional Services</c:v>
                </c:pt>
                <c:pt idx="3">
                  <c:v>Marketplace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28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00">
              <a:latin typeface="Open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shift toward enterprise is intentional -- higher ACV, lower churn, better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966912"/>
            <a:ext cx="10820095" cy="54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Revenue Mix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970847"/>
            <a:ext cx="10820095" cy="21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Product Line Contribution FY2025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44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Revenue by Product Line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125855"/>
          <a:ext cx="10820095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546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Enterprise-Led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2535"/>
            <a:ext cx="10820095" cy="22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Enterprise SaaS is the growth engine. Target: 55% by FY2027.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