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Retail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8200</c:v>
                </c:pt>
                <c:pt idx="1">
                  <c:v>7800</c:v>
                </c:pt>
                <c:pt idx="2">
                  <c:v>7400</c:v>
                </c:pt>
                <c:pt idx="3">
                  <c:v>6900</c:v>
                </c:pt>
                <c:pt idx="4">
                  <c:v>6500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16A34A"/>
            </a:solidFill>
            <a:ln>
              <a:solidFill>
                <a:srgbClr val="16A34A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1100</c:v>
                </c:pt>
                <c:pt idx="1">
                  <c:v>1450</c:v>
                </c:pt>
                <c:pt idx="2">
                  <c:v>1900</c:v>
                </c:pt>
                <c:pt idx="3">
                  <c:v>2400</c:v>
                </c:pt>
                <c:pt idx="4">
                  <c:v>3100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Omnichannel (BOPIS/Ship-from-Store)</c:v>
                </c:pt>
              </c:strCache>
            </c:strRef>
          </c:tx>
          <c:spPr>
            <a:solidFill>
              <a:srgbClr val="D97706"/>
            </a:solidFill>
            <a:ln>
              <a:solidFill>
                <a:srgbClr val="D97706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300</c:v>
                </c:pt>
                <c:pt idx="1">
                  <c:v>520</c:v>
                </c:pt>
                <c:pt idx="2">
                  <c:v>780</c:v>
                </c:pt>
                <c:pt idx="3">
                  <c:v>1050</c:v>
                </c:pt>
                <c:pt idx="4">
                  <c:v>1400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Today we present our findings from a 12-week diagnostic of Meridian's digital readiness and a recommended transformation roadmap that captures $340M in incremental EBITDA by 2029.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 from our diagnostic: Meridian is not behind in digital -- it is fragmented. The 14 disconnected systems create more data loss than any competitor advantage. Unifying them unlocks the $340M.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is unambiguous. Meridian's digital gap is not a future risk -- it is a current P&amp;L drag. The 24-point DQ gap translates directly to the margin differential we see in the financials.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revenue is declining at 5-6% annually while digital channels grow 25-30%. The crossover point -- where digital exceeds traditional -- arrives in FY2029 at current trajectories. The question is whether Meridian leads that transition or is disrupted by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metric improves under the digital-first model. The 440 basis point margin expansion is the primary financial justification. But the speed advantage -- 4-week vs 12-week launch cycles -- is what creates sustainable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3-year horizon is aggressive but achievable. The Foundation phase is the highest-risk period -- platform selection and legacy decommissioning. We recommend a parallel-run approach rather than big-bang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talent risk is the one I lose sleep over. Every Fortune 500 is competing for the same digital talent. The acqui-hire strategy is unconventional but gives us 150 experienced digital builders on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our Year 3 targets exceed top-quartile benchmarks on 5 of 8 KPIs. This is intentional -- catching up to the median is insufficient. Meridian needs to leapfrog to earn back market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clear actions requiring board approval today. The CDO appointment is the single most important decision -- without executive ownership at the right level, transformation programs fail 70% of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The urgency is real but the opportunity is larger than the risk. We are happy to take questions on any aspect of the analysis, timeline, or financial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66912"/>
            <a:ext cx="10820095" cy="54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Digital Transformation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70847"/>
            <a:ext cx="10820095" cy="25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Meridian Retail Group | Board Strategy Review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51772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Market Analysis: The Digital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63014"/>
            <a:ext cx="10820095" cy="195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E-commerce penetration in retail reached 38% in 2025, up from 21% in 2020 -- Meridian's digital share is 14%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Digital-native competitors (Shein, Temu, Amazon) grew 3.2x faster than traditional retail in FY2025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Consumer expectation gap: 78% of Meridian's target demographic expects same-day delivery; Meridian offers 3-5 day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Store traffic declined 12% YoY but basket size increased 8% -- physical retail is shifting to experiential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McKinsey Digital Quotient assessment scores Meridian at 34/100 vs. industry median of 52/100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Top-quartile digital retailers achieve 2.4x higher EBITDA margins than bottom-quartile peers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Revenue Trends: Digital vs. Traditional Channels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080135"/>
          <a:ext cx="10820095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Digital vs. Traditional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Arial"/>
              </a:rPr>
              <a:t>Traditional Model (Current State)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Arial"/>
              </a:rPr>
              <a:t>Digital-First Model (Target State)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3-Year Digital Transformation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Risk Assessment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Arial"/>
              </a:rP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Arial"/>
              </a:rPr>
              <a:t>Mitigations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46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Transformation KPI Dashboard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986790"/>
          <a:ext cx="1082009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857"/>
                <a:gridCol w="2111238"/>
                <a:gridCol w="1715380"/>
                <a:gridCol w="1715380"/>
                <a:gridCol w="1715380"/>
                <a:gridCol w="3166857"/>
              </a:tblGrid>
              <a:tr h="406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Current (FY2025)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Year 1 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Year 2 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Year 3 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Benchmark (Top Quartile)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Digital Revenue Share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Online Conversion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Inventory Turns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4.2x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5.1x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6.3x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7.8x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7.2x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Customer Acquisition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$84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$72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$58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$45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$42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NPS Score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EBITDA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Digital Quotient Score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Time-to-Market (weeks)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63014"/>
            <a:ext cx="10820095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APPROVE the $1.4B, 3-year digital transformation program with phased funding gates at each 12-month milestone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APPOINT a Chief Digital Officer with P&amp;L authority reporting directly to the CEO -- not buried under CTO or CMO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EXECUTE the acqui-hire of two digital agencies (Pixelshift and DataCraft) for $40M combined to close the talent gap immediately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RESTRUCTURE the technology organization from project-based to product-based teams aligned with customer journeys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ESTABLISH a Digital Transformation Office (DTO) with quarterly board reporting cadence and kill criteria at each gate</a:t>
            </a:r>
          </a:p>
          <a:p>
            <a:pPr/>
            <a:r>
              <a:rPr sz="1800">
                <a:solidFill>
                  <a:srgbClr val="111827"/>
                </a:solidFill>
                <a:latin typeface="Calibri"/>
              </a:rPr>
              <a:t>• PARTNER with a strategic systems integrator (recommended: Infosys) for 200 managed resources over 18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16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Digital Transformation: A $340M Annual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00225"/>
            <a:ext cx="10820095" cy="93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The market will not wait. Every quarter of delay costs Meridian approximately $28M in unrealized EBITDA and 0.8 points of market share. We recommend immediate approval of Phase 1 funding ($420M) with a Q2 2026 start date.</a:t>
            </a:r>
            <a:br/>
            <a:br/>
            <a:r>
              <a:t>Strategy &amp; Corporate Finance Practice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