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ARR ($M)</c:v>
                </c:pt>
              </c:strCache>
            </c:strRef>
          </c:tx>
          <c:spPr>
            <a:solidFill>
              <a:srgbClr val="D4A843"/>
            </a:solidFill>
            <a:ln>
              <a:solidFill>
                <a:srgbClr val="D4A843"/>
              </a:solidFill>
            </a:ln>
          </c:spPr>
          <c:cat>
            <c:strRef>
              <c:f>Sheet1!$A$2:$A$9</c:f>
              <c:strCache>
                <c:ptCount val="8"/>
                <c:pt idx="0">
                  <c:v>Q1'25</c:v>
                </c:pt>
                <c:pt idx="1">
                  <c:v>Q2'25</c:v>
                </c:pt>
                <c:pt idx="2">
                  <c:v>Q3'25</c:v>
                </c:pt>
                <c:pt idx="3">
                  <c:v>Q4'25</c:v>
                </c:pt>
                <c:pt idx="4">
                  <c:v>Q1'26</c:v>
                </c:pt>
                <c:pt idx="5">
                  <c:v>Q2'26</c:v>
                </c:pt>
                <c:pt idx="6">
                  <c:v>Q3'26</c:v>
                </c:pt>
                <c:pt idx="7">
                  <c:v>Q4'26</c:v>
                </c:pt>
              </c:strCache>
            </c:strRef>
          </c:cat>
          <c:val>
            <c:numRef>
              <c:f>Sheet1!$B$2:$B$9</c:f>
              <c:numCache>
                <c:formatCode>General</c:formatCode>
                <c:ptCount val="8"/>
                <c:pt idx="0">
                  <c:v>28.4</c:v>
                </c:pt>
                <c:pt idx="1">
                  <c:v>31.2</c:v>
                </c:pt>
                <c:pt idx="2">
                  <c:v>34.8</c:v>
                </c:pt>
                <c:pt idx="3">
                  <c:v>37.5</c:v>
                </c:pt>
                <c:pt idx="4">
                  <c:v>40.1</c:v>
                </c:pt>
                <c:pt idx="5">
                  <c:v>43.6</c:v>
                </c:pt>
                <c:pt idx="6">
                  <c:v>46.1</c:v>
                </c:pt>
                <c:pt idx="7">
                  <c:v>50.2</c:v>
                </c:pt>
              </c:numCache>
            </c:numRef>
          </c:val>
        </c:ser>
        <c:ser>
          <c:idx val="1"/>
          <c:order val="1"/>
          <c:tx>
            <c:strRef>
              <c:f>Sheet1!$C$1</c:f>
              <c:strCache>
                <c:ptCount val="1"/>
                <c:pt idx="0">
                  <c:v>Net New ARR ($M)</c:v>
                </c:pt>
              </c:strCache>
            </c:strRef>
          </c:tx>
          <c:spPr>
            <a:solidFill>
              <a:srgbClr val="10B981"/>
            </a:solidFill>
            <a:ln>
              <a:solidFill>
                <a:srgbClr val="10B981"/>
              </a:solidFill>
            </a:ln>
          </c:spPr>
          <c:cat>
            <c:strRef>
              <c:f>Sheet1!$A$2:$A$9</c:f>
              <c:strCache>
                <c:ptCount val="8"/>
                <c:pt idx="0">
                  <c:v>Q1'25</c:v>
                </c:pt>
                <c:pt idx="1">
                  <c:v>Q2'25</c:v>
                </c:pt>
                <c:pt idx="2">
                  <c:v>Q3'25</c:v>
                </c:pt>
                <c:pt idx="3">
                  <c:v>Q4'25</c:v>
                </c:pt>
                <c:pt idx="4">
                  <c:v>Q1'26</c:v>
                </c:pt>
                <c:pt idx="5">
                  <c:v>Q2'26</c:v>
                </c:pt>
                <c:pt idx="6">
                  <c:v>Q3'26</c:v>
                </c:pt>
                <c:pt idx="7">
                  <c:v>Q4'26</c:v>
                </c:pt>
              </c:strCache>
            </c:strRef>
          </c:cat>
          <c:val>
            <c:numRef>
              <c:f>Sheet1!$C$2:$C$9</c:f>
              <c:numCache>
                <c:formatCode>General</c:formatCode>
                <c:ptCount val="8"/>
                <c:pt idx="0">
                  <c:v>2.8</c:v>
                </c:pt>
                <c:pt idx="1">
                  <c:v>2.8</c:v>
                </c:pt>
                <c:pt idx="2">
                  <c:v>3.6</c:v>
                </c:pt>
                <c:pt idx="3">
                  <c:v>2.7</c:v>
                </c:pt>
                <c:pt idx="4">
                  <c:v>2.6</c:v>
                </c:pt>
                <c:pt idx="5">
                  <c:v>3.5</c:v>
                </c:pt>
                <c:pt idx="6">
                  <c:v>2.5</c:v>
                </c:pt>
                <c:pt idx="7">
                  <c:v>4.1</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400">
                <a:latin typeface="Open Sans"/>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400">
                <a:latin typeface="Open Sans"/>
              </a:defRPr>
            </a:pPr>
          </a:p>
        </c:txPr>
        <c:crossAx val="-2068027336"/>
        <c:crosses val="autoZero"/>
      </c:valAx>
    </c:plotArea>
    <c:legend>
      <c:legendPos val="b"/>
      <c:overlay val="0"/>
      <c:txPr>
        <a:bodyPr/>
        <a:lstStyle/>
        <a:p>
          <a:pPr>
            <a:defRPr sz="1400">
              <a:latin typeface="Open Sans"/>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DataPulse closed Q4 at $50.2M ARR, up 34% year-over-year, slightly ahead of our $49M plan. I will walk through the financial performance, product milestones, pipeline health, and our priorities for Q1.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is that Q4 was our best quarter in company history by every metric except mid-market sales velocity. The enterprise motion is working -- 3 logos over $500K ACV -- but mid-market cycles are stretching. I'll dive deeper into that in the pipeline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trend line shows steady compounding with Q4 being an inflection point. The $4.1M net new ARR in Q4 was our highest quarterly add ever, driven by the three enterprise logos and strong expansion within existing accounts. Note the seasonality -- Q2 and Q4 tend to be our strongest quarters due to budget cycles.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waterfall tells an important story. Expansion ($5.8M) is now our largest growth driver -- larger than new logos ($2.4M). This is the hallmark of a healthy SaaS business. Gross churn of $2.2M (4.8% annualized) is within our 5% target. Contraction of $1.9M is concerning -- driven primarily by 4 mid-market customers downsizing headcount after layoffs.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of 12 metrics are at or above target. The one miss -- sales cycle lengthening from 42 to 58 days -- is concentrated in mid-market. Enterprise cycles actually shortened. This is our top operational priority for Q1. The burn multiple improvement to 1.1x puts us in best-in-class territory for our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Insights module is the biggest product bet we have made. 38% adoption in 6 weeks tells us the market wants this. More importantly, it is driving expansion revenue -- customers are upgrading their plans to get AI Insights access. The SOC 2 certification was 8 months of work but it immediately opened enterprise doors that were previously closed.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is healthy at the top -- 482 SQLs is a record quarter, up 28% from Q3. But the conversion from demo to proposal dropped from 62% to 53%. Exit interviews show the #1 objection is 'we need to see ROI proof with our own data before committing.' We are launching a free POC program in Q1 to address this directly.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transparent about the risks. The sales cycle issue is the most urgent -- if we don't fix it in Q1, we miss our H1 plan. The engineering turnover is manageable but painful. On the opportunity side, the AI Insights expansion and Snowflake partnership together represent more upside than our entire Q1 new logo target.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bets for Q1: fix mid-market velocity, activate the Snowflake partnership, and open the healthcare vertical. Any one of these alone would make Q1 a success. All three together put us on the path to $75M ARR by year-end and a strong Series C 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board approvals needed today. The incremental sales hiring is the most time-sensitive -- we need to post those roles this week to have reps ramped by Q2. Thank you all for your continued guidance.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1966912"/>
            <a:ext cx="10820095" cy="546735"/>
          </a:xfrm>
          <a:prstGeom prst="rect">
            <a:avLst/>
          </a:prstGeom>
          <a:noFill/>
        </p:spPr>
        <p:txBody>
          <a:bodyPr wrap="square">
            <a:spAutoFit/>
          </a:bodyPr>
          <a:lstStyle/>
          <a:p>
            <a:r>
              <a:rPr sz="4400" b="1">
                <a:solidFill>
                  <a:srgbClr val="FFFFFF"/>
                </a:solidFill>
                <a:latin typeface="Calibri"/>
              </a:rPr>
              <a:t>DataPulse | Q4 2026 Board Update</a:t>
            </a:r>
          </a:p>
        </p:txBody>
      </p:sp>
      <p:sp>
        <p:nvSpPr>
          <p:cNvPr id="3" name="TextBox 2"/>
          <p:cNvSpPr txBox="1"/>
          <p:nvPr/>
        </p:nvSpPr>
        <p:spPr>
          <a:xfrm>
            <a:off x="685800" y="2970847"/>
            <a:ext cx="10820095" cy="266700"/>
          </a:xfrm>
          <a:prstGeom prst="rect">
            <a:avLst/>
          </a:prstGeom>
          <a:noFill/>
        </p:spPr>
        <p:txBody>
          <a:bodyPr wrap="square">
            <a:spAutoFit/>
          </a:bodyPr>
          <a:lstStyle/>
          <a:p>
            <a:r>
              <a:rPr sz="2200" b="1">
                <a:solidFill>
                  <a:srgbClr val="FFFFFF"/>
                </a:solidFill>
                <a:latin typeface="Calibri"/>
              </a:rPr>
              <a:t>Prepared for the Board of Directors | January 2027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2751772"/>
            <a:ext cx="10820095" cy="440055"/>
          </a:xfrm>
          <a:prstGeom prst="rect">
            <a:avLst/>
          </a:prstGeom>
          <a:noFill/>
        </p:spPr>
        <p:txBody>
          <a:bodyPr wrap="square">
            <a:spAutoFit/>
          </a:bodyPr>
          <a:lstStyle/>
          <a:p>
            <a:r>
              <a:rPr sz="4400" b="1">
                <a:solidFill>
                  <a:srgbClr val="FFFFFF"/>
                </a:solidFill>
                <a:latin typeface="Calibri"/>
              </a:rPr>
              <a:t>Q4 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ARR Growth: Quarterly Progression</a:t>
            </a:r>
          </a:p>
        </p:txBody>
      </p:sp>
      <p:graphicFrame>
        <p:nvGraphicFramePr>
          <p:cNvPr id="3" name="Chart 2"/>
          <p:cNvGraphicFramePr>
            <a:graphicFrameLocks noGrp="1"/>
          </p:cNvGraphicFramePr>
          <p:nvPr/>
        </p:nvGraphicFramePr>
        <p:xfrm>
          <a:off x="685800" y="1125855"/>
          <a:ext cx="10820095"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Net Revenue Retention: Waterfall Analysis</a:t>
            </a:r>
          </a:p>
        </p:txBody>
      </p:sp>
      <p:pic>
        <p:nvPicPr>
          <p:cNvPr id="3" name="Picture 2" descr="image.png"/>
          <p:cNvPicPr>
            <a:picLocks noChangeAspect="1"/>
          </p:cNvPicPr>
          <p:nvPr/>
        </p:nvPicPr>
        <p:blipFill>
          <a:blip r:embed="rId2"/>
          <a:stretch>
            <a:fillRect/>
          </a:stretch>
        </p:blipFill>
        <p:spPr>
          <a:xfrm>
            <a:off x="685800" y="1125855"/>
            <a:ext cx="10820095" cy="3657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Key Metrics Dashboard</a:t>
            </a:r>
          </a:p>
        </p:txBody>
      </p:sp>
      <p:graphicFrame>
        <p:nvGraphicFramePr>
          <p:cNvPr id="3" name="Table 2"/>
          <p:cNvGraphicFramePr>
            <a:graphicFrameLocks noGrp="1"/>
          </p:cNvGraphicFramePr>
          <p:nvPr/>
        </p:nvGraphicFramePr>
        <p:xfrm>
          <a:off x="685800" y="1125855"/>
          <a:ext cx="10820093" cy="3657600"/>
        </p:xfrm>
        <a:graphic>
          <a:graphicData uri="http://schemas.openxmlformats.org/drawingml/2006/table">
            <a:tbl>
              <a:tblPr firstRow="1" bandRow="1">
                <a:tableStyleId>{5C22544A-7EE6-4342-B048-85BDC9FD1C3A}</a:tableStyleId>
              </a:tblPr>
              <a:tblGrid>
                <a:gridCol w="1298411"/>
                <a:gridCol w="1514813"/>
                <a:gridCol w="1514813"/>
                <a:gridCol w="2164019"/>
                <a:gridCol w="3029626"/>
                <a:gridCol w="1298411"/>
              </a:tblGrid>
              <a:tr h="281353">
                <a:tc>
                  <a:txBody>
                    <a:bodyPr/>
                    <a:lstStyle/>
                    <a:p>
                      <a:r>
                        <a:rPr sz="1400" b="1">
                          <a:solidFill>
                            <a:srgbClr val="FFFFFF"/>
                          </a:solidFill>
                          <a:latin typeface="Calibri"/>
                        </a:rPr>
                        <a:t>Metric</a:t>
                      </a:r>
                    </a:p>
                  </a:txBody>
                  <a:tcPr>
                    <a:solidFill>
                      <a:srgbClr val="0A1E3D"/>
                    </a:solidFill>
                  </a:tcPr>
                </a:tc>
                <a:tc>
                  <a:txBody>
                    <a:bodyPr/>
                    <a:lstStyle/>
                    <a:p>
                      <a:r>
                        <a:rPr sz="1400" b="1">
                          <a:solidFill>
                            <a:srgbClr val="FFFFFF"/>
                          </a:solidFill>
                          <a:latin typeface="Calibri"/>
                        </a:rPr>
                        <a:t>Q3 2026</a:t>
                      </a:r>
                    </a:p>
                  </a:txBody>
                  <a:tcPr>
                    <a:solidFill>
                      <a:srgbClr val="0A1E3D"/>
                    </a:solidFill>
                  </a:tcPr>
                </a:tc>
                <a:tc>
                  <a:txBody>
                    <a:bodyPr/>
                    <a:lstStyle/>
                    <a:p>
                      <a:r>
                        <a:rPr sz="1400" b="1">
                          <a:solidFill>
                            <a:srgbClr val="FFFFFF"/>
                          </a:solidFill>
                          <a:latin typeface="Calibri"/>
                        </a:rPr>
                        <a:t>Q4 2026</a:t>
                      </a:r>
                    </a:p>
                  </a:txBody>
                  <a:tcPr>
                    <a:solidFill>
                      <a:srgbClr val="0A1E3D"/>
                    </a:solidFill>
                  </a:tcPr>
                </a:tc>
                <a:tc>
                  <a:txBody>
                    <a:bodyPr/>
                    <a:lstStyle/>
                    <a:p>
                      <a:r>
                        <a:rPr sz="1400" b="1">
                          <a:solidFill>
                            <a:srgbClr val="FFFFFF"/>
                          </a:solidFill>
                          <a:latin typeface="Calibri"/>
                        </a:rPr>
                        <a:t>QoQ Change</a:t>
                      </a:r>
                    </a:p>
                  </a:txBody>
                  <a:tcPr>
                    <a:solidFill>
                      <a:srgbClr val="0A1E3D"/>
                    </a:solidFill>
                  </a:tcPr>
                </a:tc>
                <a:tc>
                  <a:txBody>
                    <a:bodyPr/>
                    <a:lstStyle/>
                    <a:p>
                      <a:r>
                        <a:rPr sz="1400" b="1">
                          <a:solidFill>
                            <a:srgbClr val="FFFFFF"/>
                          </a:solidFill>
                          <a:latin typeface="Calibri"/>
                        </a:rPr>
                        <a:t>FY 2026 Target</a:t>
                      </a:r>
                    </a:p>
                  </a:txBody>
                  <a:tcPr>
                    <a:solidFill>
                      <a:srgbClr val="0A1E3D"/>
                    </a:solidFill>
                  </a:tcPr>
                </a:tc>
                <a:tc>
                  <a:txBody>
                    <a:bodyPr/>
                    <a:lstStyle/>
                    <a:p>
                      <a:r>
                        <a:rPr sz="1400" b="1">
                          <a:solidFill>
                            <a:srgbClr val="FFFFFF"/>
                          </a:solidFill>
                          <a:latin typeface="Calibri"/>
                        </a:rPr>
                        <a:t>Status</a:t>
                      </a:r>
                    </a:p>
                  </a:txBody>
                  <a:tcPr>
                    <a:solidFill>
                      <a:srgbClr val="0A1E3D"/>
                    </a:solidFill>
                  </a:tcPr>
                </a:tc>
              </a:tr>
              <a:tr h="281353">
                <a:tc>
                  <a:txBody>
                    <a:bodyPr/>
                    <a:lstStyle/>
                    <a:p>
                      <a:pPr algn="l"/>
                      <a:r>
                        <a:rPr sz="1400" b="0">
                          <a:solidFill>
                            <a:srgbClr val="FFFFFF"/>
                          </a:solidFill>
                          <a:latin typeface="Calibri"/>
                        </a:rPr>
                        <a:t>ARR</a:t>
                      </a:r>
                    </a:p>
                  </a:txBody>
                  <a:tcPr>
                    <a:solidFill>
                      <a:srgbClr val="122B4F"/>
                    </a:solidFill>
                  </a:tcPr>
                </a:tc>
                <a:tc>
                  <a:txBody>
                    <a:bodyPr/>
                    <a:lstStyle/>
                    <a:p>
                      <a:pPr algn="l"/>
                      <a:r>
                        <a:rPr sz="1400" b="0">
                          <a:solidFill>
                            <a:srgbClr val="FFFFFF"/>
                          </a:solidFill>
                          <a:latin typeface="Calibri"/>
                        </a:rPr>
                        <a:t>$46.1M</a:t>
                      </a:r>
                    </a:p>
                  </a:txBody>
                  <a:tcPr>
                    <a:solidFill>
                      <a:srgbClr val="122B4F"/>
                    </a:solidFill>
                  </a:tcPr>
                </a:tc>
                <a:tc>
                  <a:txBody>
                    <a:bodyPr/>
                    <a:lstStyle/>
                    <a:p>
                      <a:pPr algn="l"/>
                      <a:r>
                        <a:rPr sz="1400" b="0">
                          <a:solidFill>
                            <a:srgbClr val="FFFFFF"/>
                          </a:solidFill>
                          <a:latin typeface="Calibri"/>
                        </a:rPr>
                        <a:t>$50.2M</a:t>
                      </a:r>
                    </a:p>
                  </a:txBody>
                  <a:tcPr>
                    <a:solidFill>
                      <a:srgbClr val="122B4F"/>
                    </a:solidFill>
                  </a:tcPr>
                </a:tc>
                <a:tc>
                  <a:txBody>
                    <a:bodyPr/>
                    <a:lstStyle/>
                    <a:p>
                      <a:pPr algn="l"/>
                      <a:r>
                        <a:rPr sz="1400" b="0">
                          <a:solidFill>
                            <a:srgbClr val="FFFFFF"/>
                          </a:solidFill>
                          <a:latin typeface="Calibri"/>
                        </a:rPr>
                        <a:t>+$4.1M (+9%)</a:t>
                      </a:r>
                    </a:p>
                  </a:txBody>
                  <a:tcPr>
                    <a:solidFill>
                      <a:srgbClr val="122B4F"/>
                    </a:solidFill>
                  </a:tcPr>
                </a:tc>
                <a:tc>
                  <a:txBody>
                    <a:bodyPr/>
                    <a:lstStyle/>
                    <a:p>
                      <a:pPr algn="l"/>
                      <a:r>
                        <a:rPr sz="1400" b="0">
                          <a:solidFill>
                            <a:srgbClr val="FFFFFF"/>
                          </a:solidFill>
                          <a:latin typeface="Calibri"/>
                        </a:rPr>
                        <a:t>$49.0M</a:t>
                      </a:r>
                    </a:p>
                  </a:txBody>
                  <a:tcPr>
                    <a:solidFill>
                      <a:srgbClr val="122B4F"/>
                    </a:solidFill>
                  </a:tcPr>
                </a:tc>
                <a:tc>
                  <a:txBody>
                    <a:bodyPr/>
                    <a:lstStyle/>
                    <a:p>
                      <a:pPr algn="l"/>
                      <a:r>
                        <a:rPr sz="1400" b="0">
                          <a:solidFill>
                            <a:srgbClr val="FFFFFF"/>
                          </a:solidFill>
                          <a:latin typeface="Calibri"/>
                        </a:rPr>
                        <a:t>BEAT</a:t>
                      </a:r>
                    </a:p>
                  </a:txBody>
                  <a:tcPr>
                    <a:solidFill>
                      <a:srgbClr val="122B4F"/>
                    </a:solidFill>
                  </a:tcPr>
                </a:tc>
              </a:tr>
              <a:tr h="281353">
                <a:tc>
                  <a:txBody>
                    <a:bodyPr/>
                    <a:lstStyle/>
                    <a:p>
                      <a:pPr algn="l"/>
                      <a:r>
                        <a:rPr sz="1400" b="0">
                          <a:solidFill>
                            <a:srgbClr val="FFFFFF"/>
                          </a:solidFill>
                          <a:latin typeface="Calibri"/>
                        </a:rPr>
                        <a:t>Net Revenue Retention</a:t>
                      </a:r>
                    </a:p>
                  </a:txBody>
                  <a:tcPr>
                    <a:solidFill>
                      <a:srgbClr val="0A1E3D"/>
                    </a:solidFill>
                  </a:tcPr>
                </a:tc>
                <a:tc>
                  <a:txBody>
                    <a:bodyPr/>
                    <a:lstStyle/>
                    <a:p>
                      <a:pPr algn="r"/>
                      <a:r>
                        <a:rPr sz="1400" b="0">
                          <a:solidFill>
                            <a:srgbClr val="FFFFFF"/>
                          </a:solidFill>
                          <a:latin typeface="Calibri"/>
                        </a:rPr>
                        <a:t>118%</a:t>
                      </a:r>
                    </a:p>
                  </a:txBody>
                  <a:tcPr>
                    <a:solidFill>
                      <a:srgbClr val="0A1E3D"/>
                    </a:solidFill>
                  </a:tcPr>
                </a:tc>
                <a:tc>
                  <a:txBody>
                    <a:bodyPr/>
                    <a:lstStyle/>
                    <a:p>
                      <a:pPr algn="r"/>
                      <a:r>
                        <a:rPr sz="1400" b="0">
                          <a:solidFill>
                            <a:srgbClr val="FFFFFF"/>
                          </a:solidFill>
                          <a:latin typeface="Calibri"/>
                        </a:rPr>
                        <a:t>124%</a:t>
                      </a:r>
                    </a:p>
                  </a:txBody>
                  <a:tcPr>
                    <a:solidFill>
                      <a:srgbClr val="0A1E3D"/>
                    </a:solidFill>
                  </a:tcPr>
                </a:tc>
                <a:tc>
                  <a:txBody>
                    <a:bodyPr/>
                    <a:lstStyle/>
                    <a:p>
                      <a:pPr algn="l"/>
                      <a:r>
                        <a:rPr sz="1400" b="0">
                          <a:solidFill>
                            <a:srgbClr val="FFFFFF"/>
                          </a:solidFill>
                          <a:latin typeface="Calibri"/>
                        </a:rPr>
                        <a:t>+600bps</a:t>
                      </a:r>
                    </a:p>
                  </a:txBody>
                  <a:tcPr>
                    <a:solidFill>
                      <a:srgbClr val="0A1E3D"/>
                    </a:solidFill>
                  </a:tcPr>
                </a:tc>
                <a:tc>
                  <a:txBody>
                    <a:bodyPr/>
                    <a:lstStyle/>
                    <a:p>
                      <a:pPr algn="r"/>
                      <a:r>
                        <a:rPr sz="1400" b="0">
                          <a:solidFill>
                            <a:srgbClr val="FFFFFF"/>
                          </a:solidFill>
                          <a:latin typeface="Calibri"/>
                        </a:rPr>
                        <a:t>120%</a:t>
                      </a:r>
                    </a:p>
                  </a:txBody>
                  <a:tcPr>
                    <a:solidFill>
                      <a:srgbClr val="0A1E3D"/>
                    </a:solidFill>
                  </a:tcPr>
                </a:tc>
                <a:tc>
                  <a:txBody>
                    <a:bodyPr/>
                    <a:lstStyle/>
                    <a:p>
                      <a:pPr algn="l"/>
                      <a:r>
                        <a:rPr sz="1400" b="0">
                          <a:solidFill>
                            <a:srgbClr val="FFFFFF"/>
                          </a:solidFill>
                          <a:latin typeface="Calibri"/>
                        </a:rPr>
                        <a:t>BEAT</a:t>
                      </a:r>
                    </a:p>
                  </a:txBody>
                  <a:tcPr>
                    <a:solidFill>
                      <a:srgbClr val="0A1E3D"/>
                    </a:solidFill>
                  </a:tcPr>
                </a:tc>
              </a:tr>
              <a:tr h="281353">
                <a:tc>
                  <a:txBody>
                    <a:bodyPr/>
                    <a:lstStyle/>
                    <a:p>
                      <a:pPr algn="l"/>
                      <a:r>
                        <a:rPr sz="1400" b="0">
                          <a:solidFill>
                            <a:srgbClr val="FFFFFF"/>
                          </a:solidFill>
                          <a:latin typeface="Calibri"/>
                        </a:rPr>
                        <a:t>Gross Margin</a:t>
                      </a:r>
                    </a:p>
                  </a:txBody>
                  <a:tcPr>
                    <a:solidFill>
                      <a:srgbClr val="122B4F"/>
                    </a:solidFill>
                  </a:tcPr>
                </a:tc>
                <a:tc>
                  <a:txBody>
                    <a:bodyPr/>
                    <a:lstStyle/>
                    <a:p>
                      <a:pPr algn="r"/>
                      <a:r>
                        <a:rPr sz="1400" b="0">
                          <a:solidFill>
                            <a:srgbClr val="FFFFFF"/>
                          </a:solidFill>
                          <a:latin typeface="Calibri"/>
                        </a:rPr>
                        <a:t>79%</a:t>
                      </a:r>
                    </a:p>
                  </a:txBody>
                  <a:tcPr>
                    <a:solidFill>
                      <a:srgbClr val="122B4F"/>
                    </a:solidFill>
                  </a:tcPr>
                </a:tc>
                <a:tc>
                  <a:txBody>
                    <a:bodyPr/>
                    <a:lstStyle/>
                    <a:p>
                      <a:pPr algn="r"/>
                      <a:r>
                        <a:rPr sz="1400" b="0">
                          <a:solidFill>
                            <a:srgbClr val="FFFFFF"/>
                          </a:solidFill>
                          <a:latin typeface="Calibri"/>
                        </a:rPr>
                        <a:t>81%</a:t>
                      </a:r>
                    </a:p>
                  </a:txBody>
                  <a:tcPr>
                    <a:solidFill>
                      <a:srgbClr val="122B4F"/>
                    </a:solidFill>
                  </a:tcPr>
                </a:tc>
                <a:tc>
                  <a:txBody>
                    <a:bodyPr/>
                    <a:lstStyle/>
                    <a:p>
                      <a:pPr algn="l"/>
                      <a:r>
                        <a:rPr sz="1400" b="0">
                          <a:solidFill>
                            <a:srgbClr val="FFFFFF"/>
                          </a:solidFill>
                          <a:latin typeface="Calibri"/>
                        </a:rPr>
                        <a:t>+200bps</a:t>
                      </a:r>
                    </a:p>
                  </a:txBody>
                  <a:tcPr>
                    <a:solidFill>
                      <a:srgbClr val="122B4F"/>
                    </a:solidFill>
                  </a:tcPr>
                </a:tc>
                <a:tc>
                  <a:txBody>
                    <a:bodyPr/>
                    <a:lstStyle/>
                    <a:p>
                      <a:pPr algn="r"/>
                      <a:r>
                        <a:rPr sz="1400" b="0">
                          <a:solidFill>
                            <a:srgbClr val="FFFFFF"/>
                          </a:solidFill>
                          <a:latin typeface="Calibri"/>
                        </a:rPr>
                        <a:t>80%</a:t>
                      </a:r>
                    </a:p>
                  </a:txBody>
                  <a:tcPr>
                    <a:solidFill>
                      <a:srgbClr val="122B4F"/>
                    </a:solidFill>
                  </a:tcPr>
                </a:tc>
                <a:tc>
                  <a:txBody>
                    <a:bodyPr/>
                    <a:lstStyle/>
                    <a:p>
                      <a:pPr algn="l"/>
                      <a:r>
                        <a:rPr sz="1400" b="0">
                          <a:solidFill>
                            <a:srgbClr val="FFFFFF"/>
                          </a:solidFill>
                          <a:latin typeface="Calibri"/>
                        </a:rPr>
                        <a:t>BEAT</a:t>
                      </a:r>
                    </a:p>
                  </a:txBody>
                  <a:tcPr>
                    <a:solidFill>
                      <a:srgbClr val="122B4F"/>
                    </a:solidFill>
                  </a:tcPr>
                </a:tc>
              </a:tr>
              <a:tr h="281353">
                <a:tc>
                  <a:txBody>
                    <a:bodyPr/>
                    <a:lstStyle/>
                    <a:p>
                      <a:pPr algn="l"/>
                      <a:r>
                        <a:rPr sz="1400" b="0">
                          <a:solidFill>
                            <a:srgbClr val="FFFFFF"/>
                          </a:solidFill>
                          <a:latin typeface="Calibri"/>
                        </a:rPr>
                        <a:t>CAC Payback (months)</a:t>
                      </a:r>
                    </a:p>
                  </a:txBody>
                  <a:tcPr>
                    <a:solidFill>
                      <a:srgbClr val="0A1E3D"/>
                    </a:solidFill>
                  </a:tcPr>
                </a:tc>
                <a:tc>
                  <a:txBody>
                    <a:bodyPr/>
                    <a:lstStyle/>
                    <a:p>
                      <a:pPr algn="r"/>
                      <a:r>
                        <a:rPr sz="1400" b="0">
                          <a:solidFill>
                            <a:srgbClr val="FFFFFF"/>
                          </a:solidFill>
                          <a:latin typeface="Calibri"/>
                        </a:rPr>
                        <a:t>16</a:t>
                      </a:r>
                    </a:p>
                  </a:txBody>
                  <a:tcPr>
                    <a:solidFill>
                      <a:srgbClr val="0A1E3D"/>
                    </a:solidFill>
                  </a:tcPr>
                </a:tc>
                <a:tc>
                  <a:txBody>
                    <a:bodyPr/>
                    <a:lstStyle/>
                    <a:p>
                      <a:pPr algn="r"/>
                      <a:r>
                        <a:rPr sz="1400" b="0">
                          <a:solidFill>
                            <a:srgbClr val="FFFFFF"/>
                          </a:solidFill>
                          <a:latin typeface="Calibri"/>
                        </a:rPr>
                        <a:t>14</a:t>
                      </a:r>
                    </a:p>
                  </a:txBody>
                  <a:tcPr>
                    <a:solidFill>
                      <a:srgbClr val="0A1E3D"/>
                    </a:solidFill>
                  </a:tcPr>
                </a:tc>
                <a:tc>
                  <a:txBody>
                    <a:bodyPr/>
                    <a:lstStyle/>
                    <a:p>
                      <a:pPr algn="l"/>
                      <a:r>
                        <a:rPr sz="1400" b="0">
                          <a:solidFill>
                            <a:srgbClr val="FFFFFF"/>
                          </a:solidFill>
                          <a:latin typeface="Calibri"/>
                        </a:rPr>
                        <a:t>-2 months</a:t>
                      </a:r>
                    </a:p>
                  </a:txBody>
                  <a:tcPr>
                    <a:solidFill>
                      <a:srgbClr val="0A1E3D"/>
                    </a:solidFill>
                  </a:tcPr>
                </a:tc>
                <a:tc>
                  <a:txBody>
                    <a:bodyPr/>
                    <a:lstStyle/>
                    <a:p>
                      <a:pPr algn="r"/>
                      <a:r>
                        <a:rPr sz="1400" b="0">
                          <a:solidFill>
                            <a:srgbClr val="FFFFFF"/>
                          </a:solidFill>
                          <a:latin typeface="Calibri"/>
                        </a:rPr>
                        <a:t>15</a:t>
                      </a:r>
                    </a:p>
                  </a:txBody>
                  <a:tcPr>
                    <a:solidFill>
                      <a:srgbClr val="0A1E3D"/>
                    </a:solidFill>
                  </a:tcPr>
                </a:tc>
                <a:tc>
                  <a:txBody>
                    <a:bodyPr/>
                    <a:lstStyle/>
                    <a:p>
                      <a:pPr algn="l"/>
                      <a:r>
                        <a:rPr sz="1400" b="0">
                          <a:solidFill>
                            <a:srgbClr val="FFFFFF"/>
                          </a:solidFill>
                          <a:latin typeface="Calibri"/>
                        </a:rPr>
                        <a:t>BEAT</a:t>
                      </a:r>
                    </a:p>
                  </a:txBody>
                  <a:tcPr>
                    <a:solidFill>
                      <a:srgbClr val="0A1E3D"/>
                    </a:solidFill>
                  </a:tcPr>
                </a:tc>
              </a:tr>
              <a:tr h="281353">
                <a:tc>
                  <a:txBody>
                    <a:bodyPr/>
                    <a:lstStyle/>
                    <a:p>
                      <a:pPr algn="l"/>
                      <a:r>
                        <a:rPr sz="1400" b="0">
                          <a:solidFill>
                            <a:srgbClr val="FFFFFF"/>
                          </a:solidFill>
                          <a:latin typeface="Calibri"/>
                        </a:rPr>
                        <a:t>LTV/CAC</a:t>
                      </a:r>
                    </a:p>
                  </a:txBody>
                  <a:tcPr>
                    <a:solidFill>
                      <a:srgbClr val="122B4F"/>
                    </a:solidFill>
                  </a:tcPr>
                </a:tc>
                <a:tc>
                  <a:txBody>
                    <a:bodyPr/>
                    <a:lstStyle/>
                    <a:p>
                      <a:pPr algn="l"/>
                      <a:r>
                        <a:rPr sz="1400" b="0">
                          <a:solidFill>
                            <a:srgbClr val="FFFFFF"/>
                          </a:solidFill>
                          <a:latin typeface="Calibri"/>
                        </a:rPr>
                        <a:t>4.8x</a:t>
                      </a:r>
                    </a:p>
                  </a:txBody>
                  <a:tcPr>
                    <a:solidFill>
                      <a:srgbClr val="122B4F"/>
                    </a:solidFill>
                  </a:tcPr>
                </a:tc>
                <a:tc>
                  <a:txBody>
                    <a:bodyPr/>
                    <a:lstStyle/>
                    <a:p>
                      <a:pPr algn="l"/>
                      <a:r>
                        <a:rPr sz="1400" b="0">
                          <a:solidFill>
                            <a:srgbClr val="FFFFFF"/>
                          </a:solidFill>
                          <a:latin typeface="Calibri"/>
                        </a:rPr>
                        <a:t>5.2x</a:t>
                      </a:r>
                    </a:p>
                  </a:txBody>
                  <a:tcPr>
                    <a:solidFill>
                      <a:srgbClr val="122B4F"/>
                    </a:solidFill>
                  </a:tcPr>
                </a:tc>
                <a:tc>
                  <a:txBody>
                    <a:bodyPr/>
                    <a:lstStyle/>
                    <a:p>
                      <a:pPr algn="l"/>
                      <a:r>
                        <a:rPr sz="1400" b="0">
                          <a:solidFill>
                            <a:srgbClr val="FFFFFF"/>
                          </a:solidFill>
                          <a:latin typeface="Calibri"/>
                        </a:rPr>
                        <a:t>+0.4x</a:t>
                      </a:r>
                    </a:p>
                  </a:txBody>
                  <a:tcPr>
                    <a:solidFill>
                      <a:srgbClr val="122B4F"/>
                    </a:solidFill>
                  </a:tcPr>
                </a:tc>
                <a:tc>
                  <a:txBody>
                    <a:bodyPr/>
                    <a:lstStyle/>
                    <a:p>
                      <a:pPr algn="l"/>
                      <a:r>
                        <a:rPr sz="1400" b="0">
                          <a:solidFill>
                            <a:srgbClr val="FFFFFF"/>
                          </a:solidFill>
                          <a:latin typeface="Calibri"/>
                        </a:rPr>
                        <a:t>4.5x</a:t>
                      </a:r>
                    </a:p>
                  </a:txBody>
                  <a:tcPr>
                    <a:solidFill>
                      <a:srgbClr val="122B4F"/>
                    </a:solidFill>
                  </a:tcPr>
                </a:tc>
                <a:tc>
                  <a:txBody>
                    <a:bodyPr/>
                    <a:lstStyle/>
                    <a:p>
                      <a:pPr algn="l"/>
                      <a:r>
                        <a:rPr sz="1400" b="0">
                          <a:solidFill>
                            <a:srgbClr val="FFFFFF"/>
                          </a:solidFill>
                          <a:latin typeface="Calibri"/>
                        </a:rPr>
                        <a:t>BEAT</a:t>
                      </a:r>
                    </a:p>
                  </a:txBody>
                  <a:tcPr>
                    <a:solidFill>
                      <a:srgbClr val="122B4F"/>
                    </a:solidFill>
                  </a:tcPr>
                </a:tc>
              </a:tr>
              <a:tr h="281353">
                <a:tc>
                  <a:txBody>
                    <a:bodyPr/>
                    <a:lstStyle/>
                    <a:p>
                      <a:pPr algn="l"/>
                      <a:r>
                        <a:rPr sz="1400" b="0">
                          <a:solidFill>
                            <a:srgbClr val="FFFFFF"/>
                          </a:solidFill>
                          <a:latin typeface="Calibri"/>
                        </a:rPr>
                        <a:t>Magic Number</a:t>
                      </a:r>
                    </a:p>
                  </a:txBody>
                  <a:tcPr>
                    <a:solidFill>
                      <a:srgbClr val="0A1E3D"/>
                    </a:solidFill>
                  </a:tcPr>
                </a:tc>
                <a:tc>
                  <a:txBody>
                    <a:bodyPr/>
                    <a:lstStyle/>
                    <a:p>
                      <a:pPr algn="r"/>
                      <a:r>
                        <a:rPr sz="1400" b="0">
                          <a:solidFill>
                            <a:srgbClr val="FFFFFF"/>
                          </a:solidFill>
                          <a:latin typeface="Calibri"/>
                        </a:rPr>
                        <a:t>0.82</a:t>
                      </a:r>
                    </a:p>
                  </a:txBody>
                  <a:tcPr>
                    <a:solidFill>
                      <a:srgbClr val="0A1E3D"/>
                    </a:solidFill>
                  </a:tcPr>
                </a:tc>
                <a:tc>
                  <a:txBody>
                    <a:bodyPr/>
                    <a:lstStyle/>
                    <a:p>
                      <a:pPr algn="r"/>
                      <a:r>
                        <a:rPr sz="1400" b="0">
                          <a:solidFill>
                            <a:srgbClr val="FFFFFF"/>
                          </a:solidFill>
                          <a:latin typeface="Calibri"/>
                        </a:rPr>
                        <a:t>0.91</a:t>
                      </a:r>
                    </a:p>
                  </a:txBody>
                  <a:tcPr>
                    <a:solidFill>
                      <a:srgbClr val="0A1E3D"/>
                    </a:solidFill>
                  </a:tcPr>
                </a:tc>
                <a:tc>
                  <a:txBody>
                    <a:bodyPr/>
                    <a:lstStyle/>
                    <a:p>
                      <a:pPr algn="r"/>
                      <a:r>
                        <a:rPr sz="1400" b="0">
                          <a:solidFill>
                            <a:srgbClr val="FFFFFF"/>
                          </a:solidFill>
                          <a:latin typeface="Calibri"/>
                        </a:rPr>
                        <a:t>+0.09</a:t>
                      </a:r>
                    </a:p>
                  </a:txBody>
                  <a:tcPr>
                    <a:solidFill>
                      <a:srgbClr val="0A1E3D"/>
                    </a:solidFill>
                  </a:tcPr>
                </a:tc>
                <a:tc>
                  <a:txBody>
                    <a:bodyPr/>
                    <a:lstStyle/>
                    <a:p>
                      <a:pPr algn="r"/>
                      <a:r>
                        <a:rPr sz="1400" b="0">
                          <a:solidFill>
                            <a:srgbClr val="FFFFFF"/>
                          </a:solidFill>
                          <a:latin typeface="Calibri"/>
                        </a:rPr>
                        <a:t>0.80</a:t>
                      </a:r>
                    </a:p>
                  </a:txBody>
                  <a:tcPr>
                    <a:solidFill>
                      <a:srgbClr val="0A1E3D"/>
                    </a:solidFill>
                  </a:tcPr>
                </a:tc>
                <a:tc>
                  <a:txBody>
                    <a:bodyPr/>
                    <a:lstStyle/>
                    <a:p>
                      <a:pPr algn="l"/>
                      <a:r>
                        <a:rPr sz="1400" b="0">
                          <a:solidFill>
                            <a:srgbClr val="FFFFFF"/>
                          </a:solidFill>
                          <a:latin typeface="Calibri"/>
                        </a:rPr>
                        <a:t>BEAT</a:t>
                      </a:r>
                    </a:p>
                  </a:txBody>
                  <a:tcPr>
                    <a:solidFill>
                      <a:srgbClr val="0A1E3D"/>
                    </a:solidFill>
                  </a:tcPr>
                </a:tc>
              </a:tr>
              <a:tr h="281353">
                <a:tc>
                  <a:txBody>
                    <a:bodyPr/>
                    <a:lstStyle/>
                    <a:p>
                      <a:pPr algn="l"/>
                      <a:r>
                        <a:rPr sz="1400" b="0">
                          <a:solidFill>
                            <a:srgbClr val="FFFFFF"/>
                          </a:solidFill>
                          <a:latin typeface="Calibri"/>
                        </a:rPr>
                        <a:t>Gross Churn (annual)</a:t>
                      </a:r>
                    </a:p>
                  </a:txBody>
                  <a:tcPr>
                    <a:solidFill>
                      <a:srgbClr val="122B4F"/>
                    </a:solidFill>
                  </a:tcPr>
                </a:tc>
                <a:tc>
                  <a:txBody>
                    <a:bodyPr/>
                    <a:lstStyle/>
                    <a:p>
                      <a:pPr algn="r"/>
                      <a:r>
                        <a:rPr sz="1400" b="0">
                          <a:solidFill>
                            <a:srgbClr val="FFFFFF"/>
                          </a:solidFill>
                          <a:latin typeface="Calibri"/>
                        </a:rPr>
                        <a:t>5.2%</a:t>
                      </a:r>
                    </a:p>
                  </a:txBody>
                  <a:tcPr>
                    <a:solidFill>
                      <a:srgbClr val="122B4F"/>
                    </a:solidFill>
                  </a:tcPr>
                </a:tc>
                <a:tc>
                  <a:txBody>
                    <a:bodyPr/>
                    <a:lstStyle/>
                    <a:p>
                      <a:pPr algn="r"/>
                      <a:r>
                        <a:rPr sz="1400" b="0">
                          <a:solidFill>
                            <a:srgbClr val="FFFFFF"/>
                          </a:solidFill>
                          <a:latin typeface="Calibri"/>
                        </a:rPr>
                        <a:t>4.8%</a:t>
                      </a:r>
                    </a:p>
                  </a:txBody>
                  <a:tcPr>
                    <a:solidFill>
                      <a:srgbClr val="122B4F"/>
                    </a:solidFill>
                  </a:tcPr>
                </a:tc>
                <a:tc>
                  <a:txBody>
                    <a:bodyPr/>
                    <a:lstStyle/>
                    <a:p>
                      <a:pPr algn="l"/>
                      <a:r>
                        <a:rPr sz="1400" b="0">
                          <a:solidFill>
                            <a:srgbClr val="FFFFFF"/>
                          </a:solidFill>
                          <a:latin typeface="Calibri"/>
                        </a:rPr>
                        <a:t>-40bps</a:t>
                      </a:r>
                    </a:p>
                  </a:txBody>
                  <a:tcPr>
                    <a:solidFill>
                      <a:srgbClr val="122B4F"/>
                    </a:solidFill>
                  </a:tcPr>
                </a:tc>
                <a:tc>
                  <a:txBody>
                    <a:bodyPr/>
                    <a:lstStyle/>
                    <a:p>
                      <a:pPr algn="r"/>
                      <a:r>
                        <a:rPr sz="1400" b="0">
                          <a:solidFill>
                            <a:srgbClr val="FFFFFF"/>
                          </a:solidFill>
                          <a:latin typeface="Calibri"/>
                        </a:rPr>
                        <a:t>5.0%</a:t>
                      </a:r>
                    </a:p>
                  </a:txBody>
                  <a:tcPr>
                    <a:solidFill>
                      <a:srgbClr val="122B4F"/>
                    </a:solidFill>
                  </a:tcPr>
                </a:tc>
                <a:tc>
                  <a:txBody>
                    <a:bodyPr/>
                    <a:lstStyle/>
                    <a:p>
                      <a:pPr algn="l"/>
                      <a:r>
                        <a:rPr sz="1400" b="0">
                          <a:solidFill>
                            <a:srgbClr val="FFFFFF"/>
                          </a:solidFill>
                          <a:latin typeface="Calibri"/>
                        </a:rPr>
                        <a:t>BEAT</a:t>
                      </a:r>
                    </a:p>
                  </a:txBody>
                  <a:tcPr>
                    <a:solidFill>
                      <a:srgbClr val="122B4F"/>
                    </a:solidFill>
                  </a:tcPr>
                </a:tc>
              </a:tr>
              <a:tr h="281353">
                <a:tc>
                  <a:txBody>
                    <a:bodyPr/>
                    <a:lstStyle/>
                    <a:p>
                      <a:pPr algn="l"/>
                      <a:r>
                        <a:rPr sz="1400" b="0">
                          <a:solidFill>
                            <a:srgbClr val="FFFFFF"/>
                          </a:solidFill>
                          <a:latin typeface="Calibri"/>
                        </a:rPr>
                        <a:t>Avg ACV (new logos)</a:t>
                      </a:r>
                    </a:p>
                  </a:txBody>
                  <a:tcPr>
                    <a:solidFill>
                      <a:srgbClr val="0A1E3D"/>
                    </a:solidFill>
                  </a:tcPr>
                </a:tc>
                <a:tc>
                  <a:txBody>
                    <a:bodyPr/>
                    <a:lstStyle/>
                    <a:p>
                      <a:pPr algn="l"/>
                      <a:r>
                        <a:rPr sz="1400" b="0">
                          <a:solidFill>
                            <a:srgbClr val="FFFFFF"/>
                          </a:solidFill>
                          <a:latin typeface="Calibri"/>
                        </a:rPr>
                        <a:t>$68K</a:t>
                      </a:r>
                    </a:p>
                  </a:txBody>
                  <a:tcPr>
                    <a:solidFill>
                      <a:srgbClr val="0A1E3D"/>
                    </a:solidFill>
                  </a:tcPr>
                </a:tc>
                <a:tc>
                  <a:txBody>
                    <a:bodyPr/>
                    <a:lstStyle/>
                    <a:p>
                      <a:pPr algn="l"/>
                      <a:r>
                        <a:rPr sz="1400" b="0">
                          <a:solidFill>
                            <a:srgbClr val="FFFFFF"/>
                          </a:solidFill>
                          <a:latin typeface="Calibri"/>
                        </a:rPr>
                        <a:t>$84K</a:t>
                      </a:r>
                    </a:p>
                  </a:txBody>
                  <a:tcPr>
                    <a:solidFill>
                      <a:srgbClr val="0A1E3D"/>
                    </a:solidFill>
                  </a:tcPr>
                </a:tc>
                <a:tc>
                  <a:txBody>
                    <a:bodyPr/>
                    <a:lstStyle/>
                    <a:p>
                      <a:pPr algn="l"/>
                      <a:r>
                        <a:rPr sz="1400" b="0">
                          <a:solidFill>
                            <a:srgbClr val="FFFFFF"/>
                          </a:solidFill>
                          <a:latin typeface="Calibri"/>
                        </a:rPr>
                        <a:t>+$16K (+24%)</a:t>
                      </a:r>
                    </a:p>
                  </a:txBody>
                  <a:tcPr>
                    <a:solidFill>
                      <a:srgbClr val="0A1E3D"/>
                    </a:solidFill>
                  </a:tcPr>
                </a:tc>
                <a:tc>
                  <a:txBody>
                    <a:bodyPr/>
                    <a:lstStyle/>
                    <a:p>
                      <a:pPr algn="l"/>
                      <a:r>
                        <a:rPr sz="1400" b="0">
                          <a:solidFill>
                            <a:srgbClr val="FFFFFF"/>
                          </a:solidFill>
                          <a:latin typeface="Calibri"/>
                        </a:rPr>
                        <a:t>$72K</a:t>
                      </a:r>
                    </a:p>
                  </a:txBody>
                  <a:tcPr>
                    <a:solidFill>
                      <a:srgbClr val="0A1E3D"/>
                    </a:solidFill>
                  </a:tcPr>
                </a:tc>
                <a:tc>
                  <a:txBody>
                    <a:bodyPr/>
                    <a:lstStyle/>
                    <a:p>
                      <a:pPr algn="l"/>
                      <a:r>
                        <a:rPr sz="1400" b="0">
                          <a:solidFill>
                            <a:srgbClr val="FFFFFF"/>
                          </a:solidFill>
                          <a:latin typeface="Calibri"/>
                        </a:rPr>
                        <a:t>BEAT</a:t>
                      </a:r>
                    </a:p>
                  </a:txBody>
                  <a:tcPr>
                    <a:solidFill>
                      <a:srgbClr val="0A1E3D"/>
                    </a:solidFill>
                  </a:tcPr>
                </a:tc>
              </a:tr>
              <a:tr h="281353">
                <a:tc>
                  <a:txBody>
                    <a:bodyPr/>
                    <a:lstStyle/>
                    <a:p>
                      <a:pPr algn="l"/>
                      <a:r>
                        <a:rPr sz="1400" b="0">
                          <a:solidFill>
                            <a:srgbClr val="FFFFFF"/>
                          </a:solidFill>
                          <a:latin typeface="Calibri"/>
                        </a:rPr>
                        <a:t>Sales Cycle (days)</a:t>
                      </a:r>
                    </a:p>
                  </a:txBody>
                  <a:tcPr>
                    <a:solidFill>
                      <a:srgbClr val="122B4F"/>
                    </a:solidFill>
                  </a:tcPr>
                </a:tc>
                <a:tc>
                  <a:txBody>
                    <a:bodyPr/>
                    <a:lstStyle/>
                    <a:p>
                      <a:pPr algn="r"/>
                      <a:r>
                        <a:rPr sz="1400" b="0">
                          <a:solidFill>
                            <a:srgbClr val="FFFFFF"/>
                          </a:solidFill>
                          <a:latin typeface="Calibri"/>
                        </a:rPr>
                        <a:t>42</a:t>
                      </a:r>
                    </a:p>
                  </a:txBody>
                  <a:tcPr>
                    <a:solidFill>
                      <a:srgbClr val="122B4F"/>
                    </a:solidFill>
                  </a:tcPr>
                </a:tc>
                <a:tc>
                  <a:txBody>
                    <a:bodyPr/>
                    <a:lstStyle/>
                    <a:p>
                      <a:pPr algn="r"/>
                      <a:r>
                        <a:rPr sz="1400" b="0">
                          <a:solidFill>
                            <a:srgbClr val="FFFFFF"/>
                          </a:solidFill>
                          <a:latin typeface="Calibri"/>
                        </a:rPr>
                        <a:t>58</a:t>
                      </a:r>
                    </a:p>
                  </a:txBody>
                  <a:tcPr>
                    <a:solidFill>
                      <a:srgbClr val="122B4F"/>
                    </a:solidFill>
                  </a:tcPr>
                </a:tc>
                <a:tc>
                  <a:txBody>
                    <a:bodyPr/>
                    <a:lstStyle/>
                    <a:p>
                      <a:pPr algn="l"/>
                      <a:r>
                        <a:rPr sz="1400" b="0">
                          <a:solidFill>
                            <a:srgbClr val="FFFFFF"/>
                          </a:solidFill>
                          <a:latin typeface="Calibri"/>
                        </a:rPr>
                        <a:t>+16 days</a:t>
                      </a:r>
                    </a:p>
                  </a:txBody>
                  <a:tcPr>
                    <a:solidFill>
                      <a:srgbClr val="122B4F"/>
                    </a:solidFill>
                  </a:tcPr>
                </a:tc>
                <a:tc>
                  <a:txBody>
                    <a:bodyPr/>
                    <a:lstStyle/>
                    <a:p>
                      <a:pPr algn="r"/>
                      <a:r>
                        <a:rPr sz="1400" b="0">
                          <a:solidFill>
                            <a:srgbClr val="FFFFFF"/>
                          </a:solidFill>
                          <a:latin typeface="Calibri"/>
                        </a:rPr>
                        <a:t>45</a:t>
                      </a:r>
                    </a:p>
                  </a:txBody>
                  <a:tcPr>
                    <a:solidFill>
                      <a:srgbClr val="122B4F"/>
                    </a:solidFill>
                  </a:tcPr>
                </a:tc>
                <a:tc>
                  <a:txBody>
                    <a:bodyPr/>
                    <a:lstStyle/>
                    <a:p>
                      <a:pPr algn="l"/>
                      <a:r>
                        <a:rPr sz="1400" b="0">
                          <a:solidFill>
                            <a:srgbClr val="FFFFFF"/>
                          </a:solidFill>
                          <a:latin typeface="Calibri"/>
                        </a:rPr>
                        <a:t>MISS</a:t>
                      </a:r>
                    </a:p>
                  </a:txBody>
                  <a:tcPr>
                    <a:solidFill>
                      <a:srgbClr val="122B4F"/>
                    </a:solidFill>
                  </a:tcPr>
                </a:tc>
              </a:tr>
              <a:tr h="281353">
                <a:tc>
                  <a:txBody>
                    <a:bodyPr/>
                    <a:lstStyle/>
                    <a:p>
                      <a:pPr algn="l"/>
                      <a:r>
                        <a:rPr sz="1400" b="0">
                          <a:solidFill>
                            <a:srgbClr val="FFFFFF"/>
                          </a:solidFill>
                          <a:latin typeface="Calibri"/>
                        </a:rPr>
                        <a:t>Cash ($M)</a:t>
                      </a:r>
                    </a:p>
                  </a:txBody>
                  <a:tcPr>
                    <a:solidFill>
                      <a:srgbClr val="0A1E3D"/>
                    </a:solidFill>
                  </a:tcPr>
                </a:tc>
                <a:tc>
                  <a:txBody>
                    <a:bodyPr/>
                    <a:lstStyle/>
                    <a:p>
                      <a:pPr algn="l"/>
                      <a:r>
                        <a:rPr sz="1400" b="0">
                          <a:solidFill>
                            <a:srgbClr val="FFFFFF"/>
                          </a:solidFill>
                          <a:latin typeface="Calibri"/>
                        </a:rPr>
                        <a:t>$32M</a:t>
                      </a:r>
                    </a:p>
                  </a:txBody>
                  <a:tcPr>
                    <a:solidFill>
                      <a:srgbClr val="0A1E3D"/>
                    </a:solidFill>
                  </a:tcPr>
                </a:tc>
                <a:tc>
                  <a:txBody>
                    <a:bodyPr/>
                    <a:lstStyle/>
                    <a:p>
                      <a:pPr algn="l"/>
                      <a:r>
                        <a:rPr sz="1400" b="0">
                          <a:solidFill>
                            <a:srgbClr val="FFFFFF"/>
                          </a:solidFill>
                          <a:latin typeface="Calibri"/>
                        </a:rPr>
                        <a:t>$28M</a:t>
                      </a:r>
                    </a:p>
                  </a:txBody>
                  <a:tcPr>
                    <a:solidFill>
                      <a:srgbClr val="0A1E3D"/>
                    </a:solidFill>
                  </a:tcPr>
                </a:tc>
                <a:tc>
                  <a:txBody>
                    <a:bodyPr/>
                    <a:lstStyle/>
                    <a:p>
                      <a:pPr algn="l"/>
                      <a:r>
                        <a:rPr sz="1400" b="0">
                          <a:solidFill>
                            <a:srgbClr val="FFFFFF"/>
                          </a:solidFill>
                          <a:latin typeface="Calibri"/>
                        </a:rPr>
                        <a:t>-$4M</a:t>
                      </a:r>
                    </a:p>
                  </a:txBody>
                  <a:tcPr>
                    <a:solidFill>
                      <a:srgbClr val="0A1E3D"/>
                    </a:solidFill>
                  </a:tcPr>
                </a:tc>
                <a:tc>
                  <a:txBody>
                    <a:bodyPr/>
                    <a:lstStyle/>
                    <a:p>
                      <a:pPr algn="l"/>
                      <a:r>
                        <a:rPr sz="1400" b="0">
                          <a:solidFill>
                            <a:srgbClr val="FFFFFF"/>
                          </a:solidFill>
                          <a:latin typeface="Calibri"/>
                        </a:rPr>
                        <a:t>$25M</a:t>
                      </a:r>
                    </a:p>
                  </a:txBody>
                  <a:tcPr>
                    <a:solidFill>
                      <a:srgbClr val="0A1E3D"/>
                    </a:solidFill>
                  </a:tcPr>
                </a:tc>
                <a:tc>
                  <a:txBody>
                    <a:bodyPr/>
                    <a:lstStyle/>
                    <a:p>
                      <a:pPr algn="l"/>
                      <a:r>
                        <a:rPr sz="1400" b="0">
                          <a:solidFill>
                            <a:srgbClr val="FFFFFF"/>
                          </a:solidFill>
                          <a:latin typeface="Calibri"/>
                        </a:rPr>
                        <a:t>ON TRACK</a:t>
                      </a:r>
                    </a:p>
                  </a:txBody>
                  <a:tcPr>
                    <a:solidFill>
                      <a:srgbClr val="0A1E3D"/>
                    </a:solidFill>
                  </a:tcPr>
                </a:tc>
              </a:tr>
              <a:tr h="281353">
                <a:tc>
                  <a:txBody>
                    <a:bodyPr/>
                    <a:lstStyle/>
                    <a:p>
                      <a:pPr algn="l"/>
                      <a:r>
                        <a:rPr sz="1400" b="0">
                          <a:solidFill>
                            <a:srgbClr val="FFFFFF"/>
                          </a:solidFill>
                          <a:latin typeface="Calibri"/>
                        </a:rPr>
                        <a:t>Headcount</a:t>
                      </a:r>
                    </a:p>
                  </a:txBody>
                  <a:tcPr>
                    <a:solidFill>
                      <a:srgbClr val="122B4F"/>
                    </a:solidFill>
                  </a:tcPr>
                </a:tc>
                <a:tc>
                  <a:txBody>
                    <a:bodyPr/>
                    <a:lstStyle/>
                    <a:p>
                      <a:pPr algn="r"/>
                      <a:r>
                        <a:rPr sz="1400" b="0">
                          <a:solidFill>
                            <a:srgbClr val="FFFFFF"/>
                          </a:solidFill>
                          <a:latin typeface="Calibri"/>
                        </a:rPr>
                        <a:t>142</a:t>
                      </a:r>
                    </a:p>
                  </a:txBody>
                  <a:tcPr>
                    <a:solidFill>
                      <a:srgbClr val="122B4F"/>
                    </a:solidFill>
                  </a:tcPr>
                </a:tc>
                <a:tc>
                  <a:txBody>
                    <a:bodyPr/>
                    <a:lstStyle/>
                    <a:p>
                      <a:pPr algn="r"/>
                      <a:r>
                        <a:rPr sz="1400" b="0">
                          <a:solidFill>
                            <a:srgbClr val="FFFFFF"/>
                          </a:solidFill>
                          <a:latin typeface="Calibri"/>
                        </a:rPr>
                        <a:t>158</a:t>
                      </a:r>
                    </a:p>
                  </a:txBody>
                  <a:tcPr>
                    <a:solidFill>
                      <a:srgbClr val="122B4F"/>
                    </a:solidFill>
                  </a:tcPr>
                </a:tc>
                <a:tc>
                  <a:txBody>
                    <a:bodyPr/>
                    <a:lstStyle/>
                    <a:p>
                      <a:pPr algn="r"/>
                      <a:r>
                        <a:rPr sz="1400" b="0">
                          <a:solidFill>
                            <a:srgbClr val="FFFFFF"/>
                          </a:solidFill>
                          <a:latin typeface="Calibri"/>
                        </a:rPr>
                        <a:t>+16</a:t>
                      </a:r>
                    </a:p>
                  </a:txBody>
                  <a:tcPr>
                    <a:solidFill>
                      <a:srgbClr val="122B4F"/>
                    </a:solidFill>
                  </a:tcPr>
                </a:tc>
                <a:tc>
                  <a:txBody>
                    <a:bodyPr/>
                    <a:lstStyle/>
                    <a:p>
                      <a:pPr algn="r"/>
                      <a:r>
                        <a:rPr sz="1400" b="0">
                          <a:solidFill>
                            <a:srgbClr val="FFFFFF"/>
                          </a:solidFill>
                          <a:latin typeface="Calibri"/>
                        </a:rPr>
                        <a:t>155</a:t>
                      </a:r>
                    </a:p>
                  </a:txBody>
                  <a:tcPr>
                    <a:solidFill>
                      <a:srgbClr val="122B4F"/>
                    </a:solidFill>
                  </a:tcPr>
                </a:tc>
                <a:tc>
                  <a:txBody>
                    <a:bodyPr/>
                    <a:lstStyle/>
                    <a:p>
                      <a:pPr algn="l"/>
                      <a:r>
                        <a:rPr sz="1400" b="0">
                          <a:solidFill>
                            <a:srgbClr val="FFFFFF"/>
                          </a:solidFill>
                          <a:latin typeface="Calibri"/>
                        </a:rPr>
                        <a:t>ON TRACK</a:t>
                      </a:r>
                    </a:p>
                  </a:txBody>
                  <a:tcPr>
                    <a:solidFill>
                      <a:srgbClr val="122B4F"/>
                    </a:solidFill>
                  </a:tcPr>
                </a:tc>
              </a:tr>
              <a:tr h="281364">
                <a:tc>
                  <a:txBody>
                    <a:bodyPr/>
                    <a:lstStyle/>
                    <a:p>
                      <a:pPr algn="l"/>
                      <a:r>
                        <a:rPr sz="1400" b="0">
                          <a:solidFill>
                            <a:srgbClr val="FFFFFF"/>
                          </a:solidFill>
                          <a:latin typeface="Calibri"/>
                        </a:rPr>
                        <a:t>Burn Multiple</a:t>
                      </a:r>
                    </a:p>
                  </a:txBody>
                  <a:tcPr>
                    <a:solidFill>
                      <a:srgbClr val="0A1E3D"/>
                    </a:solidFill>
                  </a:tcPr>
                </a:tc>
                <a:tc>
                  <a:txBody>
                    <a:bodyPr/>
                    <a:lstStyle/>
                    <a:p>
                      <a:pPr algn="l"/>
                      <a:r>
                        <a:rPr sz="1400" b="0">
                          <a:solidFill>
                            <a:srgbClr val="FFFFFF"/>
                          </a:solidFill>
                          <a:latin typeface="Calibri"/>
                        </a:rPr>
                        <a:t>1.4x</a:t>
                      </a:r>
                    </a:p>
                  </a:txBody>
                  <a:tcPr>
                    <a:solidFill>
                      <a:srgbClr val="0A1E3D"/>
                    </a:solidFill>
                  </a:tcPr>
                </a:tc>
                <a:tc>
                  <a:txBody>
                    <a:bodyPr/>
                    <a:lstStyle/>
                    <a:p>
                      <a:pPr algn="l"/>
                      <a:r>
                        <a:rPr sz="1400" b="0">
                          <a:solidFill>
                            <a:srgbClr val="FFFFFF"/>
                          </a:solidFill>
                          <a:latin typeface="Calibri"/>
                        </a:rPr>
                        <a:t>1.1x</a:t>
                      </a:r>
                    </a:p>
                  </a:txBody>
                  <a:tcPr>
                    <a:solidFill>
                      <a:srgbClr val="0A1E3D"/>
                    </a:solidFill>
                  </a:tcPr>
                </a:tc>
                <a:tc>
                  <a:txBody>
                    <a:bodyPr/>
                    <a:lstStyle/>
                    <a:p>
                      <a:pPr algn="l"/>
                      <a:r>
                        <a:rPr sz="1400" b="0">
                          <a:solidFill>
                            <a:srgbClr val="FFFFFF"/>
                          </a:solidFill>
                          <a:latin typeface="Calibri"/>
                        </a:rPr>
                        <a:t>-0.3x</a:t>
                      </a:r>
                    </a:p>
                  </a:txBody>
                  <a:tcPr>
                    <a:solidFill>
                      <a:srgbClr val="0A1E3D"/>
                    </a:solidFill>
                  </a:tcPr>
                </a:tc>
                <a:tc>
                  <a:txBody>
                    <a:bodyPr/>
                    <a:lstStyle/>
                    <a:p>
                      <a:pPr algn="l"/>
                      <a:r>
                        <a:rPr sz="1400" b="0">
                          <a:solidFill>
                            <a:srgbClr val="FFFFFF"/>
                          </a:solidFill>
                          <a:latin typeface="Calibri"/>
                        </a:rPr>
                        <a:t>1.5x</a:t>
                      </a:r>
                    </a:p>
                  </a:txBody>
                  <a:tcPr>
                    <a:solidFill>
                      <a:srgbClr val="0A1E3D"/>
                    </a:solidFill>
                  </a:tcPr>
                </a:tc>
                <a:tc>
                  <a:txBody>
                    <a:bodyPr/>
                    <a:lstStyle/>
                    <a:p>
                      <a:pPr algn="l"/>
                      <a:r>
                        <a:rPr sz="1400" b="0">
                          <a:solidFill>
                            <a:srgbClr val="FFFFFF"/>
                          </a:solidFill>
                          <a:latin typeface="Calibri"/>
                        </a:rPr>
                        <a:t>BEAT</a:t>
                      </a:r>
                    </a:p>
                  </a:txBody>
                  <a:tcPr>
                    <a:solidFill>
                      <a:srgbClr val="0A1E3D"/>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Product Updates: Q4 Releases</a:t>
            </a:r>
          </a:p>
        </p:txBody>
      </p:sp>
      <p:sp>
        <p:nvSpPr>
          <p:cNvPr id="3" name="TextBox 2"/>
          <p:cNvSpPr txBox="1"/>
          <p:nvPr/>
        </p:nvSpPr>
        <p:spPr>
          <a:xfrm>
            <a:off x="685800" y="1354455"/>
            <a:ext cx="10820095" cy="3344418"/>
          </a:xfrm>
          <a:prstGeom prst="rect">
            <a:avLst/>
          </a:prstGeom>
          <a:noFill/>
        </p:spPr>
        <p:txBody>
          <a:bodyPr wrap="square">
            <a:spAutoFit/>
          </a:bodyPr>
          <a:lstStyle/>
          <a:p>
            <a:pPr/>
            <a:r>
              <a:rPr sz="1800">
                <a:solidFill>
                  <a:srgbClr val="FFFFFF"/>
                </a:solidFill>
                <a:latin typeface="Calibri"/>
              </a:rPr>
              <a:t>• AI Insights Module (shipped Oct 15): Automated anomaly detection and root cause analysis across all customer data. 38% adoption in first 6 weeks. Driving $1.2M in pipeline from existing customers upgrading.</a:t>
            </a:r>
          </a:p>
          <a:p>
            <a:pPr/>
            <a:r>
              <a:rPr sz="1800">
                <a:solidFill>
                  <a:srgbClr val="FFFFFF"/>
                </a:solidFill>
                <a:latin typeface="Calibri"/>
              </a:rPr>
              <a:t>• SOC 2 Type II Certification (completed Nov 30): Required for enterprise deals. Immediately unblocked 4 pipeline opportunities worth $2.1M ACV combined. Annual audit now scheduled for Q3.</a:t>
            </a:r>
          </a:p>
          <a:p>
            <a:pPr/>
            <a:r>
              <a:rPr sz="1800">
                <a:solidFill>
                  <a:srgbClr val="FFFFFF"/>
                </a:solidFill>
                <a:latin typeface="Calibri"/>
              </a:rPr>
              <a:t>• API v3 Launch (shipped Dec 1): GraphQL-based API with real-time webhooks. 62 customers migrated from v2. Third-party integrations now possible without custom engineering work.</a:t>
            </a:r>
          </a:p>
          <a:p>
            <a:pPr/>
            <a:r>
              <a:rPr sz="1800">
                <a:solidFill>
                  <a:srgbClr val="FFFFFF"/>
                </a:solidFill>
                <a:latin typeface="Calibri"/>
              </a:rPr>
              <a:t>• Performance Optimization: Dashboard load time reduced from 3.2s to 0.8s (75% improvement). Infrastructure costs reduced 18% through migration to ARM-based compute.</a:t>
            </a:r>
          </a:p>
          <a:p>
            <a:pPr/>
            <a:r>
              <a:rPr sz="1800">
                <a:solidFill>
                  <a:srgbClr val="FFFFFF"/>
                </a:solidFill>
                <a:latin typeface="Calibri"/>
              </a:rPr>
              <a:t>• Upcoming Q1: Self-serve onboarding (reduce time-to-value from 14 days to 2 days), HIPAA compliance module, native Salesforce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Pipeline Health: Sales Funnel Analysis</a:t>
            </a:r>
          </a:p>
        </p:txBody>
      </p:sp>
      <p:pic>
        <p:nvPicPr>
          <p:cNvPr id="3" name="Picture 2" descr="image.png"/>
          <p:cNvPicPr>
            <a:picLocks noChangeAspect="1"/>
          </p:cNvPicPr>
          <p:nvPr/>
        </p:nvPicPr>
        <p:blipFill>
          <a:blip r:embed="rId2"/>
          <a:stretch>
            <a:fillRect/>
          </a:stretch>
        </p:blipFill>
        <p:spPr>
          <a:xfrm>
            <a:off x="685800" y="1125855"/>
            <a:ext cx="10820095" cy="3657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FFFFFF"/>
                </a:solidFill>
                <a:latin typeface="Calibri"/>
              </a:rPr>
              <a:t>Strategic Assessment: Risks &amp; Opportunities</a:t>
            </a:r>
          </a:p>
        </p:txBody>
      </p:sp>
      <p:sp>
        <p:nvSpPr>
          <p:cNvPr id="3" name="TextBox 2"/>
          <p:cNvSpPr txBox="1"/>
          <p:nvPr/>
        </p:nvSpPr>
        <p:spPr>
          <a:xfrm>
            <a:off x="685800" y="457200"/>
            <a:ext cx="10820095" cy="440055"/>
          </a:xfrm>
          <a:prstGeom prst="rect">
            <a:avLst/>
          </a:prstGeom>
          <a:noFill/>
        </p:spPr>
        <p:txBody>
          <a:bodyPr wrap="square">
            <a:spAutoFit/>
          </a:bodyPr>
          <a:lstStyle/>
          <a:p>
            <a:r>
              <a:rPr sz="3600" b="1">
                <a:solidFill>
                  <a:srgbClr val="FFFFFF"/>
                </a:solidFill>
                <a:latin typeface="Calibri"/>
              </a:rPr>
              <a:t>Risks</a:t>
            </a:r>
          </a:p>
        </p:txBody>
      </p:sp>
      <p:sp>
        <p:nvSpPr>
          <p:cNvPr id="4" name="TextBox 3"/>
          <p:cNvSpPr txBox="1"/>
          <p:nvPr/>
        </p:nvSpPr>
        <p:spPr>
          <a:xfrm>
            <a:off x="685800" y="457200"/>
            <a:ext cx="10820095" cy="440055"/>
          </a:xfrm>
          <a:prstGeom prst="rect">
            <a:avLst/>
          </a:prstGeom>
          <a:noFill/>
        </p:spPr>
        <p:txBody>
          <a:bodyPr wrap="square">
            <a:spAutoFit/>
          </a:bodyPr>
          <a:lstStyle/>
          <a:p>
            <a:r>
              <a:rPr sz="3600" b="1">
                <a:solidFill>
                  <a:srgbClr val="FFFFFF"/>
                </a:solidFill>
                <a:latin typeface="Calibri"/>
              </a:rPr>
              <a:t>Opportunities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373380"/>
          </a:xfrm>
          <a:prstGeom prst="rect">
            <a:avLst/>
          </a:prstGeom>
          <a:noFill/>
        </p:spPr>
        <p:txBody>
          <a:bodyPr wrap="square">
            <a:spAutoFit/>
          </a:bodyPr>
          <a:lstStyle/>
          <a:p>
            <a:r>
              <a:rPr sz="4400" b="1">
                <a:solidFill>
                  <a:srgbClr val="FFFFFF"/>
                </a:solidFill>
                <a:latin typeface="Calibri"/>
              </a:rPr>
              <a:t>Q1 2027 Priorities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E3D"/>
        </a:solidFill>
        <a:effectLst/>
      </p:bgPr>
    </p:bg>
    <p:spTree>
      <p:nvGrpSpPr>
        <p:cNvPr id="1" name=""/>
        <p:cNvGrpSpPr/>
        <p:nvPr/>
      </p:nvGrpSpPr>
      <p:grpSpPr/>
      <p:sp>
        <p:nvSpPr>
          <p:cNvPr id="2" name="TextBox 1"/>
          <p:cNvSpPr txBox="1"/>
          <p:nvPr/>
        </p:nvSpPr>
        <p:spPr>
          <a:xfrm>
            <a:off x="685800" y="457200"/>
            <a:ext cx="10820095" cy="1013460"/>
          </a:xfrm>
          <a:prstGeom prst="rect">
            <a:avLst/>
          </a:prstGeom>
          <a:noFill/>
        </p:spPr>
        <p:txBody>
          <a:bodyPr wrap="square">
            <a:spAutoFit/>
          </a:bodyPr>
          <a:lstStyle/>
          <a:p>
            <a:r>
              <a:rPr sz="4400" b="1">
                <a:solidFill>
                  <a:srgbClr val="FFFFFF"/>
                </a:solidFill>
                <a:latin typeface="Calibri"/>
              </a:rPr>
              <a:t>DataPulse: Building the Analytics Platform for Modern Business</a:t>
            </a:r>
          </a:p>
        </p:txBody>
      </p:sp>
      <p:sp>
        <p:nvSpPr>
          <p:cNvPr id="3" name="TextBox 2"/>
          <p:cNvSpPr txBox="1"/>
          <p:nvPr/>
        </p:nvSpPr>
        <p:spPr>
          <a:xfrm>
            <a:off x="685800" y="1699260"/>
            <a:ext cx="10820095" cy="2760345"/>
          </a:xfrm>
          <a:prstGeom prst="rect">
            <a:avLst/>
          </a:prstGeom>
          <a:noFill/>
        </p:spPr>
        <p:txBody>
          <a:bodyPr wrap="square">
            <a:spAutoFit/>
          </a:bodyPr>
          <a:lstStyle/>
          <a:p>
            <a:r>
              <a:rPr sz="1800" b="0">
                <a:solidFill>
                  <a:srgbClr val="FFFFFF"/>
                </a:solidFill>
                <a:latin typeface="Calibri"/>
              </a:rPr>
              <a:t>$50.2M ARR | 34% YoY Growth | 124% NRR | 81% Gross Margin | 22 Months Runway</a:t>
            </a:r>
            <a:br/>
            <a:br/>
            <a:r>
              <a:t>Q1 Target: $56M ARR | Series C readiness by Q3 2027</a:t>
            </a:r>
            <a:br/>
            <a:br/>
            <a:r>
              <a:t>Board Actions Requested:</a:t>
            </a:r>
            <a:br/>
            <a:r>
              <a:t>1. Approve Q1 2027 operating plan and $4.2M incremental sales hiring budget</a:t>
            </a:r>
            <a:br/>
            <a:r>
              <a:t>2. Approve free POC program (estimated $380K quarterly cost in cloud infrastructure)</a:t>
            </a:r>
            <a:br/>
            <a:r>
              <a:t>3. Approve Series C banker selection process (kickoff March 2027)</a:t>
            </a:r>
            <a:br/>
            <a:br/>
            <a:r>
              <a:t>Confidential | DataPulse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